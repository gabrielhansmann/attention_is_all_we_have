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0:00 - 0:25</a:t>
            </a:r>
          </a:p>
          <a:p/>
          <a:p>
            <a:r>
              <a:t>SPEAKER SCRIPT</a:t>
            </a:r>
          </a:p>
          <a:p>
            <a:r>
              <a:t>A product manager has a customer question, but the answer is scattered across feedback files, studies, catalogs and market research. BMW Product Intelligence brings those sources into one evidence layer and runs a cited research conversation. The goal is a defensible customer-facing decision. The current delivery is a research prototype; the approved requirement backlog remains a next step.</a:t>
            </a:r>
          </a:p>
          <a:p/>
          <a:p>
            <a:r>
              <a:t>CLAIM BOUNDARY</a:t>
            </a:r>
          </a:p>
          <a:p>
            <a:r>
              <a:t>Product mission, not a measured business outcome. The deployed app is a research workspace, not a production approval system.</a:t>
            </a:r>
          </a:p>
          <a:p/>
          <a:p>
            <a:r>
              <a:t>DATA SNAPSHOT: 2026-10-10T21:01:22.195974+00:00</a:t>
            </a:r>
          </a:p>
          <a:p>
            <a:r>
              <a:t>DEPLOYED SOURCE: main 7c7ba8619daee786309e8ef10caca85b7b5d24f2</a:t>
            </a:r>
          </a:p>
          <a:p/>
          <a:p>
            <a:r>
              <a:t>SOURCES</a:t>
            </a:r>
          </a:p>
          <a:p>
            <a:r>
              <a:t>docs/architecture/00-overview.md</a:t>
            </a:r>
          </a:p>
          <a:p>
            <a:r>
              <a:t>docs/decisions/0017-minimal-live-only-frontend.md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0:25 - 0:55</a:t>
            </a:r>
          </a:p>
          <a:p/>
          <a:p>
            <a:r>
              <a:t>SPEAKER SCRIPT</a:t>
            </a:r>
          </a:p>
          <a:p>
            <a:r>
              <a:t>At this snapshot, Supabase holds 13,771 customer comments, 1,627 customer-study cells and 198 equipment options. The 198 text passages separate into 149 BMW catalog passages and 49 stored web passages. There are 8 internal source files and 3 web sources. These are loaded records, not unique customers, respondents or validated market recommendations.</a:t>
            </a:r>
          </a:p>
          <a:p/>
          <a:p>
            <a:r>
              <a:t>CLAIM BOUNDARY</a:t>
            </a:r>
          </a:p>
          <a:p>
            <a:r>
              <a:t>Counts describe the frozen snapshot, not unique customers. Study cells are not respondents. Stored web material has not all been validated for vehicle and market relevance.</a:t>
            </a:r>
          </a:p>
          <a:p/>
          <a:p>
            <a:r>
              <a:t>DATA SNAPSHOT: 2026-10-10T21:01:22.195974+00:00</a:t>
            </a:r>
          </a:p>
          <a:p>
            <a:r>
              <a:t>DEPLOYED SOURCE: main 7c7ba8619daee786309e8ef10caca85b7b5d24f2</a:t>
            </a:r>
          </a:p>
          <a:p/>
          <a:p>
            <a:r>
              <a:t>SOURCES</a:t>
            </a:r>
          </a:p>
          <a:p>
            <a:r>
              <a:t>docs/pitch/verified-data.json</a:t>
            </a:r>
          </a:p>
          <a:p>
            <a:r>
              <a:t>backend/app/knowledge/library.py</a:t>
            </a:r>
          </a:p>
          <a:p>
            <a:r>
              <a:t>backend/app/knowledge/tools.py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0:55 - 1:30</a:t>
            </a:r>
          </a:p>
          <a:p/>
          <a:p>
            <a:r>
              <a:t>SPEAKER SCRIPT</a:t>
            </a:r>
          </a:p>
          <a:p>
            <a:r>
              <a:t>The PM sends a scoped research question. The orchestrator chooses one agent, reads its result and decides whether another is needed. Code checks the prerequisites; the Critic checks citations before accepted output reaches later agents. The result and the reasons appear in the thread. The previous manual plan, start and per-step review controls are gone. A request does not need to run every stage.</a:t>
            </a:r>
          </a:p>
          <a:p/>
          <a:p>
            <a:r>
              <a:t>CLAIM BOUNDARY</a:t>
            </a:r>
          </a:p>
          <a:p>
            <a:r>
              <a:t>Describes shipped main code. No new authenticated hosted run was executed for this deck. Accepted means automatic runner/Critic acceptance, not PM approval.</a:t>
            </a:r>
          </a:p>
          <a:p/>
          <a:p>
            <a:r>
              <a:t>DATA SNAPSHOT: 2026-10-10T21:01:22.195974+00:00</a:t>
            </a:r>
          </a:p>
          <a:p>
            <a:r>
              <a:t>DEPLOYED SOURCE: main 7c7ba8619daee786309e8ef10caca85b7b5d24f2</a:t>
            </a:r>
          </a:p>
          <a:p/>
          <a:p>
            <a:r>
              <a:t>SOURCES</a:t>
            </a:r>
          </a:p>
          <a:p>
            <a:r>
              <a:t>docs/decisions/0018-orchestrator-decides-in-an-agentic-loop.md</a:t>
            </a:r>
          </a:p>
          <a:p>
            <a:r>
              <a:t>docs/decisions/0019-orchestration-loop-runs-on-langgraph.md</a:t>
            </a:r>
          </a:p>
          <a:p>
            <a:r>
              <a:t>backend/app/orchestration/loop.py</a:t>
            </a:r>
          </a:p>
          <a:p>
            <a:r>
              <a:t>frontend/src/features/research/LiveResearch.tsx</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1:30 - 2:00</a:t>
            </a:r>
          </a:p>
          <a:p/>
          <a:p>
            <a:r>
              <a:t>SPEAKER SCRIPT</a:t>
            </a:r>
          </a:p>
          <a:p>
            <a:r>
              <a:t>This is the actual public Vercel sign-in screen, without mocked data. The hosted JavaScript matches the main build. The public health endpoint reports a healthy database and an AI key configured on the server. Inside the authenticated app, the shipped views are Research, Evidence and Sources. Protected endpoints require a session. This presentation checked the public deployment and read Supabase directly; it did not exercise a new signed-in hosted workflow.</a:t>
            </a:r>
          </a:p>
          <a:p/>
          <a:p>
            <a:r>
              <a:t>CLAIM BOUNDARY</a:t>
            </a:r>
          </a:p>
          <a:p>
            <a:r>
              <a:t>Screenshot is real public Vercel UI. AI key configured is not an AI completion test. Authenticated hosted research, search and source-viewer interactions were not exercised.</a:t>
            </a:r>
          </a:p>
          <a:p/>
          <a:p>
            <a:r>
              <a:t>DATA SNAPSHOT: 2026-10-10T21:01:22.195974+00:00</a:t>
            </a:r>
          </a:p>
          <a:p>
            <a:r>
              <a:t>DEPLOYED SOURCE: main 7c7ba8619daee786309e8ef10caca85b7b5d24f2</a:t>
            </a:r>
          </a:p>
          <a:p/>
          <a:p>
            <a:r>
              <a:t>SOURCES</a:t>
            </a:r>
          </a:p>
          <a:p>
            <a:r>
              <a:t>docs/pitch/verified-deployment.json</a:t>
            </a:r>
          </a:p>
          <a:p>
            <a:r>
              <a:t>docs/pitch/assets/vercel-signin-desktop.png</a:t>
            </a:r>
          </a:p>
          <a:p>
            <a:r>
              <a:t>frontend/README.md</a:t>
            </a:r>
          </a:p>
          <a:p>
            <a:r>
              <a:t>frontend/src/App.tsx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2:00 - 2:35</a:t>
            </a:r>
          </a:p>
          <a:p/>
          <a:p>
            <a:r>
              <a:t>SPEAKER SCRIPT</a:t>
            </a:r>
          </a:p>
          <a:p>
            <a:r>
              <a:t>This is a real database example, not an invented requirement. Under G60, US, Comfort and Space, the snapshot contains 396 comments, including 139 tagged negative. One comment says that reaching the heated steering wheel through climate options feels cumbersome and asks for a dedicated button. The exact workbook and row are preserved. The count covers the category; it does not mean 139 steering-wheel complaints or prove a recommended design.</a:t>
            </a:r>
          </a:p>
          <a:p/>
          <a:p>
            <a:r>
              <a:t>CLAIM BOUNDARY</a:t>
            </a:r>
          </a:p>
          <a:p>
            <a:r>
              <a:t>The quote is verbatim from one stored customer comment. Category counts are comment records, not people. No approved requirement, prevalence estimate or design recommendation is inferred.</a:t>
            </a:r>
          </a:p>
          <a:p/>
          <a:p>
            <a:r>
              <a:t>DATA SNAPSHOT: 2026-10-10T21:01:22.195974+00:00</a:t>
            </a:r>
          </a:p>
          <a:p>
            <a:r>
              <a:t>DEPLOYED SOURCE: main 7c7ba8619daee786309e8ef10caca85b7b5d24f2</a:t>
            </a:r>
          </a:p>
          <a:p/>
          <a:p>
            <a:r>
              <a:t>SOURCES</a:t>
            </a:r>
          </a:p>
          <a:p>
            <a:r>
              <a:t>docs/pitch/verified-data.json</a:t>
            </a:r>
          </a:p>
          <a:p>
            <a:r>
              <a:t>backend/app/knowledge/tools.py</a:t>
            </a:r>
          </a:p>
          <a:p>
            <a:r>
              <a:t>docs/decisions/0020-source-viewer-for-citations.md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2:35 - 3:00</a:t>
            </a:r>
          </a:p>
          <a:p/>
          <a:p>
            <a:r>
              <a:t>SPEAKER SCRIPT</a:t>
            </a:r>
          </a:p>
          <a:p>
            <a:r>
              <a:t>The next step is a measured pilot on one vehicle line and market. Measure time to a cited answer, citation correctness and how much of the decision space the evidence covers. Validate the complete signed-in hosted run, then connect accepted outputs to a persistent requirement backlog. There is no measured time saving or recommendation accuracy yet. The app is available at the address on screen; an existing application account is required.</a:t>
            </a:r>
          </a:p>
          <a:p/>
          <a:p>
            <a:r>
              <a:t>CLAIM BOUNDARY</a:t>
            </a:r>
          </a:p>
          <a:p>
            <a:r>
              <a:t>Pilot metrics are proposed measurements, not achieved results. Requirement/backlog persistence and full authenticated hosted verification remain unfinished.</a:t>
            </a:r>
          </a:p>
          <a:p/>
          <a:p>
            <a:r>
              <a:t>DATA SNAPSHOT: 2026-10-10T21:01:22.195974+00:00</a:t>
            </a:r>
          </a:p>
          <a:p>
            <a:r>
              <a:t>DEPLOYED SOURCE: main 7c7ba8619daee786309e8ef10caca85b7b5d24f2</a:t>
            </a:r>
          </a:p>
          <a:p/>
          <a:p>
            <a:r>
              <a:t>SOURCES</a:t>
            </a:r>
          </a:p>
          <a:p>
            <a:r>
              <a:t>docs/pitch/verified-data.json</a:t>
            </a:r>
          </a:p>
          <a:p>
            <a:r>
              <a:t>docs/pitch/verified-deployment.json</a:t>
            </a:r>
          </a:p>
          <a:p>
            <a:r>
              <a:t>docs/architecture/02-orchestration-and-human-in-the-loop.md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Q&amp;A only</a:t>
            </a:r>
          </a:p>
          <a:p/>
          <a:p>
            <a:r>
              <a:t>SPEAKER SCRIPT</a:t>
            </a:r>
          </a:p>
          <a:p>
            <a:r>
              <a:t>React calls only FastAPI through /api. Backend knowledge tools retrieve exact structured rows and combine semantic and keyword search for narrative text. Supabase stores evidence, chat history, steps and audit events. LangGraph controls the loop, with its own Postgres checkpoints. The run still executes inside the API process. This Vercel package sets a five-minute function duration, so long research needs a durable worker model. Checkpoints alone do not prove reliable hosted background execution.</a:t>
            </a:r>
          </a:p>
          <a:p/>
          <a:p>
            <a:r>
              <a:t>CLAIM BOUNDARY</a:t>
            </a:r>
          </a:p>
          <a:p>
            <a:r>
              <a:t>Architecture follows deployed code, not a new execution test. Five minutes is the package configuration, not a universal Vercel limit. Durable workers are not shipped.</a:t>
            </a:r>
          </a:p>
          <a:p/>
          <a:p>
            <a:r>
              <a:t>DATA SNAPSHOT: 2026-10-10T21:01:22.195974+00:00</a:t>
            </a:r>
          </a:p>
          <a:p>
            <a:r>
              <a:t>DEPLOYED SOURCE: main 7c7ba8619daee786309e8ef10caca85b7b5d24f2</a:t>
            </a:r>
          </a:p>
          <a:p/>
          <a:p>
            <a:r>
              <a:t>SOURCES</a:t>
            </a:r>
          </a:p>
          <a:p>
            <a:r>
              <a:t>docs/decisions/0019-orchestration-loop-runs-on-langgraph.md</a:t>
            </a:r>
          </a:p>
          <a:p>
            <a:r>
              <a:t>backend/app/knowledge/tools.py</a:t>
            </a:r>
          </a:p>
          <a:p>
            <a:r>
              <a:t>docs/pitch/verified-deployment.json</a:t>
            </a:r>
          </a:p>
          <a:p>
            <a:r>
              <a:t>https://vercel.com/docs/functions/configuring-functions/duration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Q&amp;A only</a:t>
            </a:r>
          </a:p>
          <a:p/>
          <a:p>
            <a:r>
              <a:t>SPEAKER SCRIPT</a:t>
            </a:r>
          </a:p>
          <a:p>
            <a:r>
              <a:t>These are exact customer-comment counts by market. China has no customer-feedback comments in this dataset, although G68 and G70 have Chinese customer-study cells and sales data. G60 China is not an interchangeable scope for G68 China. A stored Genesis G70 web page has been tagged G70; the BMW vehicle code collision needs review before any competitor conclusion. Study cells are not respondents, and sales forecasts are not observed outcomes.</a:t>
            </a:r>
          </a:p>
          <a:p/>
          <a:p>
            <a:r>
              <a:t>CLAIM BOUNDARY</a:t>
            </a:r>
          </a:p>
          <a:p>
            <a:r>
              <a:t>Counts are not population estimates. G68 and G60 remain separate scopes. The Genesis/BMW G70 collision is visible in stored source metadata; no source rows were changed.</a:t>
            </a:r>
          </a:p>
          <a:p/>
          <a:p>
            <a:r>
              <a:t>DATA SNAPSHOT: 2026-10-10T21:01:22.195974+00:00</a:t>
            </a:r>
          </a:p>
          <a:p>
            <a:r>
              <a:t>DEPLOYED SOURCE: main 7c7ba8619daee786309e8ef10caca85b7b5d24f2</a:t>
            </a:r>
          </a:p>
          <a:p/>
          <a:p>
            <a:r>
              <a:t>SOURCES</a:t>
            </a:r>
          </a:p>
          <a:p>
            <a:r>
              <a:t>docs/pitch/verified-data.json</a:t>
            </a:r>
          </a:p>
          <a:p>
            <a:r>
              <a:t>backend/app/knowledge/library.py</a:t>
            </a:r>
          </a:p>
          <a:p>
            <a:r>
              <a:t>backend/app/knowledge/tools.py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Q&amp;A only</a:t>
            </a:r>
          </a:p>
          <a:p/>
          <a:p>
            <a:r>
              <a:t>SPEAKER SCRIPT</a:t>
            </a:r>
          </a:p>
          <a:p>
            <a:r>
              <a:t>The public hosted frontend, database connection and protected-route boundary were verified. Main contains the live views, autonomous orchestrator, Critic and checkpoint code; this deck did not run a new authenticated hosted request. Supabase stores five completed runs and one older in-progress run with a planned step. Those history rows are not evidence of a successful fresh Vercel run. Findings, clusters, requirements and scores are still empty in their backlog tables. Original BMW files are absent from the deployed package, so hosted source-file download is unavailable. The presentation uses main and runtime evidence rather than feature-branch decisions mirrored in Supabase.</a:t>
            </a:r>
          </a:p>
          <a:p/>
          <a:p>
            <a:r>
              <a:t>CLAIM BOUNDARY</a:t>
            </a:r>
          </a:p>
          <a:p>
            <a:r>
              <a:t>No complete hosted workflow, performance benefit, approved requirement or reliable long-running worker is claimed. Source-context rows exist, but original BMW files were not uploaded.</a:t>
            </a:r>
          </a:p>
          <a:p/>
          <a:p>
            <a:r>
              <a:t>DATA SNAPSHOT: 2026-10-10T21:01:22.195974+00:00</a:t>
            </a:r>
          </a:p>
          <a:p>
            <a:r>
              <a:t>DEPLOYED SOURCE: main 7c7ba8619daee786309e8ef10caca85b7b5d24f2</a:t>
            </a:r>
          </a:p>
          <a:p/>
          <a:p>
            <a:r>
              <a:t>SOURCES</a:t>
            </a:r>
          </a:p>
          <a:p>
            <a:r>
              <a:t>docs/pitch/verified-data.json</a:t>
            </a:r>
          </a:p>
          <a:p>
            <a:r>
              <a:t>docs/pitch/verified-deployment.json</a:t>
            </a:r>
          </a:p>
          <a:p>
            <a:r>
              <a:t>docs/architecture/02-orchestration-and-human-in-the-loop.md</a:t>
            </a:r>
          </a:p>
          <a:p>
            <a:r>
              <a:t>docs/decisions/0020-source-viewer-for-citations.md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hyperlink" Target="https://bmw-product-intelligence.vercel.app"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show="1">
  <p:cSld>
    <p:bg>
      <p:bgPr>
        <a:solidFill>
          <a:srgbClr val="1A2129"/>
        </a:solidFill>
        <a:effectLst/>
      </p:bgPr>
    </p:bg>
    <p:spTree>
      <p:nvGrpSpPr>
        <p:cNvPr id="1" name=""/>
        <p:cNvGrpSpPr/>
        <p:nvPr/>
      </p:nvGrpSpPr>
      <p:grpSpPr/>
      <p:sp>
        <p:nvSpPr>
          <p:cNvPr id="2" name="TextBox 1"/>
          <p:cNvSpPr txBox="1"/>
          <p:nvPr/>
        </p:nvSpPr>
        <p:spPr>
          <a:xfrm>
            <a:off x="594360" y="274320"/>
            <a:ext cx="10607040" cy="228600"/>
          </a:xfrm>
          <a:prstGeom prst="rect">
            <a:avLst/>
          </a:prstGeom>
          <a:noFill/>
        </p:spPr>
        <p:txBody>
          <a:bodyPr wrap="square" lIns="0" rIns="0" tIns="0" bIns="0">
            <a:spAutoFit/>
          </a:bodyPr>
          <a:lstStyle/>
          <a:p>
            <a:pPr algn="l">
              <a:lnSpc>
                <a:spcPct val="110000"/>
              </a:lnSpc>
              <a:spcBef>
                <a:spcPts val="0"/>
              </a:spcBef>
              <a:spcAft>
                <a:spcPts val="0"/>
              </a:spcAft>
            </a:pPr>
            <a:r>
              <a:rPr sz="1100" b="1">
                <a:solidFill>
                  <a:srgbClr val="FFFFFF"/>
                </a:solidFill>
                <a:latin typeface="Inter"/>
              </a:rPr>
              <a:t>BMW PRODUCT INTELLIGENCE</a:t>
            </a:r>
          </a:p>
        </p:txBody>
      </p:sp>
      <p:sp>
        <p:nvSpPr>
          <p:cNvPr id="3" name="Rectangle 2"/>
          <p:cNvSpPr/>
          <p:nvPr/>
        </p:nvSpPr>
        <p:spPr>
          <a:xfrm>
            <a:off x="594360" y="6428232"/>
            <a:ext cx="11000232" cy="12700"/>
          </a:xfrm>
          <a:prstGeom prst="rect">
            <a:avLst/>
          </a:prstGeom>
          <a:solidFill>
            <a:srgbClr val="4A5460"/>
          </a:solidFill>
          <a:ln>
            <a:solidFill>
              <a:srgbClr val="4A5460"/>
            </a:solidFill>
          </a:ln>
        </p:spPr>
        <p:txBody>
          <a:bodyPr rtlCol="0" anchor="ctr" lIns="0" rIns="0" tIns="0" bIns="0"/>
          <a:lstStyle/>
          <a:p>
            <a:pPr algn="ctr">
              <a:lnSpc>
                <a:spcPct val="110000"/>
              </a:lnSpc>
              <a:spcBef>
                <a:spcPts val="0"/>
              </a:spcBef>
              <a:spcAft>
                <a:spcPts val="0"/>
              </a:spcAft>
            </a:pPr>
          </a:p>
        </p:txBody>
      </p:sp>
      <p:sp>
        <p:nvSpPr>
          <p:cNvPr id="4" name="TextBox 3"/>
          <p:cNvSpPr txBox="1"/>
          <p:nvPr/>
        </p:nvSpPr>
        <p:spPr>
          <a:xfrm>
            <a:off x="594360" y="6528816"/>
            <a:ext cx="9966960" cy="164592"/>
          </a:xfrm>
          <a:prstGeom prst="rect">
            <a:avLst/>
          </a:prstGeom>
          <a:noFill/>
        </p:spPr>
        <p:txBody>
          <a:bodyPr wrap="square" lIns="0" rIns="0" tIns="0" bIns="0">
            <a:spAutoFit/>
          </a:bodyPr>
          <a:lstStyle/>
          <a:p>
            <a:pPr algn="l">
              <a:lnSpc>
                <a:spcPct val="110000"/>
              </a:lnSpc>
              <a:spcBef>
                <a:spcPts val="0"/>
              </a:spcBef>
              <a:spcAft>
                <a:spcPts val="0"/>
              </a:spcAft>
            </a:pPr>
            <a:r>
              <a:rPr sz="900" b="0">
                <a:solidFill>
                  <a:srgbClr val="BBBBBB"/>
                </a:solidFill>
                <a:latin typeface="Inter"/>
              </a:rPr>
              <a:t>BMW hackathon prototype  |  2026-10-10  |  Pitch</a:t>
            </a:r>
          </a:p>
        </p:txBody>
      </p:sp>
      <p:sp>
        <p:nvSpPr>
          <p:cNvPr id="5" name="TextBox 4"/>
          <p:cNvSpPr txBox="1"/>
          <p:nvPr/>
        </p:nvSpPr>
        <p:spPr>
          <a:xfrm>
            <a:off x="11109960" y="6501384"/>
            <a:ext cx="484632" cy="228600"/>
          </a:xfrm>
          <a:prstGeom prst="rect">
            <a:avLst/>
          </a:prstGeom>
          <a:noFill/>
        </p:spPr>
        <p:txBody>
          <a:bodyPr wrap="square" lIns="0" rIns="0" tIns="0" bIns="0">
            <a:spAutoFit/>
          </a:bodyPr>
          <a:lstStyle/>
          <a:p>
            <a:pPr algn="r">
              <a:lnSpc>
                <a:spcPct val="110000"/>
              </a:lnSpc>
              <a:spcBef>
                <a:spcPts val="0"/>
              </a:spcBef>
              <a:spcAft>
                <a:spcPts val="0"/>
              </a:spcAft>
            </a:pPr>
            <a:r>
              <a:rPr sz="1000" b="0">
                <a:solidFill>
                  <a:srgbClr val="FFFFFF"/>
                </a:solidFill>
                <a:latin typeface="Inter"/>
              </a:rPr>
              <a:t>01</a:t>
            </a:r>
          </a:p>
        </p:txBody>
      </p:sp>
      <p:sp>
        <p:nvSpPr>
          <p:cNvPr id="6" name="TextBox 5"/>
          <p:cNvSpPr txBox="1"/>
          <p:nvPr/>
        </p:nvSpPr>
        <p:spPr>
          <a:xfrm>
            <a:off x="594360" y="1325880"/>
            <a:ext cx="10972800" cy="1508760"/>
          </a:xfrm>
          <a:prstGeom prst="rect">
            <a:avLst/>
          </a:prstGeom>
          <a:noFill/>
        </p:spPr>
        <p:txBody>
          <a:bodyPr wrap="square" lIns="0" rIns="0" tIns="0" bIns="0">
            <a:spAutoFit/>
          </a:bodyPr>
          <a:lstStyle/>
          <a:p>
            <a:pPr algn="l">
              <a:lnSpc>
                <a:spcPct val="110000"/>
              </a:lnSpc>
              <a:spcBef>
                <a:spcPts val="0"/>
              </a:spcBef>
              <a:spcAft>
                <a:spcPts val="0"/>
              </a:spcAft>
            </a:pPr>
            <a:r>
              <a:rPr sz="4200" b="1">
                <a:solidFill>
                  <a:srgbClr val="FFFFFF"/>
                </a:solidFill>
                <a:latin typeface="Inter"/>
              </a:rPr>
              <a:t>Which customer needs</a:t>
            </a:r>
          </a:p>
          <a:p>
            <a:pPr algn="l">
              <a:lnSpc>
                <a:spcPct val="110000"/>
              </a:lnSpc>
              <a:spcBef>
                <a:spcPts val="0"/>
              </a:spcBef>
              <a:spcAft>
                <a:spcPts val="0"/>
              </a:spcAft>
            </a:pPr>
            <a:r>
              <a:rPr sz="4200" b="1">
                <a:solidFill>
                  <a:srgbClr val="FFFFFF"/>
                </a:solidFill>
                <a:latin typeface="Inter"/>
              </a:rPr>
              <a:t>should shape the next vehicle?</a:t>
            </a:r>
          </a:p>
        </p:txBody>
      </p:sp>
      <p:sp>
        <p:nvSpPr>
          <p:cNvPr id="7" name="TextBox 6"/>
          <p:cNvSpPr txBox="1"/>
          <p:nvPr/>
        </p:nvSpPr>
        <p:spPr>
          <a:xfrm>
            <a:off x="640080" y="3145536"/>
            <a:ext cx="10698480" cy="548640"/>
          </a:xfrm>
          <a:prstGeom prst="rect">
            <a:avLst/>
          </a:prstGeom>
          <a:noFill/>
        </p:spPr>
        <p:txBody>
          <a:bodyPr wrap="square" lIns="0" rIns="0" tIns="0" bIns="0">
            <a:spAutoFit/>
          </a:bodyPr>
          <a:lstStyle/>
          <a:p>
            <a:pPr algn="l">
              <a:lnSpc>
                <a:spcPct val="110000"/>
              </a:lnSpc>
              <a:spcBef>
                <a:spcPts val="0"/>
              </a:spcBef>
              <a:spcAft>
                <a:spcPts val="0"/>
              </a:spcAft>
            </a:pPr>
            <a:r>
              <a:rPr sz="2400" b="0">
                <a:solidFill>
                  <a:srgbClr val="D7DEE8"/>
                </a:solidFill>
                <a:latin typeface="Inter"/>
              </a:rPr>
              <a:t>Cited research across feedback, product data and the web.</a:t>
            </a:r>
          </a:p>
        </p:txBody>
      </p:sp>
      <p:sp>
        <p:nvSpPr>
          <p:cNvPr id="8" name="Rectangle 7"/>
          <p:cNvSpPr/>
          <p:nvPr/>
        </p:nvSpPr>
        <p:spPr>
          <a:xfrm>
            <a:off x="640080" y="4251960"/>
            <a:ext cx="73152" cy="1133856"/>
          </a:xfrm>
          <a:prstGeom prst="rect">
            <a:avLst/>
          </a:prstGeom>
          <a:solidFill>
            <a:srgbClr val="1C69D4"/>
          </a:solidFill>
          <a:ln>
            <a:solidFill>
              <a:srgbClr val="1C69D4"/>
            </a:solidFill>
          </a:ln>
        </p:spPr>
        <p:txBody>
          <a:bodyPr rtlCol="0" anchor="ctr" lIns="0" rIns="0" tIns="0" bIns="0"/>
          <a:lstStyle/>
          <a:p>
            <a:pPr algn="ctr">
              <a:lnSpc>
                <a:spcPct val="110000"/>
              </a:lnSpc>
              <a:spcBef>
                <a:spcPts val="0"/>
              </a:spcBef>
              <a:spcAft>
                <a:spcPts val="0"/>
              </a:spcAft>
            </a:pPr>
          </a:p>
        </p:txBody>
      </p:sp>
      <p:sp>
        <p:nvSpPr>
          <p:cNvPr id="9" name="TextBox 8"/>
          <p:cNvSpPr txBox="1"/>
          <p:nvPr/>
        </p:nvSpPr>
        <p:spPr>
          <a:xfrm>
            <a:off x="932688" y="4297680"/>
            <a:ext cx="10332720" cy="950976"/>
          </a:xfrm>
          <a:prstGeom prst="rect">
            <a:avLst/>
          </a:prstGeom>
          <a:noFill/>
        </p:spPr>
        <p:txBody>
          <a:bodyPr wrap="square" lIns="0" rIns="0" tIns="0" bIns="0">
            <a:spAutoFit/>
          </a:bodyPr>
          <a:lstStyle/>
          <a:p>
            <a:pPr algn="l">
              <a:lnSpc>
                <a:spcPct val="110000"/>
              </a:lnSpc>
              <a:spcBef>
                <a:spcPts val="0"/>
              </a:spcBef>
              <a:spcAft>
                <a:spcPts val="0"/>
              </a:spcAft>
            </a:pPr>
            <a:r>
              <a:rPr sz="2500" b="0">
                <a:solidFill>
                  <a:srgbClr val="FFFFFF"/>
                </a:solidFill>
                <a:latin typeface="Inter"/>
              </a:rPr>
              <a:t>Ask a question. Inspect the evidence.</a:t>
            </a:r>
          </a:p>
          <a:p>
            <a:pPr algn="l">
              <a:lnSpc>
                <a:spcPct val="110000"/>
              </a:lnSpc>
              <a:spcBef>
                <a:spcPts val="0"/>
              </a:spcBef>
              <a:spcAft>
                <a:spcPts val="0"/>
              </a:spcAft>
            </a:pPr>
            <a:r>
              <a:rPr sz="2500" b="0">
                <a:solidFill>
                  <a:srgbClr val="FFFFFF"/>
                </a:solidFill>
                <a:latin typeface="Inter"/>
              </a:rPr>
              <a:t>Make the product decision.</a:t>
            </a:r>
          </a:p>
        </p:txBody>
      </p:sp>
      <p:sp>
        <p:nvSpPr>
          <p:cNvPr id="10" name="TextBox 9"/>
          <p:cNvSpPr txBox="1"/>
          <p:nvPr/>
        </p:nvSpPr>
        <p:spPr>
          <a:xfrm>
            <a:off x="640080" y="5815584"/>
            <a:ext cx="10424160" cy="274320"/>
          </a:xfrm>
          <a:prstGeom prst="rect">
            <a:avLst/>
          </a:prstGeom>
          <a:noFill/>
        </p:spPr>
        <p:txBody>
          <a:bodyPr wrap="square" lIns="0" rIns="0" tIns="0" bIns="0">
            <a:spAutoFit/>
          </a:bodyPr>
          <a:lstStyle/>
          <a:p>
            <a:pPr algn="l">
              <a:lnSpc>
                <a:spcPct val="110000"/>
              </a:lnSpc>
              <a:spcBef>
                <a:spcPts val="0"/>
              </a:spcBef>
              <a:spcAft>
                <a:spcPts val="0"/>
              </a:spcAft>
            </a:pPr>
            <a:r>
              <a:rPr sz="1200" b="0">
                <a:solidFill>
                  <a:srgbClr val="BBBBBB"/>
                </a:solidFill>
                <a:latin typeface="Inter"/>
              </a:rPr>
              <a:t>Gabriel Hansmann  |  attention_is_all_we_have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1">
  <p:cSld>
    <p:bg>
      <p:bgPr>
        <a:solidFill>
          <a:srgbClr val="FFFFFF"/>
        </a:solidFill>
        <a:effectLst/>
      </p:bgPr>
    </p:bg>
    <p:spTree>
      <p:nvGrpSpPr>
        <p:cNvPr id="1" name=""/>
        <p:cNvGrpSpPr/>
        <p:nvPr/>
      </p:nvGrpSpPr>
      <p:grpSpPr/>
      <p:sp>
        <p:nvSpPr>
          <p:cNvPr id="2" name="TextBox 1"/>
          <p:cNvSpPr txBox="1"/>
          <p:nvPr/>
        </p:nvSpPr>
        <p:spPr>
          <a:xfrm>
            <a:off x="594360" y="274320"/>
            <a:ext cx="10607040" cy="228600"/>
          </a:xfrm>
          <a:prstGeom prst="rect">
            <a:avLst/>
          </a:prstGeom>
          <a:noFill/>
        </p:spPr>
        <p:txBody>
          <a:bodyPr wrap="square" lIns="0" rIns="0" tIns="0" bIns="0">
            <a:spAutoFit/>
          </a:bodyPr>
          <a:lstStyle/>
          <a:p>
            <a:pPr algn="l">
              <a:lnSpc>
                <a:spcPct val="110000"/>
              </a:lnSpc>
              <a:spcBef>
                <a:spcPts val="0"/>
              </a:spcBef>
              <a:spcAft>
                <a:spcPts val="0"/>
              </a:spcAft>
            </a:pPr>
            <a:r>
              <a:rPr sz="1100" b="1">
                <a:solidFill>
                  <a:srgbClr val="1C69D4"/>
                </a:solidFill>
                <a:latin typeface="Inter"/>
              </a:rPr>
              <a:t>BMW PRODUCT INTELLIGENCE</a:t>
            </a:r>
          </a:p>
        </p:txBody>
      </p:sp>
      <p:sp>
        <p:nvSpPr>
          <p:cNvPr id="3" name="TextBox 2"/>
          <p:cNvSpPr txBox="1"/>
          <p:nvPr/>
        </p:nvSpPr>
        <p:spPr>
          <a:xfrm>
            <a:off x="594360" y="859536"/>
            <a:ext cx="11018520" cy="1170432"/>
          </a:xfrm>
          <a:prstGeom prst="rect">
            <a:avLst/>
          </a:prstGeom>
          <a:noFill/>
        </p:spPr>
        <p:txBody>
          <a:bodyPr wrap="square" lIns="0" rIns="0" tIns="0" bIns="0">
            <a:spAutoFit/>
          </a:bodyPr>
          <a:lstStyle/>
          <a:p>
            <a:pPr algn="l">
              <a:lnSpc>
                <a:spcPct val="110000"/>
              </a:lnSpc>
              <a:spcBef>
                <a:spcPts val="0"/>
              </a:spcBef>
              <a:spcAft>
                <a:spcPts val="0"/>
              </a:spcAft>
            </a:pPr>
            <a:r>
              <a:rPr sz="3600" b="1">
                <a:solidFill>
                  <a:srgbClr val="262626"/>
                </a:solidFill>
                <a:latin typeface="Inter"/>
              </a:rPr>
              <a:t>A real evidence base.</a:t>
            </a:r>
          </a:p>
          <a:p>
            <a:pPr algn="l">
              <a:lnSpc>
                <a:spcPct val="110000"/>
              </a:lnSpc>
              <a:spcBef>
                <a:spcPts val="0"/>
              </a:spcBef>
              <a:spcAft>
                <a:spcPts val="0"/>
              </a:spcAft>
            </a:pPr>
            <a:r>
              <a:rPr sz="3600" b="1">
                <a:solidFill>
                  <a:srgbClr val="262626"/>
                </a:solidFill>
                <a:latin typeface="Inter"/>
              </a:rPr>
              <a:t>Every number comes from Supabase.</a:t>
            </a:r>
          </a:p>
        </p:txBody>
      </p:sp>
      <p:sp>
        <p:nvSpPr>
          <p:cNvPr id="4" name="Rectangle 3"/>
          <p:cNvSpPr/>
          <p:nvPr/>
        </p:nvSpPr>
        <p:spPr>
          <a:xfrm>
            <a:off x="594360" y="6428232"/>
            <a:ext cx="11000232" cy="12700"/>
          </a:xfrm>
          <a:prstGeom prst="rect">
            <a:avLst/>
          </a:prstGeom>
          <a:solidFill>
            <a:srgbClr val="E6E6E6"/>
          </a:solidFill>
          <a:ln>
            <a:solidFill>
              <a:srgbClr val="E6E6E6"/>
            </a:solidFill>
          </a:ln>
        </p:spPr>
        <p:txBody>
          <a:bodyPr rtlCol="0" anchor="ctr" lIns="0" rIns="0" tIns="0" bIns="0"/>
          <a:lstStyle/>
          <a:p>
            <a:pPr algn="ctr">
              <a:lnSpc>
                <a:spcPct val="110000"/>
              </a:lnSpc>
              <a:spcBef>
                <a:spcPts val="0"/>
              </a:spcBef>
              <a:spcAft>
                <a:spcPts val="0"/>
              </a:spcAft>
            </a:pPr>
          </a:p>
        </p:txBody>
      </p:sp>
      <p:sp>
        <p:nvSpPr>
          <p:cNvPr id="5" name="TextBox 4"/>
          <p:cNvSpPr txBox="1"/>
          <p:nvPr/>
        </p:nvSpPr>
        <p:spPr>
          <a:xfrm>
            <a:off x="594360" y="6528816"/>
            <a:ext cx="9966960" cy="164592"/>
          </a:xfrm>
          <a:prstGeom prst="rect">
            <a:avLst/>
          </a:prstGeom>
          <a:noFill/>
        </p:spPr>
        <p:txBody>
          <a:bodyPr wrap="square" lIns="0" rIns="0" tIns="0" bIns="0">
            <a:spAutoFit/>
          </a:bodyPr>
          <a:lstStyle/>
          <a:p>
            <a:pPr algn="l">
              <a:lnSpc>
                <a:spcPct val="110000"/>
              </a:lnSpc>
              <a:spcBef>
                <a:spcPts val="0"/>
              </a:spcBef>
              <a:spcAft>
                <a:spcPts val="0"/>
              </a:spcAft>
            </a:pPr>
            <a:r>
              <a:rPr sz="900" b="0">
                <a:solidFill>
                  <a:srgbClr val="6B6B6B"/>
                </a:solidFill>
                <a:latin typeface="Inter"/>
              </a:rPr>
              <a:t>BMW hackathon prototype  |  2026-10-10  |  Pitch</a:t>
            </a:r>
          </a:p>
        </p:txBody>
      </p:sp>
      <p:sp>
        <p:nvSpPr>
          <p:cNvPr id="6" name="TextBox 5"/>
          <p:cNvSpPr txBox="1"/>
          <p:nvPr/>
        </p:nvSpPr>
        <p:spPr>
          <a:xfrm>
            <a:off x="11109960" y="6501384"/>
            <a:ext cx="484632" cy="228600"/>
          </a:xfrm>
          <a:prstGeom prst="rect">
            <a:avLst/>
          </a:prstGeom>
          <a:noFill/>
        </p:spPr>
        <p:txBody>
          <a:bodyPr wrap="square" lIns="0" rIns="0" tIns="0" bIns="0">
            <a:spAutoFit/>
          </a:bodyPr>
          <a:lstStyle/>
          <a:p>
            <a:pPr algn="r">
              <a:lnSpc>
                <a:spcPct val="110000"/>
              </a:lnSpc>
              <a:spcBef>
                <a:spcPts val="0"/>
              </a:spcBef>
              <a:spcAft>
                <a:spcPts val="0"/>
              </a:spcAft>
            </a:pPr>
            <a:r>
              <a:rPr sz="1000" b="0">
                <a:solidFill>
                  <a:srgbClr val="6B6B6B"/>
                </a:solidFill>
                <a:latin typeface="Inter"/>
              </a:rPr>
              <a:t>02</a:t>
            </a:r>
          </a:p>
        </p:txBody>
      </p:sp>
      <p:sp>
        <p:nvSpPr>
          <p:cNvPr id="7" name="TextBox 6"/>
          <p:cNvSpPr txBox="1"/>
          <p:nvPr/>
        </p:nvSpPr>
        <p:spPr>
          <a:xfrm>
            <a:off x="594360" y="2331720"/>
            <a:ext cx="5486400" cy="941832"/>
          </a:xfrm>
          <a:prstGeom prst="rect">
            <a:avLst/>
          </a:prstGeom>
          <a:noFill/>
        </p:spPr>
        <p:txBody>
          <a:bodyPr wrap="square" lIns="0" rIns="0" tIns="0" bIns="0">
            <a:spAutoFit/>
          </a:bodyPr>
          <a:lstStyle/>
          <a:p>
            <a:pPr algn="l">
              <a:lnSpc>
                <a:spcPct val="110000"/>
              </a:lnSpc>
              <a:spcBef>
                <a:spcPts val="0"/>
              </a:spcBef>
              <a:spcAft>
                <a:spcPts val="0"/>
              </a:spcAft>
            </a:pPr>
            <a:r>
              <a:rPr sz="6800" b="1">
                <a:solidFill>
                  <a:srgbClr val="1C69D4"/>
                </a:solidFill>
                <a:latin typeface="Inter"/>
              </a:rPr>
              <a:t>13,771</a:t>
            </a:r>
          </a:p>
        </p:txBody>
      </p:sp>
      <p:sp>
        <p:nvSpPr>
          <p:cNvPr id="8" name="TextBox 7"/>
          <p:cNvSpPr txBox="1"/>
          <p:nvPr/>
        </p:nvSpPr>
        <p:spPr>
          <a:xfrm>
            <a:off x="658368" y="3355848"/>
            <a:ext cx="5532120" cy="420624"/>
          </a:xfrm>
          <a:prstGeom prst="rect">
            <a:avLst/>
          </a:prstGeom>
          <a:noFill/>
        </p:spPr>
        <p:txBody>
          <a:bodyPr wrap="square" lIns="0" rIns="0" tIns="0" bIns="0">
            <a:spAutoFit/>
          </a:bodyPr>
          <a:lstStyle/>
          <a:p>
            <a:pPr algn="l">
              <a:lnSpc>
                <a:spcPct val="110000"/>
              </a:lnSpc>
              <a:spcBef>
                <a:spcPts val="0"/>
              </a:spcBef>
              <a:spcAft>
                <a:spcPts val="0"/>
              </a:spcAft>
            </a:pPr>
            <a:r>
              <a:rPr sz="2200" b="0">
                <a:solidFill>
                  <a:srgbClr val="262626"/>
                </a:solidFill>
                <a:latin typeface="Inter"/>
              </a:rPr>
              <a:t>customer-feedback comments</a:t>
            </a:r>
          </a:p>
        </p:txBody>
      </p:sp>
      <p:sp>
        <p:nvSpPr>
          <p:cNvPr id="9" name="TextBox 8"/>
          <p:cNvSpPr txBox="1"/>
          <p:nvPr/>
        </p:nvSpPr>
        <p:spPr>
          <a:xfrm>
            <a:off x="658368" y="4050791"/>
            <a:ext cx="5532120" cy="914400"/>
          </a:xfrm>
          <a:prstGeom prst="rect">
            <a:avLst/>
          </a:prstGeom>
          <a:noFill/>
        </p:spPr>
        <p:txBody>
          <a:bodyPr wrap="square" lIns="0" rIns="0" tIns="0" bIns="0">
            <a:spAutoFit/>
          </a:bodyPr>
          <a:lstStyle/>
          <a:p>
            <a:pPr algn="l">
              <a:lnSpc>
                <a:spcPct val="110000"/>
              </a:lnSpc>
              <a:spcBef>
                <a:spcPts val="0"/>
              </a:spcBef>
              <a:spcAft>
                <a:spcPts val="0"/>
              </a:spcAft>
            </a:pPr>
            <a:r>
              <a:rPr sz="2100" b="0">
                <a:solidFill>
                  <a:srgbClr val="6B6B6B"/>
                </a:solidFill>
                <a:latin typeface="Inter"/>
              </a:rPr>
              <a:t>11 registered sources</a:t>
            </a:r>
          </a:p>
          <a:p>
            <a:pPr algn="l">
              <a:lnSpc>
                <a:spcPct val="110000"/>
              </a:lnSpc>
              <a:spcBef>
                <a:spcPts val="0"/>
              </a:spcBef>
              <a:spcAft>
                <a:spcPts val="0"/>
              </a:spcAft>
            </a:pPr>
            <a:r>
              <a:rPr sz="2100" b="0">
                <a:solidFill>
                  <a:srgbClr val="6B6B6B"/>
                </a:solidFill>
                <a:latin typeface="Inter"/>
              </a:rPr>
              <a:t>8 internal files + 3 web sources</a:t>
            </a:r>
          </a:p>
        </p:txBody>
      </p:sp>
      <p:sp>
        <p:nvSpPr>
          <p:cNvPr id="10" name="TextBox 9"/>
          <p:cNvSpPr txBox="1"/>
          <p:nvPr/>
        </p:nvSpPr>
        <p:spPr>
          <a:xfrm>
            <a:off x="658368" y="5376672"/>
            <a:ext cx="5486400" cy="539496"/>
          </a:xfrm>
          <a:prstGeom prst="rect">
            <a:avLst/>
          </a:prstGeom>
          <a:noFill/>
        </p:spPr>
        <p:txBody>
          <a:bodyPr wrap="square" lIns="0" rIns="0" tIns="0" bIns="0">
            <a:spAutoFit/>
          </a:bodyPr>
          <a:lstStyle/>
          <a:p>
            <a:pPr algn="l">
              <a:lnSpc>
                <a:spcPct val="110000"/>
              </a:lnSpc>
              <a:spcBef>
                <a:spcPts val="0"/>
              </a:spcBef>
              <a:spcAft>
                <a:spcPts val="0"/>
              </a:spcAft>
            </a:pPr>
            <a:r>
              <a:rPr sz="1800" b="0">
                <a:solidFill>
                  <a:srgbClr val="262626"/>
                </a:solidFill>
                <a:latin typeface="Inter"/>
              </a:rPr>
              <a:t>Original file, row or page stays attached.</a:t>
            </a:r>
          </a:p>
        </p:txBody>
      </p:sp>
      <p:sp>
        <p:nvSpPr>
          <p:cNvPr id="11" name="Rectangle 10"/>
          <p:cNvSpPr/>
          <p:nvPr/>
        </p:nvSpPr>
        <p:spPr>
          <a:xfrm>
            <a:off x="6400800" y="2221992"/>
            <a:ext cx="12700" cy="3648456"/>
          </a:xfrm>
          <a:prstGeom prst="rect">
            <a:avLst/>
          </a:prstGeom>
          <a:solidFill>
            <a:srgbClr val="E6E6E6"/>
          </a:solidFill>
          <a:ln>
            <a:solidFill>
              <a:srgbClr val="E6E6E6"/>
            </a:solidFill>
          </a:ln>
        </p:spPr>
        <p:txBody>
          <a:bodyPr rtlCol="0" anchor="ctr" lIns="0" rIns="0" tIns="0" bIns="0"/>
          <a:lstStyle/>
          <a:p>
            <a:pPr algn="ctr">
              <a:lnSpc>
                <a:spcPct val="110000"/>
              </a:lnSpc>
              <a:spcBef>
                <a:spcPts val="0"/>
              </a:spcBef>
              <a:spcAft>
                <a:spcPts val="0"/>
              </a:spcAft>
            </a:pPr>
          </a:p>
        </p:txBody>
      </p:sp>
      <p:sp>
        <p:nvSpPr>
          <p:cNvPr id="12" name="TextBox 11"/>
          <p:cNvSpPr txBox="1"/>
          <p:nvPr/>
        </p:nvSpPr>
        <p:spPr>
          <a:xfrm>
            <a:off x="6903720" y="2249424"/>
            <a:ext cx="1828800" cy="649224"/>
          </a:xfrm>
          <a:prstGeom prst="rect">
            <a:avLst/>
          </a:prstGeom>
          <a:noFill/>
        </p:spPr>
        <p:txBody>
          <a:bodyPr wrap="square" lIns="0" rIns="0" tIns="0" bIns="0">
            <a:spAutoFit/>
          </a:bodyPr>
          <a:lstStyle/>
          <a:p>
            <a:pPr algn="l">
              <a:lnSpc>
                <a:spcPct val="110000"/>
              </a:lnSpc>
              <a:spcBef>
                <a:spcPts val="0"/>
              </a:spcBef>
              <a:spcAft>
                <a:spcPts val="0"/>
              </a:spcAft>
            </a:pPr>
            <a:r>
              <a:rPr sz="3500" b="1">
                <a:solidFill>
                  <a:srgbClr val="1C69D4"/>
                </a:solidFill>
                <a:latin typeface="Inter"/>
              </a:rPr>
              <a:t>1,627</a:t>
            </a:r>
          </a:p>
        </p:txBody>
      </p:sp>
      <p:sp>
        <p:nvSpPr>
          <p:cNvPr id="13" name="TextBox 12"/>
          <p:cNvSpPr txBox="1"/>
          <p:nvPr/>
        </p:nvSpPr>
        <p:spPr>
          <a:xfrm>
            <a:off x="8659368" y="2377440"/>
            <a:ext cx="2807208" cy="548640"/>
          </a:xfrm>
          <a:prstGeom prst="rect">
            <a:avLst/>
          </a:prstGeom>
          <a:noFill/>
        </p:spPr>
        <p:txBody>
          <a:bodyPr wrap="square" lIns="0" rIns="0" tIns="0" bIns="0">
            <a:spAutoFit/>
          </a:bodyPr>
          <a:lstStyle/>
          <a:p>
            <a:pPr algn="l">
              <a:lnSpc>
                <a:spcPct val="110000"/>
              </a:lnSpc>
              <a:spcBef>
                <a:spcPts val="0"/>
              </a:spcBef>
              <a:spcAft>
                <a:spcPts val="0"/>
              </a:spcAft>
            </a:pPr>
            <a:r>
              <a:rPr sz="1700" b="0">
                <a:solidFill>
                  <a:srgbClr val="262626"/>
                </a:solidFill>
                <a:latin typeface="Inter"/>
              </a:rPr>
              <a:t>customer-study cells</a:t>
            </a:r>
          </a:p>
        </p:txBody>
      </p:sp>
      <p:sp>
        <p:nvSpPr>
          <p:cNvPr id="14" name="TextBox 13"/>
          <p:cNvSpPr txBox="1"/>
          <p:nvPr/>
        </p:nvSpPr>
        <p:spPr>
          <a:xfrm>
            <a:off x="6903720" y="3264408"/>
            <a:ext cx="1828800" cy="649224"/>
          </a:xfrm>
          <a:prstGeom prst="rect">
            <a:avLst/>
          </a:prstGeom>
          <a:noFill/>
        </p:spPr>
        <p:txBody>
          <a:bodyPr wrap="square" lIns="0" rIns="0" tIns="0" bIns="0">
            <a:spAutoFit/>
          </a:bodyPr>
          <a:lstStyle/>
          <a:p>
            <a:pPr algn="l">
              <a:lnSpc>
                <a:spcPct val="110000"/>
              </a:lnSpc>
              <a:spcBef>
                <a:spcPts val="0"/>
              </a:spcBef>
              <a:spcAft>
                <a:spcPts val="0"/>
              </a:spcAft>
            </a:pPr>
            <a:r>
              <a:rPr sz="3500" b="1">
                <a:solidFill>
                  <a:srgbClr val="1C69D4"/>
                </a:solidFill>
                <a:latin typeface="Inter"/>
              </a:rPr>
              <a:t>198</a:t>
            </a:r>
          </a:p>
        </p:txBody>
      </p:sp>
      <p:sp>
        <p:nvSpPr>
          <p:cNvPr id="15" name="TextBox 14"/>
          <p:cNvSpPr txBox="1"/>
          <p:nvPr/>
        </p:nvSpPr>
        <p:spPr>
          <a:xfrm>
            <a:off x="8659368" y="3392424"/>
            <a:ext cx="2807208" cy="548640"/>
          </a:xfrm>
          <a:prstGeom prst="rect">
            <a:avLst/>
          </a:prstGeom>
          <a:noFill/>
        </p:spPr>
        <p:txBody>
          <a:bodyPr wrap="square" lIns="0" rIns="0" tIns="0" bIns="0">
            <a:spAutoFit/>
          </a:bodyPr>
          <a:lstStyle/>
          <a:p>
            <a:pPr algn="l">
              <a:lnSpc>
                <a:spcPct val="110000"/>
              </a:lnSpc>
              <a:spcBef>
                <a:spcPts val="0"/>
              </a:spcBef>
              <a:spcAft>
                <a:spcPts val="0"/>
              </a:spcAft>
            </a:pPr>
            <a:r>
              <a:rPr sz="1700" b="0">
                <a:solidFill>
                  <a:srgbClr val="262626"/>
                </a:solidFill>
                <a:latin typeface="Inter"/>
              </a:rPr>
              <a:t>equipment options</a:t>
            </a:r>
          </a:p>
        </p:txBody>
      </p:sp>
      <p:sp>
        <p:nvSpPr>
          <p:cNvPr id="16" name="TextBox 15"/>
          <p:cNvSpPr txBox="1"/>
          <p:nvPr/>
        </p:nvSpPr>
        <p:spPr>
          <a:xfrm>
            <a:off x="6903720" y="4279392"/>
            <a:ext cx="1828800" cy="649224"/>
          </a:xfrm>
          <a:prstGeom prst="rect">
            <a:avLst/>
          </a:prstGeom>
          <a:noFill/>
        </p:spPr>
        <p:txBody>
          <a:bodyPr wrap="square" lIns="0" rIns="0" tIns="0" bIns="0">
            <a:spAutoFit/>
          </a:bodyPr>
          <a:lstStyle/>
          <a:p>
            <a:pPr algn="l">
              <a:lnSpc>
                <a:spcPct val="110000"/>
              </a:lnSpc>
              <a:spcBef>
                <a:spcPts val="0"/>
              </a:spcBef>
              <a:spcAft>
                <a:spcPts val="0"/>
              </a:spcAft>
            </a:pPr>
            <a:r>
              <a:rPr sz="3500" b="1">
                <a:solidFill>
                  <a:srgbClr val="1C69D4"/>
                </a:solidFill>
                <a:latin typeface="Inter"/>
              </a:rPr>
              <a:t>149</a:t>
            </a:r>
          </a:p>
        </p:txBody>
      </p:sp>
      <p:sp>
        <p:nvSpPr>
          <p:cNvPr id="17" name="TextBox 16"/>
          <p:cNvSpPr txBox="1"/>
          <p:nvPr/>
        </p:nvSpPr>
        <p:spPr>
          <a:xfrm>
            <a:off x="8659368" y="4407407"/>
            <a:ext cx="2807208" cy="548640"/>
          </a:xfrm>
          <a:prstGeom prst="rect">
            <a:avLst/>
          </a:prstGeom>
          <a:noFill/>
        </p:spPr>
        <p:txBody>
          <a:bodyPr wrap="square" lIns="0" rIns="0" tIns="0" bIns="0">
            <a:spAutoFit/>
          </a:bodyPr>
          <a:lstStyle/>
          <a:p>
            <a:pPr algn="l">
              <a:lnSpc>
                <a:spcPct val="110000"/>
              </a:lnSpc>
              <a:spcBef>
                <a:spcPts val="0"/>
              </a:spcBef>
              <a:spcAft>
                <a:spcPts val="0"/>
              </a:spcAft>
            </a:pPr>
            <a:r>
              <a:rPr sz="1700" b="0">
                <a:solidFill>
                  <a:srgbClr val="262626"/>
                </a:solidFill>
                <a:latin typeface="Inter"/>
              </a:rPr>
              <a:t>BMW catalog passages</a:t>
            </a:r>
          </a:p>
        </p:txBody>
      </p:sp>
      <p:sp>
        <p:nvSpPr>
          <p:cNvPr id="18" name="TextBox 17"/>
          <p:cNvSpPr txBox="1"/>
          <p:nvPr/>
        </p:nvSpPr>
        <p:spPr>
          <a:xfrm>
            <a:off x="6903720" y="5294376"/>
            <a:ext cx="1828800" cy="649224"/>
          </a:xfrm>
          <a:prstGeom prst="rect">
            <a:avLst/>
          </a:prstGeom>
          <a:noFill/>
        </p:spPr>
        <p:txBody>
          <a:bodyPr wrap="square" lIns="0" rIns="0" tIns="0" bIns="0">
            <a:spAutoFit/>
          </a:bodyPr>
          <a:lstStyle/>
          <a:p>
            <a:pPr algn="l">
              <a:lnSpc>
                <a:spcPct val="110000"/>
              </a:lnSpc>
              <a:spcBef>
                <a:spcPts val="0"/>
              </a:spcBef>
              <a:spcAft>
                <a:spcPts val="0"/>
              </a:spcAft>
            </a:pPr>
            <a:r>
              <a:rPr sz="3500" b="1">
                <a:solidFill>
                  <a:srgbClr val="1C69D4"/>
                </a:solidFill>
                <a:latin typeface="Inter"/>
              </a:rPr>
              <a:t>49</a:t>
            </a:r>
          </a:p>
        </p:txBody>
      </p:sp>
      <p:sp>
        <p:nvSpPr>
          <p:cNvPr id="19" name="TextBox 18"/>
          <p:cNvSpPr txBox="1"/>
          <p:nvPr/>
        </p:nvSpPr>
        <p:spPr>
          <a:xfrm>
            <a:off x="8659368" y="5422392"/>
            <a:ext cx="2807208" cy="548640"/>
          </a:xfrm>
          <a:prstGeom prst="rect">
            <a:avLst/>
          </a:prstGeom>
          <a:noFill/>
        </p:spPr>
        <p:txBody>
          <a:bodyPr wrap="square" lIns="0" rIns="0" tIns="0" bIns="0">
            <a:spAutoFit/>
          </a:bodyPr>
          <a:lstStyle/>
          <a:p>
            <a:pPr algn="l">
              <a:lnSpc>
                <a:spcPct val="110000"/>
              </a:lnSpc>
              <a:spcBef>
                <a:spcPts val="0"/>
              </a:spcBef>
              <a:spcAft>
                <a:spcPts val="0"/>
              </a:spcAft>
            </a:pPr>
            <a:r>
              <a:rPr sz="1700" b="0">
                <a:solidFill>
                  <a:srgbClr val="262626"/>
                </a:solidFill>
                <a:latin typeface="Inter"/>
              </a:rPr>
              <a:t>stored web passages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1">
  <p:cSld>
    <p:bg>
      <p:bgPr>
        <a:solidFill>
          <a:srgbClr val="FFFFFF"/>
        </a:solidFill>
        <a:effectLst/>
      </p:bgPr>
    </p:bg>
    <p:spTree>
      <p:nvGrpSpPr>
        <p:cNvPr id="1" name=""/>
        <p:cNvGrpSpPr/>
        <p:nvPr/>
      </p:nvGrpSpPr>
      <p:grpSpPr/>
      <p:sp>
        <p:nvSpPr>
          <p:cNvPr id="2" name="TextBox 1"/>
          <p:cNvSpPr txBox="1"/>
          <p:nvPr/>
        </p:nvSpPr>
        <p:spPr>
          <a:xfrm>
            <a:off x="594360" y="274320"/>
            <a:ext cx="10607040" cy="228600"/>
          </a:xfrm>
          <a:prstGeom prst="rect">
            <a:avLst/>
          </a:prstGeom>
          <a:noFill/>
        </p:spPr>
        <p:txBody>
          <a:bodyPr wrap="square" lIns="0" rIns="0" tIns="0" bIns="0">
            <a:spAutoFit/>
          </a:bodyPr>
          <a:lstStyle/>
          <a:p>
            <a:pPr algn="l">
              <a:lnSpc>
                <a:spcPct val="110000"/>
              </a:lnSpc>
              <a:spcBef>
                <a:spcPts val="0"/>
              </a:spcBef>
              <a:spcAft>
                <a:spcPts val="0"/>
              </a:spcAft>
            </a:pPr>
            <a:r>
              <a:rPr sz="1100" b="1">
                <a:solidFill>
                  <a:srgbClr val="1C69D4"/>
                </a:solidFill>
                <a:latin typeface="Inter"/>
              </a:rPr>
              <a:t>BMW PRODUCT INTELLIGENCE</a:t>
            </a:r>
          </a:p>
        </p:txBody>
      </p:sp>
      <p:sp>
        <p:nvSpPr>
          <p:cNvPr id="3" name="TextBox 2"/>
          <p:cNvSpPr txBox="1"/>
          <p:nvPr/>
        </p:nvSpPr>
        <p:spPr>
          <a:xfrm>
            <a:off x="594360" y="859536"/>
            <a:ext cx="11018520" cy="1170432"/>
          </a:xfrm>
          <a:prstGeom prst="rect">
            <a:avLst/>
          </a:prstGeom>
          <a:noFill/>
        </p:spPr>
        <p:txBody>
          <a:bodyPr wrap="square" lIns="0" rIns="0" tIns="0" bIns="0">
            <a:spAutoFit/>
          </a:bodyPr>
          <a:lstStyle/>
          <a:p>
            <a:pPr algn="l">
              <a:lnSpc>
                <a:spcPct val="110000"/>
              </a:lnSpc>
              <a:spcBef>
                <a:spcPts val="0"/>
              </a:spcBef>
              <a:spcAft>
                <a:spcPts val="0"/>
              </a:spcAft>
            </a:pPr>
            <a:r>
              <a:rPr sz="3600" b="1">
                <a:solidFill>
                  <a:srgbClr val="262626"/>
                </a:solidFill>
                <a:latin typeface="Inter"/>
              </a:rPr>
              <a:t>Ask once.</a:t>
            </a:r>
          </a:p>
          <a:p>
            <a:pPr algn="l">
              <a:lnSpc>
                <a:spcPct val="110000"/>
              </a:lnSpc>
              <a:spcBef>
                <a:spcPts val="0"/>
              </a:spcBef>
              <a:spcAft>
                <a:spcPts val="0"/>
              </a:spcAft>
            </a:pPr>
            <a:r>
              <a:rPr sz="3600" b="1">
                <a:solidFill>
                  <a:srgbClr val="262626"/>
                </a:solidFill>
                <a:latin typeface="Inter"/>
              </a:rPr>
              <a:t>The orchestrator chooses the agents.</a:t>
            </a:r>
          </a:p>
        </p:txBody>
      </p:sp>
      <p:sp>
        <p:nvSpPr>
          <p:cNvPr id="4" name="Rectangle 3"/>
          <p:cNvSpPr/>
          <p:nvPr/>
        </p:nvSpPr>
        <p:spPr>
          <a:xfrm>
            <a:off x="594360" y="6428232"/>
            <a:ext cx="11000232" cy="12700"/>
          </a:xfrm>
          <a:prstGeom prst="rect">
            <a:avLst/>
          </a:prstGeom>
          <a:solidFill>
            <a:srgbClr val="E6E6E6"/>
          </a:solidFill>
          <a:ln>
            <a:solidFill>
              <a:srgbClr val="E6E6E6"/>
            </a:solidFill>
          </a:ln>
        </p:spPr>
        <p:txBody>
          <a:bodyPr rtlCol="0" anchor="ctr" lIns="0" rIns="0" tIns="0" bIns="0"/>
          <a:lstStyle/>
          <a:p>
            <a:pPr algn="ctr">
              <a:lnSpc>
                <a:spcPct val="110000"/>
              </a:lnSpc>
              <a:spcBef>
                <a:spcPts val="0"/>
              </a:spcBef>
              <a:spcAft>
                <a:spcPts val="0"/>
              </a:spcAft>
            </a:pPr>
          </a:p>
        </p:txBody>
      </p:sp>
      <p:sp>
        <p:nvSpPr>
          <p:cNvPr id="5" name="TextBox 4"/>
          <p:cNvSpPr txBox="1"/>
          <p:nvPr/>
        </p:nvSpPr>
        <p:spPr>
          <a:xfrm>
            <a:off x="594360" y="6528816"/>
            <a:ext cx="9966960" cy="164592"/>
          </a:xfrm>
          <a:prstGeom prst="rect">
            <a:avLst/>
          </a:prstGeom>
          <a:noFill/>
        </p:spPr>
        <p:txBody>
          <a:bodyPr wrap="square" lIns="0" rIns="0" tIns="0" bIns="0">
            <a:spAutoFit/>
          </a:bodyPr>
          <a:lstStyle/>
          <a:p>
            <a:pPr algn="l">
              <a:lnSpc>
                <a:spcPct val="110000"/>
              </a:lnSpc>
              <a:spcBef>
                <a:spcPts val="0"/>
              </a:spcBef>
              <a:spcAft>
                <a:spcPts val="0"/>
              </a:spcAft>
            </a:pPr>
            <a:r>
              <a:rPr sz="900" b="0">
                <a:solidFill>
                  <a:srgbClr val="6B6B6B"/>
                </a:solidFill>
                <a:latin typeface="Inter"/>
              </a:rPr>
              <a:t>BMW hackathon prototype  |  2026-10-10  |  Pitch</a:t>
            </a:r>
          </a:p>
        </p:txBody>
      </p:sp>
      <p:sp>
        <p:nvSpPr>
          <p:cNvPr id="6" name="TextBox 5"/>
          <p:cNvSpPr txBox="1"/>
          <p:nvPr/>
        </p:nvSpPr>
        <p:spPr>
          <a:xfrm>
            <a:off x="11109960" y="6501384"/>
            <a:ext cx="484632" cy="228600"/>
          </a:xfrm>
          <a:prstGeom prst="rect">
            <a:avLst/>
          </a:prstGeom>
          <a:noFill/>
        </p:spPr>
        <p:txBody>
          <a:bodyPr wrap="square" lIns="0" rIns="0" tIns="0" bIns="0">
            <a:spAutoFit/>
          </a:bodyPr>
          <a:lstStyle/>
          <a:p>
            <a:pPr algn="r">
              <a:lnSpc>
                <a:spcPct val="110000"/>
              </a:lnSpc>
              <a:spcBef>
                <a:spcPts val="0"/>
              </a:spcBef>
              <a:spcAft>
                <a:spcPts val="0"/>
              </a:spcAft>
            </a:pPr>
            <a:r>
              <a:rPr sz="1000" b="0">
                <a:solidFill>
                  <a:srgbClr val="6B6B6B"/>
                </a:solidFill>
                <a:latin typeface="Inter"/>
              </a:rPr>
              <a:t>03</a:t>
            </a:r>
          </a:p>
        </p:txBody>
      </p:sp>
      <p:sp>
        <p:nvSpPr>
          <p:cNvPr id="7" name="Rectangle 6"/>
          <p:cNvSpPr/>
          <p:nvPr/>
        </p:nvSpPr>
        <p:spPr>
          <a:xfrm>
            <a:off x="594360" y="2157984"/>
            <a:ext cx="11000232" cy="758952"/>
          </a:xfrm>
          <a:prstGeom prst="rect">
            <a:avLst/>
          </a:prstGeom>
          <a:solidFill>
            <a:srgbClr val="F6F7F9"/>
          </a:solidFill>
          <a:ln>
            <a:solidFill>
              <a:srgbClr val="F6F7F9"/>
            </a:solidFill>
          </a:ln>
        </p:spPr>
        <p:txBody>
          <a:bodyPr rtlCol="0" anchor="ctr" lIns="0" rIns="0" tIns="0" bIns="0"/>
          <a:lstStyle/>
          <a:p>
            <a:pPr algn="ctr">
              <a:lnSpc>
                <a:spcPct val="110000"/>
              </a:lnSpc>
              <a:spcBef>
                <a:spcPts val="0"/>
              </a:spcBef>
              <a:spcAft>
                <a:spcPts val="0"/>
              </a:spcAft>
            </a:pPr>
          </a:p>
        </p:txBody>
      </p:sp>
      <p:sp>
        <p:nvSpPr>
          <p:cNvPr id="8" name="TextBox 7"/>
          <p:cNvSpPr txBox="1"/>
          <p:nvPr/>
        </p:nvSpPr>
        <p:spPr>
          <a:xfrm>
            <a:off x="813816" y="2377440"/>
            <a:ext cx="10469880" cy="320040"/>
          </a:xfrm>
          <a:prstGeom prst="rect">
            <a:avLst/>
          </a:prstGeom>
          <a:noFill/>
        </p:spPr>
        <p:txBody>
          <a:bodyPr wrap="square" lIns="0" rIns="0" tIns="0" bIns="0">
            <a:spAutoFit/>
          </a:bodyPr>
          <a:lstStyle/>
          <a:p>
            <a:pPr algn="l">
              <a:lnSpc>
                <a:spcPct val="110000"/>
              </a:lnSpc>
              <a:spcBef>
                <a:spcPts val="0"/>
              </a:spcBef>
              <a:spcAft>
                <a:spcPts val="0"/>
              </a:spcAft>
            </a:pPr>
            <a:r>
              <a:rPr sz="2100" b="0">
                <a:solidFill>
                  <a:srgbClr val="262626"/>
                </a:solidFill>
                <a:latin typeface="Inter"/>
              </a:rPr>
              <a:t>Example question: What do US G60 owners dislike about comfort?</a:t>
            </a:r>
          </a:p>
        </p:txBody>
      </p:sp>
      <p:sp>
        <p:nvSpPr>
          <p:cNvPr id="9" name="TextBox 8"/>
          <p:cNvSpPr txBox="1"/>
          <p:nvPr/>
        </p:nvSpPr>
        <p:spPr>
          <a:xfrm>
            <a:off x="640080" y="3410712"/>
            <a:ext cx="2331720" cy="484632"/>
          </a:xfrm>
          <a:prstGeom prst="rect">
            <a:avLst/>
          </a:prstGeom>
          <a:noFill/>
        </p:spPr>
        <p:txBody>
          <a:bodyPr wrap="square" lIns="0" rIns="0" tIns="0" bIns="0">
            <a:spAutoFit/>
          </a:bodyPr>
          <a:lstStyle/>
          <a:p>
            <a:pPr algn="l">
              <a:lnSpc>
                <a:spcPct val="110000"/>
              </a:lnSpc>
              <a:spcBef>
                <a:spcPts val="0"/>
              </a:spcBef>
              <a:spcAft>
                <a:spcPts val="0"/>
              </a:spcAft>
            </a:pPr>
            <a:r>
              <a:rPr sz="2300" b="1">
                <a:solidFill>
                  <a:srgbClr val="1C69D4"/>
                </a:solidFill>
                <a:latin typeface="Inter"/>
              </a:rPr>
              <a:t>01</a:t>
            </a:r>
          </a:p>
        </p:txBody>
      </p:sp>
      <p:sp>
        <p:nvSpPr>
          <p:cNvPr id="10" name="TextBox 9"/>
          <p:cNvSpPr txBox="1"/>
          <p:nvPr/>
        </p:nvSpPr>
        <p:spPr>
          <a:xfrm>
            <a:off x="640080" y="3977639"/>
            <a:ext cx="2395728" cy="466344"/>
          </a:xfrm>
          <a:prstGeom prst="rect">
            <a:avLst/>
          </a:prstGeom>
          <a:noFill/>
        </p:spPr>
        <p:txBody>
          <a:bodyPr wrap="square" lIns="0" rIns="0" tIns="0" bIns="0">
            <a:spAutoFit/>
          </a:bodyPr>
          <a:lstStyle/>
          <a:p>
            <a:pPr algn="l">
              <a:lnSpc>
                <a:spcPct val="110000"/>
              </a:lnSpc>
              <a:spcBef>
                <a:spcPts val="0"/>
              </a:spcBef>
              <a:spcAft>
                <a:spcPts val="0"/>
              </a:spcAft>
            </a:pPr>
            <a:r>
              <a:rPr sz="2800" b="1">
                <a:solidFill>
                  <a:srgbClr val="262626"/>
                </a:solidFill>
                <a:latin typeface="Inter"/>
              </a:rPr>
              <a:t>Ask</a:t>
            </a:r>
          </a:p>
        </p:txBody>
      </p:sp>
      <p:sp>
        <p:nvSpPr>
          <p:cNvPr id="11" name="TextBox 10"/>
          <p:cNvSpPr txBox="1"/>
          <p:nvPr/>
        </p:nvSpPr>
        <p:spPr>
          <a:xfrm>
            <a:off x="640080" y="4608576"/>
            <a:ext cx="2432304" cy="841248"/>
          </a:xfrm>
          <a:prstGeom prst="rect">
            <a:avLst/>
          </a:prstGeom>
          <a:noFill/>
        </p:spPr>
        <p:txBody>
          <a:bodyPr wrap="square" lIns="0" rIns="0" tIns="0" bIns="0">
            <a:spAutoFit/>
          </a:bodyPr>
          <a:lstStyle/>
          <a:p>
            <a:pPr algn="l">
              <a:lnSpc>
                <a:spcPct val="110000"/>
              </a:lnSpc>
              <a:spcBef>
                <a:spcPts val="0"/>
              </a:spcBef>
              <a:spcAft>
                <a:spcPts val="0"/>
              </a:spcAft>
            </a:pPr>
            <a:r>
              <a:rPr sz="1800" b="0">
                <a:solidFill>
                  <a:srgbClr val="262626"/>
                </a:solidFill>
                <a:latin typeface="Inter"/>
              </a:rPr>
              <a:t>Vehicle, market</a:t>
            </a:r>
          </a:p>
          <a:p>
            <a:pPr algn="l">
              <a:lnSpc>
                <a:spcPct val="110000"/>
              </a:lnSpc>
              <a:spcBef>
                <a:spcPts val="0"/>
              </a:spcBef>
              <a:spcAft>
                <a:spcPts val="0"/>
              </a:spcAft>
            </a:pPr>
            <a:r>
              <a:rPr sz="1800" b="0">
                <a:solidFill>
                  <a:srgbClr val="262626"/>
                </a:solidFill>
                <a:latin typeface="Inter"/>
              </a:rPr>
              <a:t>and research question</a:t>
            </a:r>
          </a:p>
        </p:txBody>
      </p:sp>
      <p:sp>
        <p:nvSpPr>
          <p:cNvPr id="12" name="Rectangle 11"/>
          <p:cNvSpPr/>
          <p:nvPr/>
        </p:nvSpPr>
        <p:spPr>
          <a:xfrm>
            <a:off x="3035808" y="4206240"/>
            <a:ext cx="274319" cy="25400"/>
          </a:xfrm>
          <a:prstGeom prst="rect">
            <a:avLst/>
          </a:prstGeom>
          <a:solidFill>
            <a:srgbClr val="1C69D4"/>
          </a:solidFill>
          <a:ln>
            <a:solidFill>
              <a:srgbClr val="1C69D4"/>
            </a:solidFill>
          </a:ln>
        </p:spPr>
        <p:txBody>
          <a:bodyPr rtlCol="0" anchor="ctr" lIns="0" rIns="0" tIns="0" bIns="0"/>
          <a:lstStyle/>
          <a:p>
            <a:pPr algn="ctr">
              <a:lnSpc>
                <a:spcPct val="110000"/>
              </a:lnSpc>
              <a:spcBef>
                <a:spcPts val="0"/>
              </a:spcBef>
              <a:spcAft>
                <a:spcPts val="0"/>
              </a:spcAft>
            </a:pPr>
          </a:p>
        </p:txBody>
      </p:sp>
      <p:sp>
        <p:nvSpPr>
          <p:cNvPr id="13" name="TextBox 12"/>
          <p:cNvSpPr txBox="1"/>
          <p:nvPr/>
        </p:nvSpPr>
        <p:spPr>
          <a:xfrm>
            <a:off x="3493008" y="3410712"/>
            <a:ext cx="2331720" cy="484632"/>
          </a:xfrm>
          <a:prstGeom prst="rect">
            <a:avLst/>
          </a:prstGeom>
          <a:noFill/>
        </p:spPr>
        <p:txBody>
          <a:bodyPr wrap="square" lIns="0" rIns="0" tIns="0" bIns="0">
            <a:spAutoFit/>
          </a:bodyPr>
          <a:lstStyle/>
          <a:p>
            <a:pPr algn="l">
              <a:lnSpc>
                <a:spcPct val="110000"/>
              </a:lnSpc>
              <a:spcBef>
                <a:spcPts val="0"/>
              </a:spcBef>
              <a:spcAft>
                <a:spcPts val="0"/>
              </a:spcAft>
            </a:pPr>
            <a:r>
              <a:rPr sz="2300" b="1">
                <a:solidFill>
                  <a:srgbClr val="1C69D4"/>
                </a:solidFill>
                <a:latin typeface="Inter"/>
              </a:rPr>
              <a:t>02</a:t>
            </a:r>
          </a:p>
        </p:txBody>
      </p:sp>
      <p:sp>
        <p:nvSpPr>
          <p:cNvPr id="14" name="TextBox 13"/>
          <p:cNvSpPr txBox="1"/>
          <p:nvPr/>
        </p:nvSpPr>
        <p:spPr>
          <a:xfrm>
            <a:off x="3493008" y="3977639"/>
            <a:ext cx="2395728" cy="466344"/>
          </a:xfrm>
          <a:prstGeom prst="rect">
            <a:avLst/>
          </a:prstGeom>
          <a:noFill/>
        </p:spPr>
        <p:txBody>
          <a:bodyPr wrap="square" lIns="0" rIns="0" tIns="0" bIns="0">
            <a:spAutoFit/>
          </a:bodyPr>
          <a:lstStyle/>
          <a:p>
            <a:pPr algn="l">
              <a:lnSpc>
                <a:spcPct val="110000"/>
              </a:lnSpc>
              <a:spcBef>
                <a:spcPts val="0"/>
              </a:spcBef>
              <a:spcAft>
                <a:spcPts val="0"/>
              </a:spcAft>
            </a:pPr>
            <a:r>
              <a:rPr sz="2800" b="1">
                <a:solidFill>
                  <a:srgbClr val="262626"/>
                </a:solidFill>
                <a:latin typeface="Inter"/>
              </a:rPr>
              <a:t>Decide</a:t>
            </a:r>
          </a:p>
        </p:txBody>
      </p:sp>
      <p:sp>
        <p:nvSpPr>
          <p:cNvPr id="15" name="TextBox 14"/>
          <p:cNvSpPr txBox="1"/>
          <p:nvPr/>
        </p:nvSpPr>
        <p:spPr>
          <a:xfrm>
            <a:off x="3493008" y="4608576"/>
            <a:ext cx="2432304" cy="841248"/>
          </a:xfrm>
          <a:prstGeom prst="rect">
            <a:avLst/>
          </a:prstGeom>
          <a:noFill/>
        </p:spPr>
        <p:txBody>
          <a:bodyPr wrap="square" lIns="0" rIns="0" tIns="0" bIns="0">
            <a:spAutoFit/>
          </a:bodyPr>
          <a:lstStyle/>
          <a:p>
            <a:pPr algn="l">
              <a:lnSpc>
                <a:spcPct val="110000"/>
              </a:lnSpc>
              <a:spcBef>
                <a:spcPts val="0"/>
              </a:spcBef>
              <a:spcAft>
                <a:spcPts val="0"/>
              </a:spcAft>
            </a:pPr>
            <a:r>
              <a:rPr sz="1800" b="0">
                <a:solidFill>
                  <a:srgbClr val="262626"/>
                </a:solidFill>
                <a:latin typeface="Inter"/>
              </a:rPr>
              <a:t>Choose one agent;</a:t>
            </a:r>
          </a:p>
          <a:p>
            <a:pPr algn="l">
              <a:lnSpc>
                <a:spcPct val="110000"/>
              </a:lnSpc>
              <a:spcBef>
                <a:spcPts val="0"/>
              </a:spcBef>
              <a:spcAft>
                <a:spcPts val="0"/>
              </a:spcAft>
            </a:pPr>
            <a:r>
              <a:rPr sz="1800" b="0">
                <a:solidFill>
                  <a:srgbClr val="262626"/>
                </a:solidFill>
                <a:latin typeface="Inter"/>
              </a:rPr>
              <a:t>validate prerequisites</a:t>
            </a:r>
          </a:p>
        </p:txBody>
      </p:sp>
      <p:sp>
        <p:nvSpPr>
          <p:cNvPr id="16" name="Rectangle 15"/>
          <p:cNvSpPr/>
          <p:nvPr/>
        </p:nvSpPr>
        <p:spPr>
          <a:xfrm>
            <a:off x="5888736" y="4206240"/>
            <a:ext cx="274319" cy="25400"/>
          </a:xfrm>
          <a:prstGeom prst="rect">
            <a:avLst/>
          </a:prstGeom>
          <a:solidFill>
            <a:srgbClr val="1C69D4"/>
          </a:solidFill>
          <a:ln>
            <a:solidFill>
              <a:srgbClr val="1C69D4"/>
            </a:solidFill>
          </a:ln>
        </p:spPr>
        <p:txBody>
          <a:bodyPr rtlCol="0" anchor="ctr" lIns="0" rIns="0" tIns="0" bIns="0"/>
          <a:lstStyle/>
          <a:p>
            <a:pPr algn="ctr">
              <a:lnSpc>
                <a:spcPct val="110000"/>
              </a:lnSpc>
              <a:spcBef>
                <a:spcPts val="0"/>
              </a:spcBef>
              <a:spcAft>
                <a:spcPts val="0"/>
              </a:spcAft>
            </a:pPr>
          </a:p>
        </p:txBody>
      </p:sp>
      <p:sp>
        <p:nvSpPr>
          <p:cNvPr id="17" name="TextBox 16"/>
          <p:cNvSpPr txBox="1"/>
          <p:nvPr/>
        </p:nvSpPr>
        <p:spPr>
          <a:xfrm>
            <a:off x="6345936" y="3410712"/>
            <a:ext cx="2331720" cy="484632"/>
          </a:xfrm>
          <a:prstGeom prst="rect">
            <a:avLst/>
          </a:prstGeom>
          <a:noFill/>
        </p:spPr>
        <p:txBody>
          <a:bodyPr wrap="square" lIns="0" rIns="0" tIns="0" bIns="0">
            <a:spAutoFit/>
          </a:bodyPr>
          <a:lstStyle/>
          <a:p>
            <a:pPr algn="l">
              <a:lnSpc>
                <a:spcPct val="110000"/>
              </a:lnSpc>
              <a:spcBef>
                <a:spcPts val="0"/>
              </a:spcBef>
              <a:spcAft>
                <a:spcPts val="0"/>
              </a:spcAft>
            </a:pPr>
            <a:r>
              <a:rPr sz="2300" b="1">
                <a:solidFill>
                  <a:srgbClr val="1C69D4"/>
                </a:solidFill>
                <a:latin typeface="Inter"/>
              </a:rPr>
              <a:t>03</a:t>
            </a:r>
          </a:p>
        </p:txBody>
      </p:sp>
      <p:sp>
        <p:nvSpPr>
          <p:cNvPr id="18" name="TextBox 17"/>
          <p:cNvSpPr txBox="1"/>
          <p:nvPr/>
        </p:nvSpPr>
        <p:spPr>
          <a:xfrm>
            <a:off x="6345936" y="3977639"/>
            <a:ext cx="2395728" cy="466344"/>
          </a:xfrm>
          <a:prstGeom prst="rect">
            <a:avLst/>
          </a:prstGeom>
          <a:noFill/>
        </p:spPr>
        <p:txBody>
          <a:bodyPr wrap="square" lIns="0" rIns="0" tIns="0" bIns="0">
            <a:spAutoFit/>
          </a:bodyPr>
          <a:lstStyle/>
          <a:p>
            <a:pPr algn="l">
              <a:lnSpc>
                <a:spcPct val="110000"/>
              </a:lnSpc>
              <a:spcBef>
                <a:spcPts val="0"/>
              </a:spcBef>
              <a:spcAft>
                <a:spcPts val="0"/>
              </a:spcAft>
            </a:pPr>
            <a:r>
              <a:rPr sz="2800" b="1">
                <a:solidFill>
                  <a:srgbClr val="262626"/>
                </a:solidFill>
                <a:latin typeface="Inter"/>
              </a:rPr>
              <a:t>Check</a:t>
            </a:r>
          </a:p>
        </p:txBody>
      </p:sp>
      <p:sp>
        <p:nvSpPr>
          <p:cNvPr id="19" name="TextBox 18"/>
          <p:cNvSpPr txBox="1"/>
          <p:nvPr/>
        </p:nvSpPr>
        <p:spPr>
          <a:xfrm>
            <a:off x="6345936" y="4608576"/>
            <a:ext cx="2432304" cy="841248"/>
          </a:xfrm>
          <a:prstGeom prst="rect">
            <a:avLst/>
          </a:prstGeom>
          <a:noFill/>
        </p:spPr>
        <p:txBody>
          <a:bodyPr wrap="square" lIns="0" rIns="0" tIns="0" bIns="0">
            <a:spAutoFit/>
          </a:bodyPr>
          <a:lstStyle/>
          <a:p>
            <a:pPr algn="l">
              <a:lnSpc>
                <a:spcPct val="110000"/>
              </a:lnSpc>
              <a:spcBef>
                <a:spcPts val="0"/>
              </a:spcBef>
              <a:spcAft>
                <a:spcPts val="0"/>
              </a:spcAft>
            </a:pPr>
            <a:r>
              <a:rPr sz="1800" b="0">
                <a:solidFill>
                  <a:srgbClr val="262626"/>
                </a:solidFill>
                <a:latin typeface="Inter"/>
              </a:rPr>
              <a:t>Run the agent;</a:t>
            </a:r>
          </a:p>
          <a:p>
            <a:pPr algn="l">
              <a:lnSpc>
                <a:spcPct val="110000"/>
              </a:lnSpc>
              <a:spcBef>
                <a:spcPts val="0"/>
              </a:spcBef>
              <a:spcAft>
                <a:spcPts val="0"/>
              </a:spcAft>
            </a:pPr>
            <a:r>
              <a:rPr sz="1800" b="0">
                <a:solidFill>
                  <a:srgbClr val="262626"/>
                </a:solidFill>
                <a:latin typeface="Inter"/>
              </a:rPr>
              <a:t>verify its citations</a:t>
            </a:r>
          </a:p>
        </p:txBody>
      </p:sp>
      <p:sp>
        <p:nvSpPr>
          <p:cNvPr id="20" name="Rectangle 19"/>
          <p:cNvSpPr/>
          <p:nvPr/>
        </p:nvSpPr>
        <p:spPr>
          <a:xfrm>
            <a:off x="8741664" y="4206240"/>
            <a:ext cx="274319" cy="25400"/>
          </a:xfrm>
          <a:prstGeom prst="rect">
            <a:avLst/>
          </a:prstGeom>
          <a:solidFill>
            <a:srgbClr val="1C69D4"/>
          </a:solidFill>
          <a:ln>
            <a:solidFill>
              <a:srgbClr val="1C69D4"/>
            </a:solidFill>
          </a:ln>
        </p:spPr>
        <p:txBody>
          <a:bodyPr rtlCol="0" anchor="ctr" lIns="0" rIns="0" tIns="0" bIns="0"/>
          <a:lstStyle/>
          <a:p>
            <a:pPr algn="ctr">
              <a:lnSpc>
                <a:spcPct val="110000"/>
              </a:lnSpc>
              <a:spcBef>
                <a:spcPts val="0"/>
              </a:spcBef>
              <a:spcAft>
                <a:spcPts val="0"/>
              </a:spcAft>
            </a:pPr>
          </a:p>
        </p:txBody>
      </p:sp>
      <p:sp>
        <p:nvSpPr>
          <p:cNvPr id="21" name="TextBox 20"/>
          <p:cNvSpPr txBox="1"/>
          <p:nvPr/>
        </p:nvSpPr>
        <p:spPr>
          <a:xfrm>
            <a:off x="9198863" y="3410712"/>
            <a:ext cx="2331720" cy="484632"/>
          </a:xfrm>
          <a:prstGeom prst="rect">
            <a:avLst/>
          </a:prstGeom>
          <a:noFill/>
        </p:spPr>
        <p:txBody>
          <a:bodyPr wrap="square" lIns="0" rIns="0" tIns="0" bIns="0">
            <a:spAutoFit/>
          </a:bodyPr>
          <a:lstStyle/>
          <a:p>
            <a:pPr algn="l">
              <a:lnSpc>
                <a:spcPct val="110000"/>
              </a:lnSpc>
              <a:spcBef>
                <a:spcPts val="0"/>
              </a:spcBef>
              <a:spcAft>
                <a:spcPts val="0"/>
              </a:spcAft>
            </a:pPr>
            <a:r>
              <a:rPr sz="2300" b="1">
                <a:solidFill>
                  <a:srgbClr val="1C69D4"/>
                </a:solidFill>
                <a:latin typeface="Inter"/>
              </a:rPr>
              <a:t>04</a:t>
            </a:r>
          </a:p>
        </p:txBody>
      </p:sp>
      <p:sp>
        <p:nvSpPr>
          <p:cNvPr id="22" name="TextBox 21"/>
          <p:cNvSpPr txBox="1"/>
          <p:nvPr/>
        </p:nvSpPr>
        <p:spPr>
          <a:xfrm>
            <a:off x="9198863" y="3977639"/>
            <a:ext cx="2395728" cy="466344"/>
          </a:xfrm>
          <a:prstGeom prst="rect">
            <a:avLst/>
          </a:prstGeom>
          <a:noFill/>
        </p:spPr>
        <p:txBody>
          <a:bodyPr wrap="square" lIns="0" rIns="0" tIns="0" bIns="0">
            <a:spAutoFit/>
          </a:bodyPr>
          <a:lstStyle/>
          <a:p>
            <a:pPr algn="l">
              <a:lnSpc>
                <a:spcPct val="110000"/>
              </a:lnSpc>
              <a:spcBef>
                <a:spcPts val="0"/>
              </a:spcBef>
              <a:spcAft>
                <a:spcPts val="0"/>
              </a:spcAft>
            </a:pPr>
            <a:r>
              <a:rPr sz="2800" b="1">
                <a:solidFill>
                  <a:srgbClr val="262626"/>
                </a:solidFill>
                <a:latin typeface="Inter"/>
              </a:rPr>
              <a:t>Answer</a:t>
            </a:r>
          </a:p>
        </p:txBody>
      </p:sp>
      <p:sp>
        <p:nvSpPr>
          <p:cNvPr id="23" name="TextBox 22"/>
          <p:cNvSpPr txBox="1"/>
          <p:nvPr/>
        </p:nvSpPr>
        <p:spPr>
          <a:xfrm>
            <a:off x="9198863" y="4608576"/>
            <a:ext cx="2432304" cy="841248"/>
          </a:xfrm>
          <a:prstGeom prst="rect">
            <a:avLst/>
          </a:prstGeom>
          <a:noFill/>
        </p:spPr>
        <p:txBody>
          <a:bodyPr wrap="square" lIns="0" rIns="0" tIns="0" bIns="0">
            <a:spAutoFit/>
          </a:bodyPr>
          <a:lstStyle/>
          <a:p>
            <a:pPr algn="l">
              <a:lnSpc>
                <a:spcPct val="110000"/>
              </a:lnSpc>
              <a:spcBef>
                <a:spcPts val="0"/>
              </a:spcBef>
              <a:spcAft>
                <a:spcPts val="0"/>
              </a:spcAft>
            </a:pPr>
            <a:r>
              <a:rPr sz="1800" b="0">
                <a:solidFill>
                  <a:srgbClr val="262626"/>
                </a:solidFill>
                <a:latin typeface="Inter"/>
              </a:rPr>
              <a:t>Cited results</a:t>
            </a:r>
          </a:p>
          <a:p>
            <a:pPr algn="l">
              <a:lnSpc>
                <a:spcPct val="110000"/>
              </a:lnSpc>
              <a:spcBef>
                <a:spcPts val="0"/>
              </a:spcBef>
              <a:spcAft>
                <a:spcPts val="0"/>
              </a:spcAft>
            </a:pPr>
            <a:r>
              <a:rPr sz="1800" b="0">
                <a:solidFill>
                  <a:srgbClr val="262626"/>
                </a:solidFill>
                <a:latin typeface="Inter"/>
              </a:rPr>
              <a:t>and visible reasoning</a:t>
            </a:r>
          </a:p>
        </p:txBody>
      </p:sp>
      <p:sp>
        <p:nvSpPr>
          <p:cNvPr id="24" name="TextBox 23"/>
          <p:cNvSpPr txBox="1"/>
          <p:nvPr/>
        </p:nvSpPr>
        <p:spPr>
          <a:xfrm>
            <a:off x="640080" y="5852160"/>
            <a:ext cx="10908792" cy="292608"/>
          </a:xfrm>
          <a:prstGeom prst="rect">
            <a:avLst/>
          </a:prstGeom>
          <a:noFill/>
        </p:spPr>
        <p:txBody>
          <a:bodyPr wrap="square" lIns="0" rIns="0" tIns="0" bIns="0">
            <a:spAutoFit/>
          </a:bodyPr>
          <a:lstStyle/>
          <a:p>
            <a:pPr algn="l">
              <a:lnSpc>
                <a:spcPct val="110000"/>
              </a:lnSpc>
              <a:spcBef>
                <a:spcPts val="0"/>
              </a:spcBef>
              <a:spcAft>
                <a:spcPts val="0"/>
              </a:spcAft>
            </a:pPr>
            <a:r>
              <a:rPr sz="1800" b="0">
                <a:solidFill>
                  <a:srgbClr val="6B6B6B"/>
                </a:solidFill>
                <a:latin typeface="Inter"/>
              </a:rPr>
              <a:t>The loop reacts to results. No manual approval of agent steps.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1">
  <p:cSld>
    <p:bg>
      <p:bgPr>
        <a:solidFill>
          <a:srgbClr val="FFFFFF"/>
        </a:solidFill>
        <a:effectLst/>
      </p:bgPr>
    </p:bg>
    <p:spTree>
      <p:nvGrpSpPr>
        <p:cNvPr id="1" name=""/>
        <p:cNvGrpSpPr/>
        <p:nvPr/>
      </p:nvGrpSpPr>
      <p:grpSpPr/>
      <p:sp>
        <p:nvSpPr>
          <p:cNvPr id="2" name="TextBox 1"/>
          <p:cNvSpPr txBox="1"/>
          <p:nvPr/>
        </p:nvSpPr>
        <p:spPr>
          <a:xfrm>
            <a:off x="594360" y="274320"/>
            <a:ext cx="10607040" cy="228600"/>
          </a:xfrm>
          <a:prstGeom prst="rect">
            <a:avLst/>
          </a:prstGeom>
          <a:noFill/>
        </p:spPr>
        <p:txBody>
          <a:bodyPr wrap="square" lIns="0" rIns="0" tIns="0" bIns="0">
            <a:spAutoFit/>
          </a:bodyPr>
          <a:lstStyle/>
          <a:p>
            <a:pPr algn="l">
              <a:lnSpc>
                <a:spcPct val="110000"/>
              </a:lnSpc>
              <a:spcBef>
                <a:spcPts val="0"/>
              </a:spcBef>
              <a:spcAft>
                <a:spcPts val="0"/>
              </a:spcAft>
            </a:pPr>
            <a:r>
              <a:rPr sz="1100" b="1">
                <a:solidFill>
                  <a:srgbClr val="1C69D4"/>
                </a:solidFill>
                <a:latin typeface="Inter"/>
              </a:rPr>
              <a:t>BMW PRODUCT INTELLIGENCE</a:t>
            </a:r>
          </a:p>
        </p:txBody>
      </p:sp>
      <p:sp>
        <p:nvSpPr>
          <p:cNvPr id="3" name="TextBox 2"/>
          <p:cNvSpPr txBox="1"/>
          <p:nvPr/>
        </p:nvSpPr>
        <p:spPr>
          <a:xfrm>
            <a:off x="594360" y="859536"/>
            <a:ext cx="11018520" cy="1170432"/>
          </a:xfrm>
          <a:prstGeom prst="rect">
            <a:avLst/>
          </a:prstGeom>
          <a:noFill/>
        </p:spPr>
        <p:txBody>
          <a:bodyPr wrap="square" lIns="0" rIns="0" tIns="0" bIns="0">
            <a:spAutoFit/>
          </a:bodyPr>
          <a:lstStyle/>
          <a:p>
            <a:pPr algn="l">
              <a:lnSpc>
                <a:spcPct val="110000"/>
              </a:lnSpc>
              <a:spcBef>
                <a:spcPts val="0"/>
              </a:spcBef>
              <a:spcAft>
                <a:spcPts val="0"/>
              </a:spcAft>
            </a:pPr>
            <a:r>
              <a:rPr sz="3600" b="1">
                <a:solidFill>
                  <a:srgbClr val="262626"/>
                </a:solidFill>
                <a:latin typeface="Inter"/>
              </a:rPr>
              <a:t>The app is deployed.</a:t>
            </a:r>
          </a:p>
          <a:p>
            <a:pPr algn="l">
              <a:lnSpc>
                <a:spcPct val="110000"/>
              </a:lnSpc>
              <a:spcBef>
                <a:spcPts val="0"/>
              </a:spcBef>
              <a:spcAft>
                <a:spcPts val="0"/>
              </a:spcAft>
            </a:pPr>
            <a:r>
              <a:rPr sz="3600" b="1">
                <a:solidFill>
                  <a:srgbClr val="262626"/>
                </a:solidFill>
                <a:latin typeface="Inter"/>
              </a:rPr>
              <a:t>Its frontend and backend are connected.</a:t>
            </a:r>
          </a:p>
        </p:txBody>
      </p:sp>
      <p:sp>
        <p:nvSpPr>
          <p:cNvPr id="4" name="Rectangle 3"/>
          <p:cNvSpPr/>
          <p:nvPr/>
        </p:nvSpPr>
        <p:spPr>
          <a:xfrm>
            <a:off x="594360" y="6428232"/>
            <a:ext cx="11000232" cy="12700"/>
          </a:xfrm>
          <a:prstGeom prst="rect">
            <a:avLst/>
          </a:prstGeom>
          <a:solidFill>
            <a:srgbClr val="E6E6E6"/>
          </a:solidFill>
          <a:ln>
            <a:solidFill>
              <a:srgbClr val="E6E6E6"/>
            </a:solidFill>
          </a:ln>
        </p:spPr>
        <p:txBody>
          <a:bodyPr rtlCol="0" anchor="ctr" lIns="0" rIns="0" tIns="0" bIns="0"/>
          <a:lstStyle/>
          <a:p>
            <a:pPr algn="ctr">
              <a:lnSpc>
                <a:spcPct val="110000"/>
              </a:lnSpc>
              <a:spcBef>
                <a:spcPts val="0"/>
              </a:spcBef>
              <a:spcAft>
                <a:spcPts val="0"/>
              </a:spcAft>
            </a:pPr>
          </a:p>
        </p:txBody>
      </p:sp>
      <p:sp>
        <p:nvSpPr>
          <p:cNvPr id="5" name="TextBox 4"/>
          <p:cNvSpPr txBox="1"/>
          <p:nvPr/>
        </p:nvSpPr>
        <p:spPr>
          <a:xfrm>
            <a:off x="594360" y="6528816"/>
            <a:ext cx="9966960" cy="164592"/>
          </a:xfrm>
          <a:prstGeom prst="rect">
            <a:avLst/>
          </a:prstGeom>
          <a:noFill/>
        </p:spPr>
        <p:txBody>
          <a:bodyPr wrap="square" lIns="0" rIns="0" tIns="0" bIns="0">
            <a:spAutoFit/>
          </a:bodyPr>
          <a:lstStyle/>
          <a:p>
            <a:pPr algn="l">
              <a:lnSpc>
                <a:spcPct val="110000"/>
              </a:lnSpc>
              <a:spcBef>
                <a:spcPts val="0"/>
              </a:spcBef>
              <a:spcAft>
                <a:spcPts val="0"/>
              </a:spcAft>
            </a:pPr>
            <a:r>
              <a:rPr sz="900" b="0">
                <a:solidFill>
                  <a:srgbClr val="6B6B6B"/>
                </a:solidFill>
                <a:latin typeface="Inter"/>
              </a:rPr>
              <a:t>BMW hackathon prototype  |  2026-10-10  |  Pitch</a:t>
            </a:r>
          </a:p>
        </p:txBody>
      </p:sp>
      <p:sp>
        <p:nvSpPr>
          <p:cNvPr id="6" name="TextBox 5"/>
          <p:cNvSpPr txBox="1"/>
          <p:nvPr/>
        </p:nvSpPr>
        <p:spPr>
          <a:xfrm>
            <a:off x="11109960" y="6501384"/>
            <a:ext cx="484632" cy="228600"/>
          </a:xfrm>
          <a:prstGeom prst="rect">
            <a:avLst/>
          </a:prstGeom>
          <a:noFill/>
        </p:spPr>
        <p:txBody>
          <a:bodyPr wrap="square" lIns="0" rIns="0" tIns="0" bIns="0">
            <a:spAutoFit/>
          </a:bodyPr>
          <a:lstStyle/>
          <a:p>
            <a:pPr algn="r">
              <a:lnSpc>
                <a:spcPct val="110000"/>
              </a:lnSpc>
              <a:spcBef>
                <a:spcPts val="0"/>
              </a:spcBef>
              <a:spcAft>
                <a:spcPts val="0"/>
              </a:spcAft>
            </a:pPr>
            <a:r>
              <a:rPr sz="1000" b="0">
                <a:solidFill>
                  <a:srgbClr val="6B6B6B"/>
                </a:solidFill>
                <a:latin typeface="Inter"/>
              </a:rPr>
              <a:t>04</a:t>
            </a:r>
          </a:p>
        </p:txBody>
      </p:sp>
      <p:pic>
        <p:nvPicPr>
          <p:cNvPr id="7" name="Picture 6" descr="vercel-signin-crop.png"/>
          <p:cNvPicPr>
            <a:picLocks noChangeAspect="1"/>
          </p:cNvPicPr>
          <p:nvPr/>
        </p:nvPicPr>
        <p:blipFill>
          <a:blip r:embed="rId2"/>
          <a:stretch>
            <a:fillRect/>
          </a:stretch>
        </p:blipFill>
        <p:spPr>
          <a:xfrm>
            <a:off x="640080" y="2176272"/>
            <a:ext cx="3886200" cy="3941063"/>
          </a:xfrm>
          <a:prstGeom prst="rect">
            <a:avLst/>
          </a:prstGeom>
        </p:spPr>
      </p:pic>
      <p:sp>
        <p:nvSpPr>
          <p:cNvPr id="8" name="TextBox 7"/>
          <p:cNvSpPr txBox="1"/>
          <p:nvPr/>
        </p:nvSpPr>
        <p:spPr>
          <a:xfrm>
            <a:off x="649224" y="6108192"/>
            <a:ext cx="4572000" cy="192024"/>
          </a:xfrm>
          <a:prstGeom prst="rect">
            <a:avLst/>
          </a:prstGeom>
          <a:noFill/>
        </p:spPr>
        <p:txBody>
          <a:bodyPr wrap="square" lIns="0" rIns="0" tIns="0" bIns="0">
            <a:spAutoFit/>
          </a:bodyPr>
          <a:lstStyle/>
          <a:p>
            <a:pPr algn="l">
              <a:lnSpc>
                <a:spcPct val="110000"/>
              </a:lnSpc>
              <a:spcBef>
                <a:spcPts val="0"/>
              </a:spcBef>
              <a:spcAft>
                <a:spcPts val="0"/>
              </a:spcAft>
            </a:pPr>
            <a:r>
              <a:rPr sz="1000" b="0">
                <a:solidFill>
                  <a:srgbClr val="6B6B6B"/>
                </a:solidFill>
                <a:latin typeface="Inter"/>
              </a:rPr>
              <a:t>Actual Vercel screen, captured 21:01 UTC</a:t>
            </a:r>
          </a:p>
        </p:txBody>
      </p:sp>
      <p:sp>
        <p:nvSpPr>
          <p:cNvPr id="9" name="TextBox 8"/>
          <p:cNvSpPr txBox="1"/>
          <p:nvPr/>
        </p:nvSpPr>
        <p:spPr>
          <a:xfrm>
            <a:off x="5120640" y="2377440"/>
            <a:ext cx="6382512" cy="429768"/>
          </a:xfrm>
          <a:prstGeom prst="rect">
            <a:avLst/>
          </a:prstGeom>
          <a:noFill/>
        </p:spPr>
        <p:txBody>
          <a:bodyPr wrap="square" lIns="0" rIns="0" tIns="0" bIns="0">
            <a:spAutoFit/>
          </a:bodyPr>
          <a:lstStyle/>
          <a:p>
            <a:pPr algn="l">
              <a:lnSpc>
                <a:spcPct val="110000"/>
              </a:lnSpc>
              <a:spcBef>
                <a:spcPts val="0"/>
              </a:spcBef>
              <a:spcAft>
                <a:spcPts val="0"/>
              </a:spcAft>
            </a:pPr>
            <a:r>
              <a:rPr sz="2300" b="1">
                <a:solidFill>
                  <a:srgbClr val="1C69D4"/>
                </a:solidFill>
                <a:latin typeface="Inter"/>
              </a:rPr>
              <a:t>Research</a:t>
            </a:r>
          </a:p>
        </p:txBody>
      </p:sp>
      <p:sp>
        <p:nvSpPr>
          <p:cNvPr id="10" name="TextBox 9"/>
          <p:cNvSpPr txBox="1"/>
          <p:nvPr/>
        </p:nvSpPr>
        <p:spPr>
          <a:xfrm>
            <a:off x="5120640" y="2852928"/>
            <a:ext cx="6382512" cy="393192"/>
          </a:xfrm>
          <a:prstGeom prst="rect">
            <a:avLst/>
          </a:prstGeom>
          <a:noFill/>
        </p:spPr>
        <p:txBody>
          <a:bodyPr wrap="square" lIns="0" rIns="0" tIns="0" bIns="0">
            <a:spAutoFit/>
          </a:bodyPr>
          <a:lstStyle/>
          <a:p>
            <a:pPr algn="l">
              <a:lnSpc>
                <a:spcPct val="110000"/>
              </a:lnSpc>
              <a:spcBef>
                <a:spcPts val="0"/>
              </a:spcBef>
              <a:spcAft>
                <a:spcPts val="0"/>
              </a:spcAft>
            </a:pPr>
            <a:r>
              <a:rPr sz="1800" b="0">
                <a:solidFill>
                  <a:srgbClr val="262626"/>
                </a:solidFill>
                <a:latin typeface="Inter"/>
              </a:rPr>
              <a:t>Chat, agent decisions and cited results</a:t>
            </a:r>
          </a:p>
        </p:txBody>
      </p:sp>
      <p:sp>
        <p:nvSpPr>
          <p:cNvPr id="11" name="TextBox 10"/>
          <p:cNvSpPr txBox="1"/>
          <p:nvPr/>
        </p:nvSpPr>
        <p:spPr>
          <a:xfrm>
            <a:off x="5120640" y="3337560"/>
            <a:ext cx="6382512" cy="429768"/>
          </a:xfrm>
          <a:prstGeom prst="rect">
            <a:avLst/>
          </a:prstGeom>
          <a:noFill/>
        </p:spPr>
        <p:txBody>
          <a:bodyPr wrap="square" lIns="0" rIns="0" tIns="0" bIns="0">
            <a:spAutoFit/>
          </a:bodyPr>
          <a:lstStyle/>
          <a:p>
            <a:pPr algn="l">
              <a:lnSpc>
                <a:spcPct val="110000"/>
              </a:lnSpc>
              <a:spcBef>
                <a:spcPts val="0"/>
              </a:spcBef>
              <a:spcAft>
                <a:spcPts val="0"/>
              </a:spcAft>
            </a:pPr>
            <a:r>
              <a:rPr sz="2300" b="1">
                <a:solidFill>
                  <a:srgbClr val="1C69D4"/>
                </a:solidFill>
                <a:latin typeface="Inter"/>
              </a:rPr>
              <a:t>Evidence</a:t>
            </a:r>
          </a:p>
        </p:txBody>
      </p:sp>
      <p:sp>
        <p:nvSpPr>
          <p:cNvPr id="12" name="TextBox 11"/>
          <p:cNvSpPr txBox="1"/>
          <p:nvPr/>
        </p:nvSpPr>
        <p:spPr>
          <a:xfrm>
            <a:off x="5120640" y="3813048"/>
            <a:ext cx="6382512" cy="393192"/>
          </a:xfrm>
          <a:prstGeom prst="rect">
            <a:avLst/>
          </a:prstGeom>
          <a:noFill/>
        </p:spPr>
        <p:txBody>
          <a:bodyPr wrap="square" lIns="0" rIns="0" tIns="0" bIns="0">
            <a:spAutoFit/>
          </a:bodyPr>
          <a:lstStyle/>
          <a:p>
            <a:pPr algn="l">
              <a:lnSpc>
                <a:spcPct val="110000"/>
              </a:lnSpc>
              <a:spcBef>
                <a:spcPts val="0"/>
              </a:spcBef>
              <a:spcAft>
                <a:spcPts val="0"/>
              </a:spcAft>
            </a:pPr>
            <a:r>
              <a:rPr sz="1800" b="0">
                <a:solidFill>
                  <a:srgbClr val="262626"/>
                </a:solidFill>
                <a:latin typeface="Inter"/>
              </a:rPr>
              <a:t>Filtered search and exact grouped counts</a:t>
            </a:r>
          </a:p>
        </p:txBody>
      </p:sp>
      <p:sp>
        <p:nvSpPr>
          <p:cNvPr id="13" name="TextBox 12"/>
          <p:cNvSpPr txBox="1"/>
          <p:nvPr/>
        </p:nvSpPr>
        <p:spPr>
          <a:xfrm>
            <a:off x="5120640" y="4297680"/>
            <a:ext cx="6382512" cy="429768"/>
          </a:xfrm>
          <a:prstGeom prst="rect">
            <a:avLst/>
          </a:prstGeom>
          <a:noFill/>
        </p:spPr>
        <p:txBody>
          <a:bodyPr wrap="square" lIns="0" rIns="0" tIns="0" bIns="0">
            <a:spAutoFit/>
          </a:bodyPr>
          <a:lstStyle/>
          <a:p>
            <a:pPr algn="l">
              <a:lnSpc>
                <a:spcPct val="110000"/>
              </a:lnSpc>
              <a:spcBef>
                <a:spcPts val="0"/>
              </a:spcBef>
              <a:spcAft>
                <a:spcPts val="0"/>
              </a:spcAft>
            </a:pPr>
            <a:r>
              <a:rPr sz="2300" b="1">
                <a:solidFill>
                  <a:srgbClr val="1C69D4"/>
                </a:solidFill>
                <a:latin typeface="Inter"/>
              </a:rPr>
              <a:t>Sources</a:t>
            </a:r>
          </a:p>
        </p:txBody>
      </p:sp>
      <p:sp>
        <p:nvSpPr>
          <p:cNvPr id="14" name="TextBox 13"/>
          <p:cNvSpPr txBox="1"/>
          <p:nvPr/>
        </p:nvSpPr>
        <p:spPr>
          <a:xfrm>
            <a:off x="5120640" y="4773168"/>
            <a:ext cx="6382512" cy="393192"/>
          </a:xfrm>
          <a:prstGeom prst="rect">
            <a:avLst/>
          </a:prstGeom>
          <a:noFill/>
        </p:spPr>
        <p:txBody>
          <a:bodyPr wrap="square" lIns="0" rIns="0" tIns="0" bIns="0">
            <a:spAutoFit/>
          </a:bodyPr>
          <a:lstStyle/>
          <a:p>
            <a:pPr algn="l">
              <a:lnSpc>
                <a:spcPct val="110000"/>
              </a:lnSpc>
              <a:spcBef>
                <a:spcPts val="0"/>
              </a:spcBef>
              <a:spcAft>
                <a:spcPts val="0"/>
              </a:spcAft>
            </a:pPr>
            <a:r>
              <a:rPr sz="1800" b="0">
                <a:solidFill>
                  <a:srgbClr val="262626"/>
                </a:solidFill>
                <a:latin typeface="Inter"/>
              </a:rPr>
              <a:t>Registered files and market coverage</a:t>
            </a:r>
          </a:p>
        </p:txBody>
      </p:sp>
      <p:sp>
        <p:nvSpPr>
          <p:cNvPr id="15" name="Rectangle 14"/>
          <p:cNvSpPr/>
          <p:nvPr/>
        </p:nvSpPr>
        <p:spPr>
          <a:xfrm>
            <a:off x="5093208" y="5431536"/>
            <a:ext cx="6473952" cy="658368"/>
          </a:xfrm>
          <a:prstGeom prst="rect">
            <a:avLst/>
          </a:prstGeom>
          <a:solidFill>
            <a:srgbClr val="F6F7F9"/>
          </a:solidFill>
          <a:ln>
            <a:solidFill>
              <a:srgbClr val="F6F7F9"/>
            </a:solidFill>
          </a:ln>
        </p:spPr>
        <p:txBody>
          <a:bodyPr rtlCol="0" anchor="ctr" lIns="0" rIns="0" tIns="0" bIns="0"/>
          <a:lstStyle/>
          <a:p>
            <a:pPr algn="ctr">
              <a:lnSpc>
                <a:spcPct val="110000"/>
              </a:lnSpc>
              <a:spcBef>
                <a:spcPts val="0"/>
              </a:spcBef>
              <a:spcAft>
                <a:spcPts val="0"/>
              </a:spcAft>
            </a:pPr>
          </a:p>
        </p:txBody>
      </p:sp>
      <p:sp>
        <p:nvSpPr>
          <p:cNvPr id="16" name="TextBox 15"/>
          <p:cNvSpPr txBox="1"/>
          <p:nvPr/>
        </p:nvSpPr>
        <p:spPr>
          <a:xfrm>
            <a:off x="5303520" y="5632704"/>
            <a:ext cx="6035040" cy="329184"/>
          </a:xfrm>
          <a:prstGeom prst="rect">
            <a:avLst/>
          </a:prstGeom>
          <a:noFill/>
        </p:spPr>
        <p:txBody>
          <a:bodyPr wrap="square" lIns="0" rIns="0" tIns="0" bIns="0">
            <a:spAutoFit/>
          </a:bodyPr>
          <a:lstStyle/>
          <a:p>
            <a:pPr algn="l">
              <a:lnSpc>
                <a:spcPct val="110000"/>
              </a:lnSpc>
              <a:spcBef>
                <a:spcPts val="0"/>
              </a:spcBef>
              <a:spcAft>
                <a:spcPts val="0"/>
              </a:spcAft>
            </a:pPr>
            <a:r>
              <a:rPr sz="1700" b="0">
                <a:solidFill>
                  <a:srgbClr val="262626"/>
                </a:solidFill>
                <a:latin typeface="Inter"/>
              </a:rPr>
              <a:t>Verified: database healthy; hosted build matches main.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1">
  <p:cSld>
    <p:bg>
      <p:bgPr>
        <a:solidFill>
          <a:srgbClr val="FFFFFF"/>
        </a:solidFill>
        <a:effectLst/>
      </p:bgPr>
    </p:bg>
    <p:spTree>
      <p:nvGrpSpPr>
        <p:cNvPr id="1" name=""/>
        <p:cNvGrpSpPr/>
        <p:nvPr/>
      </p:nvGrpSpPr>
      <p:grpSpPr/>
      <p:sp>
        <p:nvSpPr>
          <p:cNvPr id="2" name="TextBox 1"/>
          <p:cNvSpPr txBox="1"/>
          <p:nvPr/>
        </p:nvSpPr>
        <p:spPr>
          <a:xfrm>
            <a:off x="594360" y="274320"/>
            <a:ext cx="10607040" cy="228600"/>
          </a:xfrm>
          <a:prstGeom prst="rect">
            <a:avLst/>
          </a:prstGeom>
          <a:noFill/>
        </p:spPr>
        <p:txBody>
          <a:bodyPr wrap="square" lIns="0" rIns="0" tIns="0" bIns="0">
            <a:spAutoFit/>
          </a:bodyPr>
          <a:lstStyle/>
          <a:p>
            <a:pPr algn="l">
              <a:lnSpc>
                <a:spcPct val="110000"/>
              </a:lnSpc>
              <a:spcBef>
                <a:spcPts val="0"/>
              </a:spcBef>
              <a:spcAft>
                <a:spcPts val="0"/>
              </a:spcAft>
            </a:pPr>
            <a:r>
              <a:rPr sz="1100" b="1">
                <a:solidFill>
                  <a:srgbClr val="1C69D4"/>
                </a:solidFill>
                <a:latin typeface="Inter"/>
              </a:rPr>
              <a:t>BMW PRODUCT INTELLIGENCE</a:t>
            </a:r>
          </a:p>
        </p:txBody>
      </p:sp>
      <p:sp>
        <p:nvSpPr>
          <p:cNvPr id="3" name="TextBox 2"/>
          <p:cNvSpPr txBox="1"/>
          <p:nvPr/>
        </p:nvSpPr>
        <p:spPr>
          <a:xfrm>
            <a:off x="594360" y="859536"/>
            <a:ext cx="11018520" cy="1170432"/>
          </a:xfrm>
          <a:prstGeom prst="rect">
            <a:avLst/>
          </a:prstGeom>
          <a:noFill/>
        </p:spPr>
        <p:txBody>
          <a:bodyPr wrap="square" lIns="0" rIns="0" tIns="0" bIns="0">
            <a:spAutoFit/>
          </a:bodyPr>
          <a:lstStyle/>
          <a:p>
            <a:pPr algn="l">
              <a:lnSpc>
                <a:spcPct val="110000"/>
              </a:lnSpc>
              <a:spcBef>
                <a:spcPts val="0"/>
              </a:spcBef>
              <a:spcAft>
                <a:spcPts val="0"/>
              </a:spcAft>
            </a:pPr>
            <a:r>
              <a:rPr sz="3600" b="1">
                <a:solidFill>
                  <a:srgbClr val="262626"/>
                </a:solidFill>
                <a:latin typeface="Inter"/>
              </a:rPr>
              <a:t>A concrete signal.</a:t>
            </a:r>
          </a:p>
          <a:p>
            <a:pPr algn="l">
              <a:lnSpc>
                <a:spcPct val="110000"/>
              </a:lnSpc>
              <a:spcBef>
                <a:spcPts val="0"/>
              </a:spcBef>
              <a:spcAft>
                <a:spcPts val="0"/>
              </a:spcAft>
            </a:pPr>
            <a:r>
              <a:rPr sz="3600" b="1">
                <a:solidFill>
                  <a:srgbClr val="262626"/>
                </a:solidFill>
                <a:latin typeface="Inter"/>
              </a:rPr>
              <a:t>A source the PM can inspect.</a:t>
            </a:r>
          </a:p>
        </p:txBody>
      </p:sp>
      <p:sp>
        <p:nvSpPr>
          <p:cNvPr id="4" name="Rectangle 3"/>
          <p:cNvSpPr/>
          <p:nvPr/>
        </p:nvSpPr>
        <p:spPr>
          <a:xfrm>
            <a:off x="594360" y="6428232"/>
            <a:ext cx="11000232" cy="12700"/>
          </a:xfrm>
          <a:prstGeom prst="rect">
            <a:avLst/>
          </a:prstGeom>
          <a:solidFill>
            <a:srgbClr val="E6E6E6"/>
          </a:solidFill>
          <a:ln>
            <a:solidFill>
              <a:srgbClr val="E6E6E6"/>
            </a:solidFill>
          </a:ln>
        </p:spPr>
        <p:txBody>
          <a:bodyPr rtlCol="0" anchor="ctr" lIns="0" rIns="0" tIns="0" bIns="0"/>
          <a:lstStyle/>
          <a:p>
            <a:pPr algn="ctr">
              <a:lnSpc>
                <a:spcPct val="110000"/>
              </a:lnSpc>
              <a:spcBef>
                <a:spcPts val="0"/>
              </a:spcBef>
              <a:spcAft>
                <a:spcPts val="0"/>
              </a:spcAft>
            </a:pPr>
          </a:p>
        </p:txBody>
      </p:sp>
      <p:sp>
        <p:nvSpPr>
          <p:cNvPr id="5" name="TextBox 4"/>
          <p:cNvSpPr txBox="1"/>
          <p:nvPr/>
        </p:nvSpPr>
        <p:spPr>
          <a:xfrm>
            <a:off x="594360" y="6528816"/>
            <a:ext cx="9966960" cy="164592"/>
          </a:xfrm>
          <a:prstGeom prst="rect">
            <a:avLst/>
          </a:prstGeom>
          <a:noFill/>
        </p:spPr>
        <p:txBody>
          <a:bodyPr wrap="square" lIns="0" rIns="0" tIns="0" bIns="0">
            <a:spAutoFit/>
          </a:bodyPr>
          <a:lstStyle/>
          <a:p>
            <a:pPr algn="l">
              <a:lnSpc>
                <a:spcPct val="110000"/>
              </a:lnSpc>
              <a:spcBef>
                <a:spcPts val="0"/>
              </a:spcBef>
              <a:spcAft>
                <a:spcPts val="0"/>
              </a:spcAft>
            </a:pPr>
            <a:r>
              <a:rPr sz="900" b="0">
                <a:solidFill>
                  <a:srgbClr val="6B6B6B"/>
                </a:solidFill>
                <a:latin typeface="Inter"/>
              </a:rPr>
              <a:t>BMW hackathon prototype  |  2026-10-10  |  Pitch</a:t>
            </a:r>
          </a:p>
        </p:txBody>
      </p:sp>
      <p:sp>
        <p:nvSpPr>
          <p:cNvPr id="6" name="TextBox 5"/>
          <p:cNvSpPr txBox="1"/>
          <p:nvPr/>
        </p:nvSpPr>
        <p:spPr>
          <a:xfrm>
            <a:off x="11109960" y="6501384"/>
            <a:ext cx="484632" cy="228600"/>
          </a:xfrm>
          <a:prstGeom prst="rect">
            <a:avLst/>
          </a:prstGeom>
          <a:noFill/>
        </p:spPr>
        <p:txBody>
          <a:bodyPr wrap="square" lIns="0" rIns="0" tIns="0" bIns="0">
            <a:spAutoFit/>
          </a:bodyPr>
          <a:lstStyle/>
          <a:p>
            <a:pPr algn="r">
              <a:lnSpc>
                <a:spcPct val="110000"/>
              </a:lnSpc>
              <a:spcBef>
                <a:spcPts val="0"/>
              </a:spcBef>
              <a:spcAft>
                <a:spcPts val="0"/>
              </a:spcAft>
            </a:pPr>
            <a:r>
              <a:rPr sz="1000" b="0">
                <a:solidFill>
                  <a:srgbClr val="6B6B6B"/>
                </a:solidFill>
                <a:latin typeface="Inter"/>
              </a:rPr>
              <a:t>05</a:t>
            </a:r>
          </a:p>
        </p:txBody>
      </p:sp>
      <p:sp>
        <p:nvSpPr>
          <p:cNvPr id="7" name="TextBox 6"/>
          <p:cNvSpPr txBox="1"/>
          <p:nvPr/>
        </p:nvSpPr>
        <p:spPr>
          <a:xfrm>
            <a:off x="594360" y="2267712"/>
            <a:ext cx="2743200" cy="969264"/>
          </a:xfrm>
          <a:prstGeom prst="rect">
            <a:avLst/>
          </a:prstGeom>
          <a:noFill/>
        </p:spPr>
        <p:txBody>
          <a:bodyPr wrap="square" lIns="0" rIns="0" tIns="0" bIns="0">
            <a:spAutoFit/>
          </a:bodyPr>
          <a:lstStyle/>
          <a:p>
            <a:pPr algn="l">
              <a:lnSpc>
                <a:spcPct val="110000"/>
              </a:lnSpc>
              <a:spcBef>
                <a:spcPts val="0"/>
              </a:spcBef>
              <a:spcAft>
                <a:spcPts val="0"/>
              </a:spcAft>
            </a:pPr>
            <a:r>
              <a:rPr sz="6700" b="1">
                <a:solidFill>
                  <a:srgbClr val="1C69D4"/>
                </a:solidFill>
                <a:latin typeface="Inter"/>
              </a:rPr>
              <a:t>139</a:t>
            </a:r>
          </a:p>
        </p:txBody>
      </p:sp>
      <p:sp>
        <p:nvSpPr>
          <p:cNvPr id="8" name="TextBox 7"/>
          <p:cNvSpPr txBox="1"/>
          <p:nvPr/>
        </p:nvSpPr>
        <p:spPr>
          <a:xfrm>
            <a:off x="667512" y="3319272"/>
            <a:ext cx="3364992" cy="393192"/>
          </a:xfrm>
          <a:prstGeom prst="rect">
            <a:avLst/>
          </a:prstGeom>
          <a:noFill/>
        </p:spPr>
        <p:txBody>
          <a:bodyPr wrap="square" lIns="0" rIns="0" tIns="0" bIns="0">
            <a:spAutoFit/>
          </a:bodyPr>
          <a:lstStyle/>
          <a:p>
            <a:pPr algn="l">
              <a:lnSpc>
                <a:spcPct val="110000"/>
              </a:lnSpc>
              <a:spcBef>
                <a:spcPts val="0"/>
              </a:spcBef>
              <a:spcAft>
                <a:spcPts val="0"/>
              </a:spcAft>
            </a:pPr>
            <a:r>
              <a:rPr sz="2100" b="0">
                <a:solidFill>
                  <a:srgbClr val="262626"/>
                </a:solidFill>
                <a:latin typeface="Inter"/>
              </a:rPr>
              <a:t>negative comments</a:t>
            </a:r>
          </a:p>
        </p:txBody>
      </p:sp>
      <p:sp>
        <p:nvSpPr>
          <p:cNvPr id="9" name="TextBox 8"/>
          <p:cNvSpPr txBox="1"/>
          <p:nvPr/>
        </p:nvSpPr>
        <p:spPr>
          <a:xfrm>
            <a:off x="667512" y="3977639"/>
            <a:ext cx="3392424" cy="1426464"/>
          </a:xfrm>
          <a:prstGeom prst="rect">
            <a:avLst/>
          </a:prstGeom>
          <a:noFill/>
        </p:spPr>
        <p:txBody>
          <a:bodyPr wrap="square" lIns="0" rIns="0" tIns="0" bIns="0">
            <a:spAutoFit/>
          </a:bodyPr>
          <a:lstStyle/>
          <a:p>
            <a:pPr algn="l">
              <a:lnSpc>
                <a:spcPct val="110000"/>
              </a:lnSpc>
              <a:spcBef>
                <a:spcPts val="0"/>
              </a:spcBef>
              <a:spcAft>
                <a:spcPts val="0"/>
              </a:spcAft>
            </a:pPr>
            <a:r>
              <a:rPr sz="2000" b="0">
                <a:solidFill>
                  <a:srgbClr val="6B6B6B"/>
                </a:solidFill>
                <a:latin typeface="Inter"/>
              </a:rPr>
              <a:t>G60 / US</a:t>
            </a:r>
          </a:p>
          <a:p>
            <a:pPr algn="l">
              <a:lnSpc>
                <a:spcPct val="110000"/>
              </a:lnSpc>
              <a:spcBef>
                <a:spcPts val="0"/>
              </a:spcBef>
              <a:spcAft>
                <a:spcPts val="0"/>
              </a:spcAft>
            </a:pPr>
            <a:r>
              <a:rPr sz="2000" b="0">
                <a:solidFill>
                  <a:srgbClr val="6B6B6B"/>
                </a:solidFill>
                <a:latin typeface="Inter"/>
              </a:rPr>
              <a:t>Comfort &amp; Space</a:t>
            </a:r>
          </a:p>
          <a:p>
            <a:pPr algn="l">
              <a:lnSpc>
                <a:spcPct val="110000"/>
              </a:lnSpc>
              <a:spcBef>
                <a:spcPts val="0"/>
              </a:spcBef>
              <a:spcAft>
                <a:spcPts val="0"/>
              </a:spcAft>
            </a:pPr>
            <a:r>
              <a:rPr sz="2000" b="0">
                <a:solidFill>
                  <a:srgbClr val="6B6B6B"/>
                </a:solidFill>
                <a:latin typeface="Inter"/>
              </a:rPr>
              <a:t>396 comments in this category</a:t>
            </a:r>
          </a:p>
        </p:txBody>
      </p:sp>
      <p:sp>
        <p:nvSpPr>
          <p:cNvPr id="10" name="Rectangle 9"/>
          <p:cNvSpPr/>
          <p:nvPr/>
        </p:nvSpPr>
        <p:spPr>
          <a:xfrm>
            <a:off x="4517136" y="2221992"/>
            <a:ext cx="7077456" cy="3310128"/>
          </a:xfrm>
          <a:prstGeom prst="rect">
            <a:avLst/>
          </a:prstGeom>
          <a:solidFill>
            <a:srgbClr val="F6F7F9"/>
          </a:solidFill>
          <a:ln>
            <a:solidFill>
              <a:srgbClr val="F6F7F9"/>
            </a:solidFill>
          </a:ln>
        </p:spPr>
        <p:txBody>
          <a:bodyPr rtlCol="0" anchor="ctr" lIns="0" rIns="0" tIns="0" bIns="0"/>
          <a:lstStyle/>
          <a:p>
            <a:pPr algn="ctr">
              <a:lnSpc>
                <a:spcPct val="110000"/>
              </a:lnSpc>
              <a:spcBef>
                <a:spcPts val="0"/>
              </a:spcBef>
              <a:spcAft>
                <a:spcPts val="0"/>
              </a:spcAft>
            </a:pPr>
          </a:p>
        </p:txBody>
      </p:sp>
      <p:sp>
        <p:nvSpPr>
          <p:cNvPr id="11" name="TextBox 10"/>
          <p:cNvSpPr txBox="1"/>
          <p:nvPr/>
        </p:nvSpPr>
        <p:spPr>
          <a:xfrm>
            <a:off x="4754880" y="2459736"/>
            <a:ext cx="6519672" cy="237744"/>
          </a:xfrm>
          <a:prstGeom prst="rect">
            <a:avLst/>
          </a:prstGeom>
          <a:noFill/>
        </p:spPr>
        <p:txBody>
          <a:bodyPr wrap="square" lIns="0" rIns="0" tIns="0" bIns="0">
            <a:spAutoFit/>
          </a:bodyPr>
          <a:lstStyle/>
          <a:p>
            <a:pPr algn="l">
              <a:lnSpc>
                <a:spcPct val="110000"/>
              </a:lnSpc>
              <a:spcBef>
                <a:spcPts val="0"/>
              </a:spcBef>
              <a:spcAft>
                <a:spcPts val="0"/>
              </a:spcAft>
            </a:pPr>
            <a:r>
              <a:rPr sz="1100" b="1">
                <a:solidFill>
                  <a:srgbClr val="1C69D4"/>
                </a:solidFill>
                <a:latin typeface="Inter"/>
              </a:rPr>
              <a:t>ONE STORED CUSTOMER COMMENT</a:t>
            </a:r>
          </a:p>
        </p:txBody>
      </p:sp>
      <p:sp>
        <p:nvSpPr>
          <p:cNvPr id="12" name="TextBox 11"/>
          <p:cNvSpPr txBox="1"/>
          <p:nvPr/>
        </p:nvSpPr>
        <p:spPr>
          <a:xfrm>
            <a:off x="4754880" y="2971800"/>
            <a:ext cx="6510528" cy="1517904"/>
          </a:xfrm>
          <a:prstGeom prst="rect">
            <a:avLst/>
          </a:prstGeom>
          <a:noFill/>
        </p:spPr>
        <p:txBody>
          <a:bodyPr wrap="square" lIns="0" rIns="0" tIns="0" bIns="0">
            <a:spAutoFit/>
          </a:bodyPr>
          <a:lstStyle/>
          <a:p>
            <a:pPr algn="l">
              <a:lnSpc>
                <a:spcPct val="110000"/>
              </a:lnSpc>
              <a:spcBef>
                <a:spcPts val="0"/>
              </a:spcBef>
              <a:spcAft>
                <a:spcPts val="0"/>
              </a:spcAft>
            </a:pPr>
            <a:r>
              <a:rPr sz="2600" b="0">
                <a:solidFill>
                  <a:srgbClr val="262626"/>
                </a:solidFill>
                <a:latin typeface="Inter"/>
              </a:rPr>
              <a:t>“having to reach the heated steering wheel through the climate options feels cumbersome and they miss having a dedicated button.”</a:t>
            </a:r>
          </a:p>
        </p:txBody>
      </p:sp>
      <p:sp>
        <p:nvSpPr>
          <p:cNvPr id="13" name="TextBox 12"/>
          <p:cNvSpPr txBox="1"/>
          <p:nvPr/>
        </p:nvSpPr>
        <p:spPr>
          <a:xfrm>
            <a:off x="4754880" y="4773168"/>
            <a:ext cx="6510528" cy="585216"/>
          </a:xfrm>
          <a:prstGeom prst="rect">
            <a:avLst/>
          </a:prstGeom>
          <a:noFill/>
        </p:spPr>
        <p:txBody>
          <a:bodyPr wrap="square" lIns="0" rIns="0" tIns="0" bIns="0">
            <a:spAutoFit/>
          </a:bodyPr>
          <a:lstStyle/>
          <a:p>
            <a:pPr algn="l">
              <a:lnSpc>
                <a:spcPct val="110000"/>
              </a:lnSpc>
              <a:spcBef>
                <a:spcPts val="0"/>
              </a:spcBef>
              <a:spcAft>
                <a:spcPts val="0"/>
              </a:spcAft>
            </a:pPr>
            <a:r>
              <a:rPr sz="1300" b="0">
                <a:solidFill>
                  <a:srgbClr val="6B6B6B"/>
                </a:solidFill>
                <a:latin typeface="Inter"/>
              </a:rPr>
              <a:t>G60_feedback_hackathon.xlsx</a:t>
            </a:r>
          </a:p>
          <a:p>
            <a:pPr algn="l">
              <a:lnSpc>
                <a:spcPct val="110000"/>
              </a:lnSpc>
              <a:spcBef>
                <a:spcPts val="0"/>
              </a:spcBef>
              <a:spcAft>
                <a:spcPts val="0"/>
              </a:spcAft>
            </a:pPr>
            <a:r>
              <a:rPr sz="1300" b="0">
                <a:solidFill>
                  <a:srgbClr val="6B6B6B"/>
                </a:solidFill>
                <a:latin typeface="Inter"/>
              </a:rPr>
              <a:t>sheet Feedback_Explorer, row 361 (G60-0287)</a:t>
            </a:r>
          </a:p>
        </p:txBody>
      </p:sp>
      <p:sp>
        <p:nvSpPr>
          <p:cNvPr id="14" name="TextBox 13"/>
          <p:cNvSpPr txBox="1"/>
          <p:nvPr/>
        </p:nvSpPr>
        <p:spPr>
          <a:xfrm>
            <a:off x="667512" y="5824728"/>
            <a:ext cx="10899648" cy="356616"/>
          </a:xfrm>
          <a:prstGeom prst="rect">
            <a:avLst/>
          </a:prstGeom>
          <a:noFill/>
        </p:spPr>
        <p:txBody>
          <a:bodyPr wrap="square" lIns="0" rIns="0" tIns="0" bIns="0">
            <a:spAutoFit/>
          </a:bodyPr>
          <a:lstStyle/>
          <a:p>
            <a:pPr algn="l">
              <a:lnSpc>
                <a:spcPct val="110000"/>
              </a:lnSpc>
              <a:spcBef>
                <a:spcPts val="0"/>
              </a:spcBef>
              <a:spcAft>
                <a:spcPts val="0"/>
              </a:spcAft>
            </a:pPr>
            <a:r>
              <a:rPr sz="1800" b="0">
                <a:solidFill>
                  <a:srgbClr val="262626"/>
                </a:solidFill>
                <a:latin typeface="Inter"/>
              </a:rPr>
              <a:t>The count covers the category; the quote supports one specific issue.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1">
  <p:cSld>
    <p:bg>
      <p:bgPr>
        <a:solidFill>
          <a:srgbClr val="1A2129"/>
        </a:solidFill>
        <a:effectLst/>
      </p:bgPr>
    </p:bg>
    <p:spTree>
      <p:nvGrpSpPr>
        <p:cNvPr id="1" name=""/>
        <p:cNvGrpSpPr/>
        <p:nvPr/>
      </p:nvGrpSpPr>
      <p:grpSpPr/>
      <p:sp>
        <p:nvSpPr>
          <p:cNvPr id="2" name="TextBox 1"/>
          <p:cNvSpPr txBox="1"/>
          <p:nvPr/>
        </p:nvSpPr>
        <p:spPr>
          <a:xfrm>
            <a:off x="594360" y="274320"/>
            <a:ext cx="10607040" cy="228600"/>
          </a:xfrm>
          <a:prstGeom prst="rect">
            <a:avLst/>
          </a:prstGeom>
          <a:noFill/>
        </p:spPr>
        <p:txBody>
          <a:bodyPr wrap="square" lIns="0" rIns="0" tIns="0" bIns="0">
            <a:spAutoFit/>
          </a:bodyPr>
          <a:lstStyle/>
          <a:p>
            <a:pPr algn="l">
              <a:lnSpc>
                <a:spcPct val="110000"/>
              </a:lnSpc>
              <a:spcBef>
                <a:spcPts val="0"/>
              </a:spcBef>
              <a:spcAft>
                <a:spcPts val="0"/>
              </a:spcAft>
            </a:pPr>
            <a:r>
              <a:rPr sz="1100" b="1">
                <a:solidFill>
                  <a:srgbClr val="FFFFFF"/>
                </a:solidFill>
                <a:latin typeface="Inter"/>
              </a:rPr>
              <a:t>BMW PRODUCT INTELLIGENCE</a:t>
            </a:r>
          </a:p>
        </p:txBody>
      </p:sp>
      <p:sp>
        <p:nvSpPr>
          <p:cNvPr id="3" name="TextBox 2"/>
          <p:cNvSpPr txBox="1"/>
          <p:nvPr/>
        </p:nvSpPr>
        <p:spPr>
          <a:xfrm>
            <a:off x="594360" y="859536"/>
            <a:ext cx="11018520" cy="1170432"/>
          </a:xfrm>
          <a:prstGeom prst="rect">
            <a:avLst/>
          </a:prstGeom>
          <a:noFill/>
        </p:spPr>
        <p:txBody>
          <a:bodyPr wrap="square" lIns="0" rIns="0" tIns="0" bIns="0">
            <a:spAutoFit/>
          </a:bodyPr>
          <a:lstStyle/>
          <a:p>
            <a:pPr algn="l">
              <a:lnSpc>
                <a:spcPct val="110000"/>
              </a:lnSpc>
              <a:spcBef>
                <a:spcPts val="0"/>
              </a:spcBef>
              <a:spcAft>
                <a:spcPts val="0"/>
              </a:spcAft>
            </a:pPr>
            <a:r>
              <a:rPr sz="3600" b="1">
                <a:solidFill>
                  <a:srgbClr val="FFFFFF"/>
                </a:solidFill>
                <a:latin typeface="Inter"/>
              </a:rPr>
              <a:t>Pilot one vehicle line.</a:t>
            </a:r>
          </a:p>
          <a:p>
            <a:pPr algn="l">
              <a:lnSpc>
                <a:spcPct val="110000"/>
              </a:lnSpc>
              <a:spcBef>
                <a:spcPts val="0"/>
              </a:spcBef>
              <a:spcAft>
                <a:spcPts val="0"/>
              </a:spcAft>
            </a:pPr>
            <a:r>
              <a:rPr sz="3600" b="1">
                <a:solidFill>
                  <a:srgbClr val="FFFFFF"/>
                </a:solidFill>
                <a:latin typeface="Inter"/>
              </a:rPr>
              <a:t>Measure the value of cited research.</a:t>
            </a:r>
          </a:p>
        </p:txBody>
      </p:sp>
      <p:sp>
        <p:nvSpPr>
          <p:cNvPr id="4" name="Rectangle 3"/>
          <p:cNvSpPr/>
          <p:nvPr/>
        </p:nvSpPr>
        <p:spPr>
          <a:xfrm>
            <a:off x="594360" y="6428232"/>
            <a:ext cx="11000232" cy="12700"/>
          </a:xfrm>
          <a:prstGeom prst="rect">
            <a:avLst/>
          </a:prstGeom>
          <a:solidFill>
            <a:srgbClr val="4A5460"/>
          </a:solidFill>
          <a:ln>
            <a:solidFill>
              <a:srgbClr val="4A5460"/>
            </a:solidFill>
          </a:ln>
        </p:spPr>
        <p:txBody>
          <a:bodyPr rtlCol="0" anchor="ctr" lIns="0" rIns="0" tIns="0" bIns="0"/>
          <a:lstStyle/>
          <a:p>
            <a:pPr algn="ctr">
              <a:lnSpc>
                <a:spcPct val="110000"/>
              </a:lnSpc>
              <a:spcBef>
                <a:spcPts val="0"/>
              </a:spcBef>
              <a:spcAft>
                <a:spcPts val="0"/>
              </a:spcAft>
            </a:pPr>
          </a:p>
        </p:txBody>
      </p:sp>
      <p:sp>
        <p:nvSpPr>
          <p:cNvPr id="5" name="TextBox 4"/>
          <p:cNvSpPr txBox="1"/>
          <p:nvPr/>
        </p:nvSpPr>
        <p:spPr>
          <a:xfrm>
            <a:off x="594360" y="6528816"/>
            <a:ext cx="9966960" cy="164592"/>
          </a:xfrm>
          <a:prstGeom prst="rect">
            <a:avLst/>
          </a:prstGeom>
          <a:noFill/>
        </p:spPr>
        <p:txBody>
          <a:bodyPr wrap="square" lIns="0" rIns="0" tIns="0" bIns="0">
            <a:spAutoFit/>
          </a:bodyPr>
          <a:lstStyle/>
          <a:p>
            <a:pPr algn="l">
              <a:lnSpc>
                <a:spcPct val="110000"/>
              </a:lnSpc>
              <a:spcBef>
                <a:spcPts val="0"/>
              </a:spcBef>
              <a:spcAft>
                <a:spcPts val="0"/>
              </a:spcAft>
            </a:pPr>
            <a:r>
              <a:rPr sz="900" b="0">
                <a:solidFill>
                  <a:srgbClr val="BBBBBB"/>
                </a:solidFill>
                <a:latin typeface="Inter"/>
              </a:rPr>
              <a:t>BMW hackathon prototype  |  2026-10-10  |  Pitch</a:t>
            </a:r>
          </a:p>
        </p:txBody>
      </p:sp>
      <p:sp>
        <p:nvSpPr>
          <p:cNvPr id="6" name="TextBox 5"/>
          <p:cNvSpPr txBox="1"/>
          <p:nvPr/>
        </p:nvSpPr>
        <p:spPr>
          <a:xfrm>
            <a:off x="11109960" y="6501384"/>
            <a:ext cx="484632" cy="228600"/>
          </a:xfrm>
          <a:prstGeom prst="rect">
            <a:avLst/>
          </a:prstGeom>
          <a:noFill/>
        </p:spPr>
        <p:txBody>
          <a:bodyPr wrap="square" lIns="0" rIns="0" tIns="0" bIns="0">
            <a:spAutoFit/>
          </a:bodyPr>
          <a:lstStyle/>
          <a:p>
            <a:pPr algn="r">
              <a:lnSpc>
                <a:spcPct val="110000"/>
              </a:lnSpc>
              <a:spcBef>
                <a:spcPts val="0"/>
              </a:spcBef>
              <a:spcAft>
                <a:spcPts val="0"/>
              </a:spcAft>
            </a:pPr>
            <a:r>
              <a:rPr sz="1000" b="0">
                <a:solidFill>
                  <a:srgbClr val="FFFFFF"/>
                </a:solidFill>
                <a:latin typeface="Inter"/>
              </a:rPr>
              <a:t>06</a:t>
            </a:r>
          </a:p>
        </p:txBody>
      </p:sp>
      <p:sp>
        <p:nvSpPr>
          <p:cNvPr id="7" name="TextBox 6"/>
          <p:cNvSpPr txBox="1"/>
          <p:nvPr/>
        </p:nvSpPr>
        <p:spPr>
          <a:xfrm>
            <a:off x="658368" y="2295144"/>
            <a:ext cx="731520" cy="484632"/>
          </a:xfrm>
          <a:prstGeom prst="rect">
            <a:avLst/>
          </a:prstGeom>
          <a:noFill/>
        </p:spPr>
        <p:txBody>
          <a:bodyPr wrap="square" lIns="0" rIns="0" tIns="0" bIns="0">
            <a:spAutoFit/>
          </a:bodyPr>
          <a:lstStyle/>
          <a:p>
            <a:pPr algn="l">
              <a:lnSpc>
                <a:spcPct val="110000"/>
              </a:lnSpc>
              <a:spcBef>
                <a:spcPts val="0"/>
              </a:spcBef>
              <a:spcAft>
                <a:spcPts val="0"/>
              </a:spcAft>
            </a:pPr>
            <a:r>
              <a:rPr sz="2200" b="1">
                <a:solidFill>
                  <a:srgbClr val="A3C2F1"/>
                </a:solidFill>
                <a:latin typeface="Inter"/>
              </a:rPr>
              <a:t>01</a:t>
            </a:r>
          </a:p>
        </p:txBody>
      </p:sp>
      <p:sp>
        <p:nvSpPr>
          <p:cNvPr id="8" name="TextBox 7"/>
          <p:cNvSpPr txBox="1"/>
          <p:nvPr/>
        </p:nvSpPr>
        <p:spPr>
          <a:xfrm>
            <a:off x="1453896" y="2295144"/>
            <a:ext cx="9966960" cy="393192"/>
          </a:xfrm>
          <a:prstGeom prst="rect">
            <a:avLst/>
          </a:prstGeom>
          <a:noFill/>
        </p:spPr>
        <p:txBody>
          <a:bodyPr wrap="square" lIns="0" rIns="0" tIns="0" bIns="0">
            <a:spAutoFit/>
          </a:bodyPr>
          <a:lstStyle/>
          <a:p>
            <a:pPr algn="l">
              <a:lnSpc>
                <a:spcPct val="110000"/>
              </a:lnSpc>
              <a:spcBef>
                <a:spcPts val="0"/>
              </a:spcBef>
              <a:spcAft>
                <a:spcPts val="0"/>
              </a:spcAft>
            </a:pPr>
            <a:r>
              <a:rPr sz="2300" b="1">
                <a:solidFill>
                  <a:srgbClr val="FFFFFF"/>
                </a:solidFill>
                <a:latin typeface="Inter"/>
              </a:rPr>
              <a:t>Time to a cited answer</a:t>
            </a:r>
          </a:p>
        </p:txBody>
      </p:sp>
      <p:sp>
        <p:nvSpPr>
          <p:cNvPr id="9" name="TextBox 8"/>
          <p:cNvSpPr txBox="1"/>
          <p:nvPr/>
        </p:nvSpPr>
        <p:spPr>
          <a:xfrm>
            <a:off x="1453896" y="2715768"/>
            <a:ext cx="9966960" cy="310896"/>
          </a:xfrm>
          <a:prstGeom prst="rect">
            <a:avLst/>
          </a:prstGeom>
          <a:noFill/>
        </p:spPr>
        <p:txBody>
          <a:bodyPr wrap="square" lIns="0" rIns="0" tIns="0" bIns="0">
            <a:spAutoFit/>
          </a:bodyPr>
          <a:lstStyle/>
          <a:p>
            <a:pPr algn="l">
              <a:lnSpc>
                <a:spcPct val="110000"/>
              </a:lnSpc>
              <a:spcBef>
                <a:spcPts val="0"/>
              </a:spcBef>
              <a:spcAft>
                <a:spcPts val="0"/>
              </a:spcAft>
            </a:pPr>
            <a:r>
              <a:rPr sz="1600" b="0">
                <a:solidFill>
                  <a:srgbClr val="D7DEE8"/>
                </a:solidFill>
                <a:latin typeface="Inter"/>
              </a:rPr>
              <a:t>Compare with the current research process.</a:t>
            </a:r>
          </a:p>
        </p:txBody>
      </p:sp>
      <p:sp>
        <p:nvSpPr>
          <p:cNvPr id="10" name="TextBox 9"/>
          <p:cNvSpPr txBox="1"/>
          <p:nvPr/>
        </p:nvSpPr>
        <p:spPr>
          <a:xfrm>
            <a:off x="658368" y="3209544"/>
            <a:ext cx="731520" cy="484632"/>
          </a:xfrm>
          <a:prstGeom prst="rect">
            <a:avLst/>
          </a:prstGeom>
          <a:noFill/>
        </p:spPr>
        <p:txBody>
          <a:bodyPr wrap="square" lIns="0" rIns="0" tIns="0" bIns="0">
            <a:spAutoFit/>
          </a:bodyPr>
          <a:lstStyle/>
          <a:p>
            <a:pPr algn="l">
              <a:lnSpc>
                <a:spcPct val="110000"/>
              </a:lnSpc>
              <a:spcBef>
                <a:spcPts val="0"/>
              </a:spcBef>
              <a:spcAft>
                <a:spcPts val="0"/>
              </a:spcAft>
            </a:pPr>
            <a:r>
              <a:rPr sz="2200" b="1">
                <a:solidFill>
                  <a:srgbClr val="A3C2F1"/>
                </a:solidFill>
                <a:latin typeface="Inter"/>
              </a:rPr>
              <a:t>02</a:t>
            </a:r>
          </a:p>
        </p:txBody>
      </p:sp>
      <p:sp>
        <p:nvSpPr>
          <p:cNvPr id="11" name="TextBox 10"/>
          <p:cNvSpPr txBox="1"/>
          <p:nvPr/>
        </p:nvSpPr>
        <p:spPr>
          <a:xfrm>
            <a:off x="1453896" y="3209544"/>
            <a:ext cx="9966960" cy="393192"/>
          </a:xfrm>
          <a:prstGeom prst="rect">
            <a:avLst/>
          </a:prstGeom>
          <a:noFill/>
        </p:spPr>
        <p:txBody>
          <a:bodyPr wrap="square" lIns="0" rIns="0" tIns="0" bIns="0">
            <a:spAutoFit/>
          </a:bodyPr>
          <a:lstStyle/>
          <a:p>
            <a:pPr algn="l">
              <a:lnSpc>
                <a:spcPct val="110000"/>
              </a:lnSpc>
              <a:spcBef>
                <a:spcPts val="0"/>
              </a:spcBef>
              <a:spcAft>
                <a:spcPts val="0"/>
              </a:spcAft>
            </a:pPr>
            <a:r>
              <a:rPr sz="2300" b="1">
                <a:solidFill>
                  <a:srgbClr val="FFFFFF"/>
                </a:solidFill>
                <a:latin typeface="Inter"/>
              </a:rPr>
              <a:t>Citation correctness</a:t>
            </a:r>
          </a:p>
        </p:txBody>
      </p:sp>
      <p:sp>
        <p:nvSpPr>
          <p:cNvPr id="12" name="TextBox 11"/>
          <p:cNvSpPr txBox="1"/>
          <p:nvPr/>
        </p:nvSpPr>
        <p:spPr>
          <a:xfrm>
            <a:off x="1453896" y="3630168"/>
            <a:ext cx="9966960" cy="310896"/>
          </a:xfrm>
          <a:prstGeom prst="rect">
            <a:avLst/>
          </a:prstGeom>
          <a:noFill/>
        </p:spPr>
        <p:txBody>
          <a:bodyPr wrap="square" lIns="0" rIns="0" tIns="0" bIns="0">
            <a:spAutoFit/>
          </a:bodyPr>
          <a:lstStyle/>
          <a:p>
            <a:pPr algn="l">
              <a:lnSpc>
                <a:spcPct val="110000"/>
              </a:lnSpc>
              <a:spcBef>
                <a:spcPts val="0"/>
              </a:spcBef>
              <a:spcAft>
                <a:spcPts val="0"/>
              </a:spcAft>
            </a:pPr>
            <a:r>
              <a:rPr sz="1600" b="0">
                <a:solidFill>
                  <a:srgbClr val="D7DEE8"/>
                </a:solidFill>
                <a:latin typeface="Inter"/>
              </a:rPr>
              <a:t>Check source, context and market relevance.</a:t>
            </a:r>
          </a:p>
        </p:txBody>
      </p:sp>
      <p:sp>
        <p:nvSpPr>
          <p:cNvPr id="13" name="TextBox 12"/>
          <p:cNvSpPr txBox="1"/>
          <p:nvPr/>
        </p:nvSpPr>
        <p:spPr>
          <a:xfrm>
            <a:off x="658368" y="4123944"/>
            <a:ext cx="731520" cy="484632"/>
          </a:xfrm>
          <a:prstGeom prst="rect">
            <a:avLst/>
          </a:prstGeom>
          <a:noFill/>
        </p:spPr>
        <p:txBody>
          <a:bodyPr wrap="square" lIns="0" rIns="0" tIns="0" bIns="0">
            <a:spAutoFit/>
          </a:bodyPr>
          <a:lstStyle/>
          <a:p>
            <a:pPr algn="l">
              <a:lnSpc>
                <a:spcPct val="110000"/>
              </a:lnSpc>
              <a:spcBef>
                <a:spcPts val="0"/>
              </a:spcBef>
              <a:spcAft>
                <a:spcPts val="0"/>
              </a:spcAft>
            </a:pPr>
            <a:r>
              <a:rPr sz="2200" b="1">
                <a:solidFill>
                  <a:srgbClr val="A3C2F1"/>
                </a:solidFill>
                <a:latin typeface="Inter"/>
              </a:rPr>
              <a:t>03</a:t>
            </a:r>
          </a:p>
        </p:txBody>
      </p:sp>
      <p:sp>
        <p:nvSpPr>
          <p:cNvPr id="14" name="TextBox 13"/>
          <p:cNvSpPr txBox="1"/>
          <p:nvPr/>
        </p:nvSpPr>
        <p:spPr>
          <a:xfrm>
            <a:off x="1453896" y="4123944"/>
            <a:ext cx="9966960" cy="393192"/>
          </a:xfrm>
          <a:prstGeom prst="rect">
            <a:avLst/>
          </a:prstGeom>
          <a:noFill/>
        </p:spPr>
        <p:txBody>
          <a:bodyPr wrap="square" lIns="0" rIns="0" tIns="0" bIns="0">
            <a:spAutoFit/>
          </a:bodyPr>
          <a:lstStyle/>
          <a:p>
            <a:pPr algn="l">
              <a:lnSpc>
                <a:spcPct val="110000"/>
              </a:lnSpc>
              <a:spcBef>
                <a:spcPts val="0"/>
              </a:spcBef>
              <a:spcAft>
                <a:spcPts val="0"/>
              </a:spcAft>
            </a:pPr>
            <a:r>
              <a:rPr sz="2300" b="1">
                <a:solidFill>
                  <a:srgbClr val="FFFFFF"/>
                </a:solidFill>
                <a:latin typeface="Inter"/>
              </a:rPr>
              <a:t>Evidence coverage</a:t>
            </a:r>
          </a:p>
        </p:txBody>
      </p:sp>
      <p:sp>
        <p:nvSpPr>
          <p:cNvPr id="15" name="TextBox 14"/>
          <p:cNvSpPr txBox="1"/>
          <p:nvPr/>
        </p:nvSpPr>
        <p:spPr>
          <a:xfrm>
            <a:off x="1453896" y="4544568"/>
            <a:ext cx="9966960" cy="310896"/>
          </a:xfrm>
          <a:prstGeom prst="rect">
            <a:avLst/>
          </a:prstGeom>
          <a:noFill/>
        </p:spPr>
        <p:txBody>
          <a:bodyPr wrap="square" lIns="0" rIns="0" tIns="0" bIns="0">
            <a:spAutoFit/>
          </a:bodyPr>
          <a:lstStyle/>
          <a:p>
            <a:pPr algn="l">
              <a:lnSpc>
                <a:spcPct val="110000"/>
              </a:lnSpc>
              <a:spcBef>
                <a:spcPts val="0"/>
              </a:spcBef>
              <a:spcAft>
                <a:spcPts val="0"/>
              </a:spcAft>
            </a:pPr>
            <a:r>
              <a:rPr sz="1600" b="0">
                <a:solidFill>
                  <a:srgbClr val="D7DEE8"/>
                </a:solidFill>
                <a:latin typeface="Inter"/>
              </a:rPr>
              <a:t>Keep missing evidence visible.</a:t>
            </a:r>
          </a:p>
        </p:txBody>
      </p:sp>
      <p:sp>
        <p:nvSpPr>
          <p:cNvPr id="16" name="TextBox 15">
            <a:hlinkClick r:id="rId3"/>
          </p:cNvPr>
          <p:cNvSpPr txBox="1"/>
          <p:nvPr/>
        </p:nvSpPr>
        <p:spPr>
          <a:xfrm>
            <a:off x="658368" y="5468112"/>
            <a:ext cx="10927080" cy="502920"/>
          </a:xfrm>
          <a:prstGeom prst="rect">
            <a:avLst/>
          </a:prstGeom>
          <a:noFill/>
        </p:spPr>
        <p:txBody>
          <a:bodyPr wrap="square" lIns="0" rIns="0" tIns="0" bIns="0">
            <a:spAutoFit/>
          </a:bodyPr>
          <a:lstStyle/>
          <a:p>
            <a:pPr algn="l">
              <a:lnSpc>
                <a:spcPct val="110000"/>
              </a:lnSpc>
              <a:spcBef>
                <a:spcPts val="0"/>
              </a:spcBef>
              <a:spcAft>
                <a:spcPts val="0"/>
              </a:spcAft>
            </a:pPr>
            <a:r>
              <a:rPr sz="2700" b="1">
                <a:solidFill>
                  <a:srgbClr val="FFFFFF"/>
                </a:solidFill>
                <a:latin typeface="Inter"/>
              </a:rPr>
              <a:t>bmw-product-intelligence.vercel.app</a:t>
            </a:r>
          </a:p>
        </p:txBody>
      </p:sp>
      <p:sp>
        <p:nvSpPr>
          <p:cNvPr id="17" name="TextBox 16"/>
          <p:cNvSpPr txBox="1"/>
          <p:nvPr/>
        </p:nvSpPr>
        <p:spPr>
          <a:xfrm>
            <a:off x="676656" y="6071616"/>
            <a:ext cx="10881360" cy="210312"/>
          </a:xfrm>
          <a:prstGeom prst="rect">
            <a:avLst/>
          </a:prstGeom>
          <a:noFill/>
        </p:spPr>
        <p:txBody>
          <a:bodyPr wrap="square" lIns="0" rIns="0" tIns="0" bIns="0">
            <a:spAutoFit/>
          </a:bodyPr>
          <a:lstStyle/>
          <a:p>
            <a:pPr algn="l">
              <a:lnSpc>
                <a:spcPct val="110000"/>
              </a:lnSpc>
              <a:spcBef>
                <a:spcPts val="0"/>
              </a:spcBef>
              <a:spcAft>
                <a:spcPts val="0"/>
              </a:spcAft>
            </a:pPr>
            <a:r>
              <a:rPr sz="1200" b="0">
                <a:solidFill>
                  <a:srgbClr val="BBBBBB"/>
                </a:solidFill>
                <a:latin typeface="Inter"/>
              </a:rPr>
              <a:t>Live app. Sign-in required. Prototype limits are listed in Q&amp;A.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TextBox 1"/>
          <p:cNvSpPr txBox="1"/>
          <p:nvPr/>
        </p:nvSpPr>
        <p:spPr>
          <a:xfrm>
            <a:off x="594360" y="274320"/>
            <a:ext cx="10607040" cy="228600"/>
          </a:xfrm>
          <a:prstGeom prst="rect">
            <a:avLst/>
          </a:prstGeom>
          <a:noFill/>
        </p:spPr>
        <p:txBody>
          <a:bodyPr wrap="square" lIns="0" rIns="0" tIns="0" bIns="0">
            <a:spAutoFit/>
          </a:bodyPr>
          <a:lstStyle/>
          <a:p>
            <a:pPr algn="l">
              <a:lnSpc>
                <a:spcPct val="110000"/>
              </a:lnSpc>
              <a:spcBef>
                <a:spcPts val="0"/>
              </a:spcBef>
              <a:spcAft>
                <a:spcPts val="0"/>
              </a:spcAft>
            </a:pPr>
            <a:r>
              <a:rPr sz="1100" b="1">
                <a:solidFill>
                  <a:srgbClr val="1C69D4"/>
                </a:solidFill>
                <a:latin typeface="Inter"/>
              </a:rPr>
              <a:t>BMW PRODUCT INTELLIGENCE  /  Q&amp;A</a:t>
            </a:r>
          </a:p>
        </p:txBody>
      </p:sp>
      <p:sp>
        <p:nvSpPr>
          <p:cNvPr id="3" name="TextBox 2"/>
          <p:cNvSpPr txBox="1"/>
          <p:nvPr/>
        </p:nvSpPr>
        <p:spPr>
          <a:xfrm>
            <a:off x="594360" y="859536"/>
            <a:ext cx="11018520" cy="1170432"/>
          </a:xfrm>
          <a:prstGeom prst="rect">
            <a:avLst/>
          </a:prstGeom>
          <a:noFill/>
        </p:spPr>
        <p:txBody>
          <a:bodyPr wrap="square" lIns="0" rIns="0" tIns="0" bIns="0">
            <a:spAutoFit/>
          </a:bodyPr>
          <a:lstStyle/>
          <a:p>
            <a:pPr algn="l">
              <a:lnSpc>
                <a:spcPct val="110000"/>
              </a:lnSpc>
              <a:spcBef>
                <a:spcPts val="0"/>
              </a:spcBef>
              <a:spcAft>
                <a:spcPts val="0"/>
              </a:spcAft>
            </a:pPr>
            <a:r>
              <a:rPr sz="3600" b="1">
                <a:solidFill>
                  <a:srgbClr val="262626"/>
                </a:solidFill>
                <a:latin typeface="Inter"/>
              </a:rPr>
              <a:t>One evidence layer.</a:t>
            </a:r>
          </a:p>
          <a:p>
            <a:pPr algn="l">
              <a:lnSpc>
                <a:spcPct val="110000"/>
              </a:lnSpc>
              <a:spcBef>
                <a:spcPts val="0"/>
              </a:spcBef>
              <a:spcAft>
                <a:spcPts val="0"/>
              </a:spcAft>
            </a:pPr>
            <a:r>
              <a:rPr sz="3600" b="1">
                <a:solidFill>
                  <a:srgbClr val="262626"/>
                </a:solidFill>
                <a:latin typeface="Inter"/>
              </a:rPr>
              <a:t>A visible chain from source to answer.</a:t>
            </a:r>
          </a:p>
        </p:txBody>
      </p:sp>
      <p:sp>
        <p:nvSpPr>
          <p:cNvPr id="4" name="Rectangle 3"/>
          <p:cNvSpPr/>
          <p:nvPr/>
        </p:nvSpPr>
        <p:spPr>
          <a:xfrm>
            <a:off x="594360" y="6428232"/>
            <a:ext cx="11000232" cy="12700"/>
          </a:xfrm>
          <a:prstGeom prst="rect">
            <a:avLst/>
          </a:prstGeom>
          <a:solidFill>
            <a:srgbClr val="E6E6E6"/>
          </a:solidFill>
          <a:ln>
            <a:solidFill>
              <a:srgbClr val="E6E6E6"/>
            </a:solidFill>
          </a:ln>
        </p:spPr>
        <p:txBody>
          <a:bodyPr rtlCol="0" anchor="ctr" lIns="0" rIns="0" tIns="0" bIns="0"/>
          <a:lstStyle/>
          <a:p>
            <a:pPr algn="ctr">
              <a:lnSpc>
                <a:spcPct val="110000"/>
              </a:lnSpc>
              <a:spcBef>
                <a:spcPts val="0"/>
              </a:spcBef>
              <a:spcAft>
                <a:spcPts val="0"/>
              </a:spcAft>
            </a:pPr>
          </a:p>
        </p:txBody>
      </p:sp>
      <p:sp>
        <p:nvSpPr>
          <p:cNvPr id="5" name="TextBox 4"/>
          <p:cNvSpPr txBox="1"/>
          <p:nvPr/>
        </p:nvSpPr>
        <p:spPr>
          <a:xfrm>
            <a:off x="594360" y="6528816"/>
            <a:ext cx="9966960" cy="164592"/>
          </a:xfrm>
          <a:prstGeom prst="rect">
            <a:avLst/>
          </a:prstGeom>
          <a:noFill/>
        </p:spPr>
        <p:txBody>
          <a:bodyPr wrap="square" lIns="0" rIns="0" tIns="0" bIns="0">
            <a:spAutoFit/>
          </a:bodyPr>
          <a:lstStyle/>
          <a:p>
            <a:pPr algn="l">
              <a:lnSpc>
                <a:spcPct val="110000"/>
              </a:lnSpc>
              <a:spcBef>
                <a:spcPts val="0"/>
              </a:spcBef>
              <a:spcAft>
                <a:spcPts val="0"/>
              </a:spcAft>
            </a:pPr>
            <a:r>
              <a:rPr sz="900" b="0">
                <a:solidFill>
                  <a:srgbClr val="6B6B6B"/>
                </a:solidFill>
                <a:latin typeface="Inter"/>
              </a:rPr>
              <a:t>BMW hackathon prototype  |  2026-10-10  |  Q&amp;A</a:t>
            </a:r>
          </a:p>
        </p:txBody>
      </p:sp>
      <p:sp>
        <p:nvSpPr>
          <p:cNvPr id="6" name="TextBox 5"/>
          <p:cNvSpPr txBox="1"/>
          <p:nvPr/>
        </p:nvSpPr>
        <p:spPr>
          <a:xfrm>
            <a:off x="11109960" y="6501384"/>
            <a:ext cx="484632" cy="228600"/>
          </a:xfrm>
          <a:prstGeom prst="rect">
            <a:avLst/>
          </a:prstGeom>
          <a:noFill/>
        </p:spPr>
        <p:txBody>
          <a:bodyPr wrap="square" lIns="0" rIns="0" tIns="0" bIns="0">
            <a:spAutoFit/>
          </a:bodyPr>
          <a:lstStyle/>
          <a:p>
            <a:pPr algn="r">
              <a:lnSpc>
                <a:spcPct val="110000"/>
              </a:lnSpc>
              <a:spcBef>
                <a:spcPts val="0"/>
              </a:spcBef>
              <a:spcAft>
                <a:spcPts val="0"/>
              </a:spcAft>
            </a:pPr>
            <a:r>
              <a:rPr sz="1000" b="0">
                <a:solidFill>
                  <a:srgbClr val="6B6B6B"/>
                </a:solidFill>
                <a:latin typeface="Inter"/>
              </a:rPr>
              <a:t>07</a:t>
            </a:r>
          </a:p>
        </p:txBody>
      </p:sp>
      <p:sp>
        <p:nvSpPr>
          <p:cNvPr id="7" name="Rectangle 6"/>
          <p:cNvSpPr/>
          <p:nvPr/>
        </p:nvSpPr>
        <p:spPr>
          <a:xfrm>
            <a:off x="640080" y="2377440"/>
            <a:ext cx="2395728" cy="1581912"/>
          </a:xfrm>
          <a:prstGeom prst="rect">
            <a:avLst/>
          </a:prstGeom>
          <a:solidFill>
            <a:srgbClr val="F6F7F9"/>
          </a:solidFill>
          <a:ln>
            <a:solidFill>
              <a:srgbClr val="F6F7F9"/>
            </a:solidFill>
          </a:ln>
        </p:spPr>
        <p:txBody>
          <a:bodyPr rtlCol="0" anchor="ctr" lIns="0" rIns="0" tIns="0" bIns="0"/>
          <a:lstStyle/>
          <a:p>
            <a:pPr algn="ctr">
              <a:lnSpc>
                <a:spcPct val="110000"/>
              </a:lnSpc>
              <a:spcBef>
                <a:spcPts val="0"/>
              </a:spcBef>
              <a:spcAft>
                <a:spcPts val="0"/>
              </a:spcAft>
            </a:pPr>
          </a:p>
        </p:txBody>
      </p:sp>
      <p:sp>
        <p:nvSpPr>
          <p:cNvPr id="8" name="TextBox 7"/>
          <p:cNvSpPr txBox="1"/>
          <p:nvPr/>
        </p:nvSpPr>
        <p:spPr>
          <a:xfrm>
            <a:off x="786384" y="2615184"/>
            <a:ext cx="2103120" cy="585216"/>
          </a:xfrm>
          <a:prstGeom prst="rect">
            <a:avLst/>
          </a:prstGeom>
          <a:noFill/>
        </p:spPr>
        <p:txBody>
          <a:bodyPr wrap="square" lIns="0" rIns="0" tIns="0" bIns="0">
            <a:spAutoFit/>
          </a:bodyPr>
          <a:lstStyle/>
          <a:p>
            <a:pPr algn="l">
              <a:lnSpc>
                <a:spcPct val="110000"/>
              </a:lnSpc>
              <a:spcBef>
                <a:spcPts val="0"/>
              </a:spcBef>
              <a:spcAft>
                <a:spcPts val="0"/>
              </a:spcAft>
            </a:pPr>
            <a:r>
              <a:rPr sz="2300" b="1">
                <a:solidFill>
                  <a:srgbClr val="1C69D4"/>
                </a:solidFill>
                <a:latin typeface="Inter"/>
              </a:rPr>
              <a:t>React</a:t>
            </a:r>
          </a:p>
        </p:txBody>
      </p:sp>
      <p:sp>
        <p:nvSpPr>
          <p:cNvPr id="9" name="TextBox 8"/>
          <p:cNvSpPr txBox="1"/>
          <p:nvPr/>
        </p:nvSpPr>
        <p:spPr>
          <a:xfrm>
            <a:off x="786384" y="3236976"/>
            <a:ext cx="2103120" cy="566928"/>
          </a:xfrm>
          <a:prstGeom prst="rect">
            <a:avLst/>
          </a:prstGeom>
          <a:noFill/>
        </p:spPr>
        <p:txBody>
          <a:bodyPr wrap="square" lIns="0" rIns="0" tIns="0" bIns="0">
            <a:spAutoFit/>
          </a:bodyPr>
          <a:lstStyle/>
          <a:p>
            <a:pPr algn="l">
              <a:lnSpc>
                <a:spcPct val="110000"/>
              </a:lnSpc>
              <a:spcBef>
                <a:spcPts val="0"/>
              </a:spcBef>
              <a:spcAft>
                <a:spcPts val="0"/>
              </a:spcAft>
            </a:pPr>
            <a:r>
              <a:rPr sz="1400" b="0">
                <a:solidFill>
                  <a:srgbClr val="262626"/>
                </a:solidFill>
                <a:latin typeface="Inter"/>
              </a:rPr>
              <a:t>Research / Evidence / Sources</a:t>
            </a:r>
          </a:p>
        </p:txBody>
      </p:sp>
      <p:sp>
        <p:nvSpPr>
          <p:cNvPr id="10" name="Rectangle 9"/>
          <p:cNvSpPr/>
          <p:nvPr/>
        </p:nvSpPr>
        <p:spPr>
          <a:xfrm>
            <a:off x="3108960" y="3191256"/>
            <a:ext cx="301751" cy="25400"/>
          </a:xfrm>
          <a:prstGeom prst="rect">
            <a:avLst/>
          </a:prstGeom>
          <a:solidFill>
            <a:srgbClr val="1C69D4"/>
          </a:solidFill>
          <a:ln>
            <a:solidFill>
              <a:srgbClr val="1C69D4"/>
            </a:solidFill>
          </a:ln>
        </p:spPr>
        <p:txBody>
          <a:bodyPr rtlCol="0" anchor="ctr" lIns="0" rIns="0" tIns="0" bIns="0"/>
          <a:lstStyle/>
          <a:p>
            <a:pPr algn="ctr">
              <a:lnSpc>
                <a:spcPct val="110000"/>
              </a:lnSpc>
              <a:spcBef>
                <a:spcPts val="0"/>
              </a:spcBef>
              <a:spcAft>
                <a:spcPts val="0"/>
              </a:spcAft>
            </a:pPr>
          </a:p>
        </p:txBody>
      </p:sp>
      <p:sp>
        <p:nvSpPr>
          <p:cNvPr id="11" name="Rectangle 10"/>
          <p:cNvSpPr/>
          <p:nvPr/>
        </p:nvSpPr>
        <p:spPr>
          <a:xfrm>
            <a:off x="3493008" y="2377440"/>
            <a:ext cx="2395728" cy="1581912"/>
          </a:xfrm>
          <a:prstGeom prst="rect">
            <a:avLst/>
          </a:prstGeom>
          <a:solidFill>
            <a:srgbClr val="F6F7F9"/>
          </a:solidFill>
          <a:ln>
            <a:solidFill>
              <a:srgbClr val="F6F7F9"/>
            </a:solidFill>
          </a:ln>
        </p:spPr>
        <p:txBody>
          <a:bodyPr rtlCol="0" anchor="ctr" lIns="0" rIns="0" tIns="0" bIns="0"/>
          <a:lstStyle/>
          <a:p>
            <a:pPr algn="ctr">
              <a:lnSpc>
                <a:spcPct val="110000"/>
              </a:lnSpc>
              <a:spcBef>
                <a:spcPts val="0"/>
              </a:spcBef>
              <a:spcAft>
                <a:spcPts val="0"/>
              </a:spcAft>
            </a:pPr>
          </a:p>
        </p:txBody>
      </p:sp>
      <p:sp>
        <p:nvSpPr>
          <p:cNvPr id="12" name="TextBox 11"/>
          <p:cNvSpPr txBox="1"/>
          <p:nvPr/>
        </p:nvSpPr>
        <p:spPr>
          <a:xfrm>
            <a:off x="3639312" y="2615184"/>
            <a:ext cx="2103120" cy="585216"/>
          </a:xfrm>
          <a:prstGeom prst="rect">
            <a:avLst/>
          </a:prstGeom>
          <a:noFill/>
        </p:spPr>
        <p:txBody>
          <a:bodyPr wrap="square" lIns="0" rIns="0" tIns="0" bIns="0">
            <a:spAutoFit/>
          </a:bodyPr>
          <a:lstStyle/>
          <a:p>
            <a:pPr algn="l">
              <a:lnSpc>
                <a:spcPct val="110000"/>
              </a:lnSpc>
              <a:spcBef>
                <a:spcPts val="0"/>
              </a:spcBef>
              <a:spcAft>
                <a:spcPts val="0"/>
              </a:spcAft>
            </a:pPr>
            <a:r>
              <a:rPr sz="2300" b="1">
                <a:solidFill>
                  <a:srgbClr val="1C69D4"/>
                </a:solidFill>
                <a:latin typeface="Inter"/>
              </a:rPr>
              <a:t>FastAPI</a:t>
            </a:r>
          </a:p>
        </p:txBody>
      </p:sp>
      <p:sp>
        <p:nvSpPr>
          <p:cNvPr id="13" name="TextBox 12"/>
          <p:cNvSpPr txBox="1"/>
          <p:nvPr/>
        </p:nvSpPr>
        <p:spPr>
          <a:xfrm>
            <a:off x="3639312" y="3236976"/>
            <a:ext cx="2103120" cy="566928"/>
          </a:xfrm>
          <a:prstGeom prst="rect">
            <a:avLst/>
          </a:prstGeom>
          <a:noFill/>
        </p:spPr>
        <p:txBody>
          <a:bodyPr wrap="square" lIns="0" rIns="0" tIns="0" bIns="0">
            <a:spAutoFit/>
          </a:bodyPr>
          <a:lstStyle/>
          <a:p>
            <a:pPr algn="l">
              <a:lnSpc>
                <a:spcPct val="110000"/>
              </a:lnSpc>
              <a:spcBef>
                <a:spcPts val="0"/>
              </a:spcBef>
              <a:spcAft>
                <a:spcPts val="0"/>
              </a:spcAft>
            </a:pPr>
            <a:r>
              <a:rPr sz="1400" b="0">
                <a:solidFill>
                  <a:srgbClr val="262626"/>
                </a:solidFill>
                <a:latin typeface="Inter"/>
              </a:rPr>
              <a:t>/api and server-side sessions</a:t>
            </a:r>
          </a:p>
        </p:txBody>
      </p:sp>
      <p:sp>
        <p:nvSpPr>
          <p:cNvPr id="14" name="Rectangle 13"/>
          <p:cNvSpPr/>
          <p:nvPr/>
        </p:nvSpPr>
        <p:spPr>
          <a:xfrm>
            <a:off x="5961888" y="3191256"/>
            <a:ext cx="301751" cy="25400"/>
          </a:xfrm>
          <a:prstGeom prst="rect">
            <a:avLst/>
          </a:prstGeom>
          <a:solidFill>
            <a:srgbClr val="1C69D4"/>
          </a:solidFill>
          <a:ln>
            <a:solidFill>
              <a:srgbClr val="1C69D4"/>
            </a:solidFill>
          </a:ln>
        </p:spPr>
        <p:txBody>
          <a:bodyPr rtlCol="0" anchor="ctr" lIns="0" rIns="0" tIns="0" bIns="0"/>
          <a:lstStyle/>
          <a:p>
            <a:pPr algn="ctr">
              <a:lnSpc>
                <a:spcPct val="110000"/>
              </a:lnSpc>
              <a:spcBef>
                <a:spcPts val="0"/>
              </a:spcBef>
              <a:spcAft>
                <a:spcPts val="0"/>
              </a:spcAft>
            </a:pPr>
          </a:p>
        </p:txBody>
      </p:sp>
      <p:sp>
        <p:nvSpPr>
          <p:cNvPr id="15" name="Rectangle 14"/>
          <p:cNvSpPr/>
          <p:nvPr/>
        </p:nvSpPr>
        <p:spPr>
          <a:xfrm>
            <a:off x="6345936" y="2377440"/>
            <a:ext cx="2395728" cy="1581912"/>
          </a:xfrm>
          <a:prstGeom prst="rect">
            <a:avLst/>
          </a:prstGeom>
          <a:solidFill>
            <a:srgbClr val="F6F7F9"/>
          </a:solidFill>
          <a:ln>
            <a:solidFill>
              <a:srgbClr val="F6F7F9"/>
            </a:solidFill>
          </a:ln>
        </p:spPr>
        <p:txBody>
          <a:bodyPr rtlCol="0" anchor="ctr" lIns="0" rIns="0" tIns="0" bIns="0"/>
          <a:lstStyle/>
          <a:p>
            <a:pPr algn="ctr">
              <a:lnSpc>
                <a:spcPct val="110000"/>
              </a:lnSpc>
              <a:spcBef>
                <a:spcPts val="0"/>
              </a:spcBef>
              <a:spcAft>
                <a:spcPts val="0"/>
              </a:spcAft>
            </a:pPr>
          </a:p>
        </p:txBody>
      </p:sp>
      <p:sp>
        <p:nvSpPr>
          <p:cNvPr id="16" name="TextBox 15"/>
          <p:cNvSpPr txBox="1"/>
          <p:nvPr/>
        </p:nvSpPr>
        <p:spPr>
          <a:xfrm>
            <a:off x="6492240" y="2615184"/>
            <a:ext cx="2103120" cy="585216"/>
          </a:xfrm>
          <a:prstGeom prst="rect">
            <a:avLst/>
          </a:prstGeom>
          <a:noFill/>
        </p:spPr>
        <p:txBody>
          <a:bodyPr wrap="square" lIns="0" rIns="0" tIns="0" bIns="0">
            <a:spAutoFit/>
          </a:bodyPr>
          <a:lstStyle/>
          <a:p>
            <a:pPr algn="l">
              <a:lnSpc>
                <a:spcPct val="110000"/>
              </a:lnSpc>
              <a:spcBef>
                <a:spcPts val="0"/>
              </a:spcBef>
              <a:spcAft>
                <a:spcPts val="0"/>
              </a:spcAft>
            </a:pPr>
            <a:r>
              <a:rPr sz="2300" b="1">
                <a:solidFill>
                  <a:srgbClr val="1C69D4"/>
                </a:solidFill>
                <a:latin typeface="Inter"/>
              </a:rPr>
              <a:t>Knowledge</a:t>
            </a:r>
          </a:p>
        </p:txBody>
      </p:sp>
      <p:sp>
        <p:nvSpPr>
          <p:cNvPr id="17" name="TextBox 16"/>
          <p:cNvSpPr txBox="1"/>
          <p:nvPr/>
        </p:nvSpPr>
        <p:spPr>
          <a:xfrm>
            <a:off x="6492240" y="3236976"/>
            <a:ext cx="2103120" cy="566928"/>
          </a:xfrm>
          <a:prstGeom prst="rect">
            <a:avLst/>
          </a:prstGeom>
          <a:noFill/>
        </p:spPr>
        <p:txBody>
          <a:bodyPr wrap="square" lIns="0" rIns="0" tIns="0" bIns="0">
            <a:spAutoFit/>
          </a:bodyPr>
          <a:lstStyle/>
          <a:p>
            <a:pPr algn="l">
              <a:lnSpc>
                <a:spcPct val="110000"/>
              </a:lnSpc>
              <a:spcBef>
                <a:spcPts val="0"/>
              </a:spcBef>
              <a:spcAft>
                <a:spcPts val="0"/>
              </a:spcAft>
            </a:pPr>
            <a:r>
              <a:rPr sz="1400" b="0">
                <a:solidFill>
                  <a:srgbClr val="262626"/>
                </a:solidFill>
                <a:latin typeface="Inter"/>
              </a:rPr>
              <a:t>Shared tools: search,
lookup, count and cite</a:t>
            </a:r>
          </a:p>
        </p:txBody>
      </p:sp>
      <p:sp>
        <p:nvSpPr>
          <p:cNvPr id="18" name="Rectangle 17"/>
          <p:cNvSpPr/>
          <p:nvPr/>
        </p:nvSpPr>
        <p:spPr>
          <a:xfrm>
            <a:off x="8814816" y="3191256"/>
            <a:ext cx="301752" cy="25400"/>
          </a:xfrm>
          <a:prstGeom prst="rect">
            <a:avLst/>
          </a:prstGeom>
          <a:solidFill>
            <a:srgbClr val="1C69D4"/>
          </a:solidFill>
          <a:ln>
            <a:solidFill>
              <a:srgbClr val="1C69D4"/>
            </a:solidFill>
          </a:ln>
        </p:spPr>
        <p:txBody>
          <a:bodyPr rtlCol="0" anchor="ctr" lIns="0" rIns="0" tIns="0" bIns="0"/>
          <a:lstStyle/>
          <a:p>
            <a:pPr algn="ctr">
              <a:lnSpc>
                <a:spcPct val="110000"/>
              </a:lnSpc>
              <a:spcBef>
                <a:spcPts val="0"/>
              </a:spcBef>
              <a:spcAft>
                <a:spcPts val="0"/>
              </a:spcAft>
            </a:pPr>
          </a:p>
        </p:txBody>
      </p:sp>
      <p:sp>
        <p:nvSpPr>
          <p:cNvPr id="19" name="Rectangle 18"/>
          <p:cNvSpPr/>
          <p:nvPr/>
        </p:nvSpPr>
        <p:spPr>
          <a:xfrm>
            <a:off x="9198863" y="2377440"/>
            <a:ext cx="2395728" cy="1581912"/>
          </a:xfrm>
          <a:prstGeom prst="rect">
            <a:avLst/>
          </a:prstGeom>
          <a:solidFill>
            <a:srgbClr val="F6F7F9"/>
          </a:solidFill>
          <a:ln>
            <a:solidFill>
              <a:srgbClr val="F6F7F9"/>
            </a:solidFill>
          </a:ln>
        </p:spPr>
        <p:txBody>
          <a:bodyPr rtlCol="0" anchor="ctr" lIns="0" rIns="0" tIns="0" bIns="0"/>
          <a:lstStyle/>
          <a:p>
            <a:pPr algn="ctr">
              <a:lnSpc>
                <a:spcPct val="110000"/>
              </a:lnSpc>
              <a:spcBef>
                <a:spcPts val="0"/>
              </a:spcBef>
              <a:spcAft>
                <a:spcPts val="0"/>
              </a:spcAft>
            </a:pPr>
          </a:p>
        </p:txBody>
      </p:sp>
      <p:sp>
        <p:nvSpPr>
          <p:cNvPr id="20" name="TextBox 19"/>
          <p:cNvSpPr txBox="1"/>
          <p:nvPr/>
        </p:nvSpPr>
        <p:spPr>
          <a:xfrm>
            <a:off x="9345167" y="2615184"/>
            <a:ext cx="2103120" cy="585216"/>
          </a:xfrm>
          <a:prstGeom prst="rect">
            <a:avLst/>
          </a:prstGeom>
          <a:noFill/>
        </p:spPr>
        <p:txBody>
          <a:bodyPr wrap="square" lIns="0" rIns="0" tIns="0" bIns="0">
            <a:spAutoFit/>
          </a:bodyPr>
          <a:lstStyle/>
          <a:p>
            <a:pPr algn="l">
              <a:lnSpc>
                <a:spcPct val="110000"/>
              </a:lnSpc>
              <a:spcBef>
                <a:spcPts val="0"/>
              </a:spcBef>
              <a:spcAft>
                <a:spcPts val="0"/>
              </a:spcAft>
            </a:pPr>
            <a:r>
              <a:rPr sz="2300" b="1">
                <a:solidFill>
                  <a:srgbClr val="1C69D4"/>
                </a:solidFill>
                <a:latin typeface="Inter"/>
              </a:rPr>
              <a:t>Supabase</a:t>
            </a:r>
          </a:p>
        </p:txBody>
      </p:sp>
      <p:sp>
        <p:nvSpPr>
          <p:cNvPr id="21" name="TextBox 20"/>
          <p:cNvSpPr txBox="1"/>
          <p:nvPr/>
        </p:nvSpPr>
        <p:spPr>
          <a:xfrm>
            <a:off x="9345167" y="3236976"/>
            <a:ext cx="2103120" cy="566928"/>
          </a:xfrm>
          <a:prstGeom prst="rect">
            <a:avLst/>
          </a:prstGeom>
          <a:noFill/>
        </p:spPr>
        <p:txBody>
          <a:bodyPr wrap="square" lIns="0" rIns="0" tIns="0" bIns="0">
            <a:spAutoFit/>
          </a:bodyPr>
          <a:lstStyle/>
          <a:p>
            <a:pPr algn="l">
              <a:lnSpc>
                <a:spcPct val="110000"/>
              </a:lnSpc>
              <a:spcBef>
                <a:spcPts val="0"/>
              </a:spcBef>
              <a:spcAft>
                <a:spcPts val="0"/>
              </a:spcAft>
            </a:pPr>
            <a:r>
              <a:rPr sz="1400" b="0">
                <a:solidFill>
                  <a:srgbClr val="262626"/>
                </a:solidFill>
                <a:latin typeface="Inter"/>
              </a:rPr>
              <a:t>Postgres + pgvector</a:t>
            </a:r>
          </a:p>
        </p:txBody>
      </p:sp>
      <p:sp>
        <p:nvSpPr>
          <p:cNvPr id="22" name="Rectangle 21"/>
          <p:cNvSpPr/>
          <p:nvPr/>
        </p:nvSpPr>
        <p:spPr>
          <a:xfrm>
            <a:off x="640080" y="4343400"/>
            <a:ext cx="10981944" cy="950976"/>
          </a:xfrm>
          <a:prstGeom prst="rect">
            <a:avLst/>
          </a:prstGeom>
          <a:solidFill>
            <a:srgbClr val="1A2129"/>
          </a:solidFill>
          <a:ln>
            <a:solidFill>
              <a:srgbClr val="1A2129"/>
            </a:solidFill>
          </a:ln>
        </p:spPr>
        <p:txBody>
          <a:bodyPr rtlCol="0" anchor="ctr" lIns="0" rIns="0" tIns="0" bIns="0"/>
          <a:lstStyle/>
          <a:p>
            <a:pPr algn="ctr">
              <a:lnSpc>
                <a:spcPct val="110000"/>
              </a:lnSpc>
              <a:spcBef>
                <a:spcPts val="0"/>
              </a:spcBef>
              <a:spcAft>
                <a:spcPts val="0"/>
              </a:spcAft>
            </a:pPr>
          </a:p>
        </p:txBody>
      </p:sp>
      <p:sp>
        <p:nvSpPr>
          <p:cNvPr id="23" name="TextBox 22"/>
          <p:cNvSpPr txBox="1"/>
          <p:nvPr/>
        </p:nvSpPr>
        <p:spPr>
          <a:xfrm>
            <a:off x="877824" y="4590288"/>
            <a:ext cx="10497312" cy="466344"/>
          </a:xfrm>
          <a:prstGeom prst="rect">
            <a:avLst/>
          </a:prstGeom>
          <a:noFill/>
        </p:spPr>
        <p:txBody>
          <a:bodyPr wrap="square" lIns="0" rIns="0" tIns="0" bIns="0">
            <a:spAutoFit/>
          </a:bodyPr>
          <a:lstStyle/>
          <a:p>
            <a:pPr algn="l">
              <a:lnSpc>
                <a:spcPct val="110000"/>
              </a:lnSpc>
              <a:spcBef>
                <a:spcPts val="0"/>
              </a:spcBef>
              <a:spcAft>
                <a:spcPts val="0"/>
              </a:spcAft>
            </a:pPr>
            <a:r>
              <a:rPr sz="2400" b="1">
                <a:solidFill>
                  <a:srgbClr val="FFFFFF"/>
                </a:solidFill>
                <a:latin typeface="Inter"/>
              </a:rPr>
              <a:t>LangGraph loop + Critic checks + Postgres checkpoints</a:t>
            </a:r>
          </a:p>
        </p:txBody>
      </p:sp>
      <p:sp>
        <p:nvSpPr>
          <p:cNvPr id="24" name="TextBox 23"/>
          <p:cNvSpPr txBox="1"/>
          <p:nvPr/>
        </p:nvSpPr>
        <p:spPr>
          <a:xfrm>
            <a:off x="667512" y="5532120"/>
            <a:ext cx="10927080" cy="649224"/>
          </a:xfrm>
          <a:prstGeom prst="rect">
            <a:avLst/>
          </a:prstGeom>
          <a:noFill/>
        </p:spPr>
        <p:txBody>
          <a:bodyPr wrap="square" lIns="0" rIns="0" tIns="0" bIns="0">
            <a:spAutoFit/>
          </a:bodyPr>
          <a:lstStyle/>
          <a:p>
            <a:pPr algn="l">
              <a:lnSpc>
                <a:spcPct val="110000"/>
              </a:lnSpc>
              <a:spcBef>
                <a:spcPts val="0"/>
              </a:spcBef>
              <a:spcAft>
                <a:spcPts val="0"/>
              </a:spcAft>
            </a:pPr>
            <a:r>
              <a:rPr sz="1700" b="0">
                <a:solidFill>
                  <a:srgbClr val="6B6B6B"/>
                </a:solidFill>
                <a:latin typeface="Inter"/>
              </a:rPr>
              <a:t>Current hosting: in-process research, 300-second function setting.</a:t>
            </a:r>
          </a:p>
          <a:p>
            <a:pPr algn="l">
              <a:lnSpc>
                <a:spcPct val="110000"/>
              </a:lnSpc>
              <a:spcBef>
                <a:spcPts val="0"/>
              </a:spcBef>
              <a:spcAft>
                <a:spcPts val="0"/>
              </a:spcAft>
            </a:pPr>
            <a:r>
              <a:rPr sz="1700" b="0">
                <a:solidFill>
                  <a:srgbClr val="6B6B6B"/>
                </a:solidFill>
                <a:latin typeface="Inter"/>
              </a:rPr>
              <a:t>A durable worker remains a next step for longer runs.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TextBox 1"/>
          <p:cNvSpPr txBox="1"/>
          <p:nvPr/>
        </p:nvSpPr>
        <p:spPr>
          <a:xfrm>
            <a:off x="594360" y="274320"/>
            <a:ext cx="10607040" cy="228600"/>
          </a:xfrm>
          <a:prstGeom prst="rect">
            <a:avLst/>
          </a:prstGeom>
          <a:noFill/>
        </p:spPr>
        <p:txBody>
          <a:bodyPr wrap="square" lIns="0" rIns="0" tIns="0" bIns="0">
            <a:spAutoFit/>
          </a:bodyPr>
          <a:lstStyle/>
          <a:p>
            <a:pPr algn="l">
              <a:lnSpc>
                <a:spcPct val="110000"/>
              </a:lnSpc>
              <a:spcBef>
                <a:spcPts val="0"/>
              </a:spcBef>
              <a:spcAft>
                <a:spcPts val="0"/>
              </a:spcAft>
            </a:pPr>
            <a:r>
              <a:rPr sz="1100" b="1">
                <a:solidFill>
                  <a:srgbClr val="1C69D4"/>
                </a:solidFill>
                <a:latin typeface="Inter"/>
              </a:rPr>
              <a:t>BMW PRODUCT INTELLIGENCE  /  Q&amp;A</a:t>
            </a:r>
          </a:p>
        </p:txBody>
      </p:sp>
      <p:sp>
        <p:nvSpPr>
          <p:cNvPr id="3" name="TextBox 2"/>
          <p:cNvSpPr txBox="1"/>
          <p:nvPr/>
        </p:nvSpPr>
        <p:spPr>
          <a:xfrm>
            <a:off x="594360" y="859536"/>
            <a:ext cx="11018520" cy="1170432"/>
          </a:xfrm>
          <a:prstGeom prst="rect">
            <a:avLst/>
          </a:prstGeom>
          <a:noFill/>
        </p:spPr>
        <p:txBody>
          <a:bodyPr wrap="square" lIns="0" rIns="0" tIns="0" bIns="0">
            <a:spAutoFit/>
          </a:bodyPr>
          <a:lstStyle/>
          <a:p>
            <a:pPr algn="l">
              <a:lnSpc>
                <a:spcPct val="110000"/>
              </a:lnSpc>
              <a:spcBef>
                <a:spcPts val="0"/>
              </a:spcBef>
              <a:spcAft>
                <a:spcPts val="0"/>
              </a:spcAft>
            </a:pPr>
            <a:r>
              <a:rPr sz="3600" b="1">
                <a:solidFill>
                  <a:srgbClr val="262626"/>
                </a:solidFill>
                <a:latin typeface="Inter"/>
              </a:rPr>
              <a:t>Coverage is uneven.</a:t>
            </a:r>
          </a:p>
          <a:p>
            <a:pPr algn="l">
              <a:lnSpc>
                <a:spcPct val="110000"/>
              </a:lnSpc>
              <a:spcBef>
                <a:spcPts val="0"/>
              </a:spcBef>
              <a:spcAft>
                <a:spcPts val="0"/>
              </a:spcAft>
            </a:pPr>
            <a:r>
              <a:rPr sz="3600" b="1">
                <a:solidFill>
                  <a:srgbClr val="262626"/>
                </a:solidFill>
                <a:latin typeface="Inter"/>
              </a:rPr>
              <a:t>A source tag still needs review.</a:t>
            </a:r>
          </a:p>
        </p:txBody>
      </p:sp>
      <p:sp>
        <p:nvSpPr>
          <p:cNvPr id="4" name="Rectangle 3"/>
          <p:cNvSpPr/>
          <p:nvPr/>
        </p:nvSpPr>
        <p:spPr>
          <a:xfrm>
            <a:off x="594360" y="6428232"/>
            <a:ext cx="11000232" cy="12700"/>
          </a:xfrm>
          <a:prstGeom prst="rect">
            <a:avLst/>
          </a:prstGeom>
          <a:solidFill>
            <a:srgbClr val="E6E6E6"/>
          </a:solidFill>
          <a:ln>
            <a:solidFill>
              <a:srgbClr val="E6E6E6"/>
            </a:solidFill>
          </a:ln>
        </p:spPr>
        <p:txBody>
          <a:bodyPr rtlCol="0" anchor="ctr" lIns="0" rIns="0" tIns="0" bIns="0"/>
          <a:lstStyle/>
          <a:p>
            <a:pPr algn="ctr">
              <a:lnSpc>
                <a:spcPct val="110000"/>
              </a:lnSpc>
              <a:spcBef>
                <a:spcPts val="0"/>
              </a:spcBef>
              <a:spcAft>
                <a:spcPts val="0"/>
              </a:spcAft>
            </a:pPr>
          </a:p>
        </p:txBody>
      </p:sp>
      <p:sp>
        <p:nvSpPr>
          <p:cNvPr id="5" name="TextBox 4"/>
          <p:cNvSpPr txBox="1"/>
          <p:nvPr/>
        </p:nvSpPr>
        <p:spPr>
          <a:xfrm>
            <a:off x="594360" y="6528816"/>
            <a:ext cx="9966960" cy="164592"/>
          </a:xfrm>
          <a:prstGeom prst="rect">
            <a:avLst/>
          </a:prstGeom>
          <a:noFill/>
        </p:spPr>
        <p:txBody>
          <a:bodyPr wrap="square" lIns="0" rIns="0" tIns="0" bIns="0">
            <a:spAutoFit/>
          </a:bodyPr>
          <a:lstStyle/>
          <a:p>
            <a:pPr algn="l">
              <a:lnSpc>
                <a:spcPct val="110000"/>
              </a:lnSpc>
              <a:spcBef>
                <a:spcPts val="0"/>
              </a:spcBef>
              <a:spcAft>
                <a:spcPts val="0"/>
              </a:spcAft>
            </a:pPr>
            <a:r>
              <a:rPr sz="900" b="0">
                <a:solidFill>
                  <a:srgbClr val="6B6B6B"/>
                </a:solidFill>
                <a:latin typeface="Inter"/>
              </a:rPr>
              <a:t>BMW hackathon prototype  |  2026-10-10  |  Q&amp;A</a:t>
            </a:r>
          </a:p>
        </p:txBody>
      </p:sp>
      <p:sp>
        <p:nvSpPr>
          <p:cNvPr id="6" name="TextBox 5"/>
          <p:cNvSpPr txBox="1"/>
          <p:nvPr/>
        </p:nvSpPr>
        <p:spPr>
          <a:xfrm>
            <a:off x="11109960" y="6501384"/>
            <a:ext cx="484632" cy="228600"/>
          </a:xfrm>
          <a:prstGeom prst="rect">
            <a:avLst/>
          </a:prstGeom>
          <a:noFill/>
        </p:spPr>
        <p:txBody>
          <a:bodyPr wrap="square" lIns="0" rIns="0" tIns="0" bIns="0">
            <a:spAutoFit/>
          </a:bodyPr>
          <a:lstStyle/>
          <a:p>
            <a:pPr algn="r">
              <a:lnSpc>
                <a:spcPct val="110000"/>
              </a:lnSpc>
              <a:spcBef>
                <a:spcPts val="0"/>
              </a:spcBef>
              <a:spcAft>
                <a:spcPts val="0"/>
              </a:spcAft>
            </a:pPr>
            <a:r>
              <a:rPr sz="1000" b="0">
                <a:solidFill>
                  <a:srgbClr val="6B6B6B"/>
                </a:solidFill>
                <a:latin typeface="Inter"/>
              </a:rPr>
              <a:t>08</a:t>
            </a:r>
          </a:p>
        </p:txBody>
      </p:sp>
      <p:sp>
        <p:nvSpPr>
          <p:cNvPr id="7" name="TextBox 6"/>
          <p:cNvSpPr txBox="1"/>
          <p:nvPr/>
        </p:nvSpPr>
        <p:spPr>
          <a:xfrm>
            <a:off x="658368" y="2414015"/>
            <a:ext cx="2267712" cy="393192"/>
          </a:xfrm>
          <a:prstGeom prst="rect">
            <a:avLst/>
          </a:prstGeom>
          <a:noFill/>
        </p:spPr>
        <p:txBody>
          <a:bodyPr wrap="square" lIns="0" rIns="0" tIns="0" bIns="0">
            <a:spAutoFit/>
          </a:bodyPr>
          <a:lstStyle/>
          <a:p>
            <a:pPr algn="l">
              <a:lnSpc>
                <a:spcPct val="110000"/>
              </a:lnSpc>
              <a:spcBef>
                <a:spcPts val="0"/>
              </a:spcBef>
              <a:spcAft>
                <a:spcPts val="0"/>
              </a:spcAft>
            </a:pPr>
            <a:r>
              <a:rPr sz="1800" b="0">
                <a:solidFill>
                  <a:srgbClr val="262626"/>
                </a:solidFill>
                <a:latin typeface="Inter"/>
              </a:rPr>
              <a:t>United States</a:t>
            </a:r>
          </a:p>
        </p:txBody>
      </p:sp>
      <p:sp>
        <p:nvSpPr>
          <p:cNvPr id="8" name="Rectangle 7"/>
          <p:cNvSpPr/>
          <p:nvPr/>
        </p:nvSpPr>
        <p:spPr>
          <a:xfrm>
            <a:off x="3017520" y="2432303"/>
            <a:ext cx="3977639" cy="338328"/>
          </a:xfrm>
          <a:prstGeom prst="rect">
            <a:avLst/>
          </a:prstGeom>
          <a:solidFill>
            <a:srgbClr val="F6F7F9"/>
          </a:solidFill>
          <a:ln>
            <a:solidFill>
              <a:srgbClr val="F6F7F9"/>
            </a:solidFill>
          </a:ln>
        </p:spPr>
        <p:txBody>
          <a:bodyPr rtlCol="0" anchor="ctr" lIns="0" rIns="0" tIns="0" bIns="0"/>
          <a:lstStyle/>
          <a:p>
            <a:pPr algn="ctr">
              <a:lnSpc>
                <a:spcPct val="110000"/>
              </a:lnSpc>
              <a:spcBef>
                <a:spcPts val="0"/>
              </a:spcBef>
              <a:spcAft>
                <a:spcPts val="0"/>
              </a:spcAft>
            </a:pPr>
          </a:p>
        </p:txBody>
      </p:sp>
      <p:sp>
        <p:nvSpPr>
          <p:cNvPr id="9" name="Rectangle 8"/>
          <p:cNvSpPr/>
          <p:nvPr/>
        </p:nvSpPr>
        <p:spPr>
          <a:xfrm>
            <a:off x="3017520" y="2432303"/>
            <a:ext cx="3977639" cy="338328"/>
          </a:xfrm>
          <a:prstGeom prst="rect">
            <a:avLst/>
          </a:prstGeom>
          <a:solidFill>
            <a:srgbClr val="1C69D4"/>
          </a:solidFill>
          <a:ln>
            <a:solidFill>
              <a:srgbClr val="1C69D4"/>
            </a:solidFill>
          </a:ln>
        </p:spPr>
        <p:txBody>
          <a:bodyPr rtlCol="0" anchor="ctr" lIns="0" rIns="0" tIns="0" bIns="0"/>
          <a:lstStyle/>
          <a:p>
            <a:pPr algn="ctr">
              <a:lnSpc>
                <a:spcPct val="110000"/>
              </a:lnSpc>
              <a:spcBef>
                <a:spcPts val="0"/>
              </a:spcBef>
              <a:spcAft>
                <a:spcPts val="0"/>
              </a:spcAft>
            </a:pPr>
          </a:p>
        </p:txBody>
      </p:sp>
      <p:sp>
        <p:nvSpPr>
          <p:cNvPr id="10" name="TextBox 9"/>
          <p:cNvSpPr txBox="1"/>
          <p:nvPr/>
        </p:nvSpPr>
        <p:spPr>
          <a:xfrm>
            <a:off x="7178040" y="2386584"/>
            <a:ext cx="960120" cy="448056"/>
          </a:xfrm>
          <a:prstGeom prst="rect">
            <a:avLst/>
          </a:prstGeom>
          <a:noFill/>
        </p:spPr>
        <p:txBody>
          <a:bodyPr wrap="square" lIns="0" rIns="0" tIns="0" bIns="0">
            <a:spAutoFit/>
          </a:bodyPr>
          <a:lstStyle/>
          <a:p>
            <a:pPr algn="r">
              <a:lnSpc>
                <a:spcPct val="110000"/>
              </a:lnSpc>
              <a:spcBef>
                <a:spcPts val="0"/>
              </a:spcBef>
              <a:spcAft>
                <a:spcPts val="0"/>
              </a:spcAft>
            </a:pPr>
            <a:r>
              <a:rPr sz="2400" b="1">
                <a:solidFill>
                  <a:srgbClr val="1C69D4"/>
                </a:solidFill>
                <a:latin typeface="Inter"/>
              </a:rPr>
              <a:t>8,783</a:t>
            </a:r>
          </a:p>
        </p:txBody>
      </p:sp>
      <p:sp>
        <p:nvSpPr>
          <p:cNvPr id="11" name="TextBox 10"/>
          <p:cNvSpPr txBox="1"/>
          <p:nvPr/>
        </p:nvSpPr>
        <p:spPr>
          <a:xfrm>
            <a:off x="658368" y="3200399"/>
            <a:ext cx="2267712" cy="393192"/>
          </a:xfrm>
          <a:prstGeom prst="rect">
            <a:avLst/>
          </a:prstGeom>
          <a:noFill/>
        </p:spPr>
        <p:txBody>
          <a:bodyPr wrap="square" lIns="0" rIns="0" tIns="0" bIns="0">
            <a:spAutoFit/>
          </a:bodyPr>
          <a:lstStyle/>
          <a:p>
            <a:pPr algn="l">
              <a:lnSpc>
                <a:spcPct val="110000"/>
              </a:lnSpc>
              <a:spcBef>
                <a:spcPts val="0"/>
              </a:spcBef>
              <a:spcAft>
                <a:spcPts val="0"/>
              </a:spcAft>
            </a:pPr>
            <a:r>
              <a:rPr sz="1800" b="0">
                <a:solidFill>
                  <a:srgbClr val="262626"/>
                </a:solidFill>
                <a:latin typeface="Inter"/>
              </a:rPr>
              <a:t>Europe</a:t>
            </a:r>
          </a:p>
        </p:txBody>
      </p:sp>
      <p:sp>
        <p:nvSpPr>
          <p:cNvPr id="12" name="Rectangle 11"/>
          <p:cNvSpPr/>
          <p:nvPr/>
        </p:nvSpPr>
        <p:spPr>
          <a:xfrm>
            <a:off x="3017520" y="3218687"/>
            <a:ext cx="3977639" cy="338328"/>
          </a:xfrm>
          <a:prstGeom prst="rect">
            <a:avLst/>
          </a:prstGeom>
          <a:solidFill>
            <a:srgbClr val="F6F7F9"/>
          </a:solidFill>
          <a:ln>
            <a:solidFill>
              <a:srgbClr val="F6F7F9"/>
            </a:solidFill>
          </a:ln>
        </p:spPr>
        <p:txBody>
          <a:bodyPr rtlCol="0" anchor="ctr" lIns="0" rIns="0" tIns="0" bIns="0"/>
          <a:lstStyle/>
          <a:p>
            <a:pPr algn="ctr">
              <a:lnSpc>
                <a:spcPct val="110000"/>
              </a:lnSpc>
              <a:spcBef>
                <a:spcPts val="0"/>
              </a:spcBef>
              <a:spcAft>
                <a:spcPts val="0"/>
              </a:spcAft>
            </a:pPr>
          </a:p>
        </p:txBody>
      </p:sp>
      <p:sp>
        <p:nvSpPr>
          <p:cNvPr id="13" name="Rectangle 12"/>
          <p:cNvSpPr/>
          <p:nvPr/>
        </p:nvSpPr>
        <p:spPr>
          <a:xfrm>
            <a:off x="3017520" y="3218687"/>
            <a:ext cx="1490879" cy="338328"/>
          </a:xfrm>
          <a:prstGeom prst="rect">
            <a:avLst/>
          </a:prstGeom>
          <a:solidFill>
            <a:srgbClr val="1C69D4"/>
          </a:solidFill>
          <a:ln>
            <a:solidFill>
              <a:srgbClr val="1C69D4"/>
            </a:solidFill>
          </a:ln>
        </p:spPr>
        <p:txBody>
          <a:bodyPr rtlCol="0" anchor="ctr" lIns="0" rIns="0" tIns="0" bIns="0"/>
          <a:lstStyle/>
          <a:p>
            <a:pPr algn="ctr">
              <a:lnSpc>
                <a:spcPct val="110000"/>
              </a:lnSpc>
              <a:spcBef>
                <a:spcPts val="0"/>
              </a:spcBef>
              <a:spcAft>
                <a:spcPts val="0"/>
              </a:spcAft>
            </a:pPr>
          </a:p>
        </p:txBody>
      </p:sp>
      <p:sp>
        <p:nvSpPr>
          <p:cNvPr id="14" name="TextBox 13"/>
          <p:cNvSpPr txBox="1"/>
          <p:nvPr/>
        </p:nvSpPr>
        <p:spPr>
          <a:xfrm>
            <a:off x="7178040" y="3172968"/>
            <a:ext cx="960120" cy="448056"/>
          </a:xfrm>
          <a:prstGeom prst="rect">
            <a:avLst/>
          </a:prstGeom>
          <a:noFill/>
        </p:spPr>
        <p:txBody>
          <a:bodyPr wrap="square" lIns="0" rIns="0" tIns="0" bIns="0">
            <a:spAutoFit/>
          </a:bodyPr>
          <a:lstStyle/>
          <a:p>
            <a:pPr algn="r">
              <a:lnSpc>
                <a:spcPct val="110000"/>
              </a:lnSpc>
              <a:spcBef>
                <a:spcPts val="0"/>
              </a:spcBef>
              <a:spcAft>
                <a:spcPts val="0"/>
              </a:spcAft>
            </a:pPr>
            <a:r>
              <a:rPr sz="2400" b="1">
                <a:solidFill>
                  <a:srgbClr val="1C69D4"/>
                </a:solidFill>
                <a:latin typeface="Inter"/>
              </a:rPr>
              <a:t>3,292</a:t>
            </a:r>
          </a:p>
        </p:txBody>
      </p:sp>
      <p:sp>
        <p:nvSpPr>
          <p:cNvPr id="15" name="TextBox 14"/>
          <p:cNvSpPr txBox="1"/>
          <p:nvPr/>
        </p:nvSpPr>
        <p:spPr>
          <a:xfrm>
            <a:off x="658368" y="3986784"/>
            <a:ext cx="2267712" cy="393192"/>
          </a:xfrm>
          <a:prstGeom prst="rect">
            <a:avLst/>
          </a:prstGeom>
          <a:noFill/>
        </p:spPr>
        <p:txBody>
          <a:bodyPr wrap="square" lIns="0" rIns="0" tIns="0" bIns="0">
            <a:spAutoFit/>
          </a:bodyPr>
          <a:lstStyle/>
          <a:p>
            <a:pPr algn="l">
              <a:lnSpc>
                <a:spcPct val="110000"/>
              </a:lnSpc>
              <a:spcBef>
                <a:spcPts val="0"/>
              </a:spcBef>
              <a:spcAft>
                <a:spcPts val="0"/>
              </a:spcAft>
            </a:pPr>
            <a:r>
              <a:rPr sz="1800" b="0">
                <a:solidFill>
                  <a:srgbClr val="262626"/>
                </a:solidFill>
                <a:latin typeface="Inter"/>
              </a:rPr>
              <a:t>Rest of world</a:t>
            </a:r>
          </a:p>
        </p:txBody>
      </p:sp>
      <p:sp>
        <p:nvSpPr>
          <p:cNvPr id="16" name="Rectangle 15"/>
          <p:cNvSpPr/>
          <p:nvPr/>
        </p:nvSpPr>
        <p:spPr>
          <a:xfrm>
            <a:off x="3017520" y="4005072"/>
            <a:ext cx="3977639" cy="338328"/>
          </a:xfrm>
          <a:prstGeom prst="rect">
            <a:avLst/>
          </a:prstGeom>
          <a:solidFill>
            <a:srgbClr val="F6F7F9"/>
          </a:solidFill>
          <a:ln>
            <a:solidFill>
              <a:srgbClr val="F6F7F9"/>
            </a:solidFill>
          </a:ln>
        </p:spPr>
        <p:txBody>
          <a:bodyPr rtlCol="0" anchor="ctr" lIns="0" rIns="0" tIns="0" bIns="0"/>
          <a:lstStyle/>
          <a:p>
            <a:pPr algn="ctr">
              <a:lnSpc>
                <a:spcPct val="110000"/>
              </a:lnSpc>
              <a:spcBef>
                <a:spcPts val="0"/>
              </a:spcBef>
              <a:spcAft>
                <a:spcPts val="0"/>
              </a:spcAft>
            </a:pPr>
          </a:p>
        </p:txBody>
      </p:sp>
      <p:sp>
        <p:nvSpPr>
          <p:cNvPr id="17" name="Rectangle 16"/>
          <p:cNvSpPr/>
          <p:nvPr/>
        </p:nvSpPr>
        <p:spPr>
          <a:xfrm>
            <a:off x="3017520" y="4005072"/>
            <a:ext cx="768083" cy="338328"/>
          </a:xfrm>
          <a:prstGeom prst="rect">
            <a:avLst/>
          </a:prstGeom>
          <a:solidFill>
            <a:srgbClr val="1C69D4"/>
          </a:solidFill>
          <a:ln>
            <a:solidFill>
              <a:srgbClr val="1C69D4"/>
            </a:solidFill>
          </a:ln>
        </p:spPr>
        <p:txBody>
          <a:bodyPr rtlCol="0" anchor="ctr" lIns="0" rIns="0" tIns="0" bIns="0"/>
          <a:lstStyle/>
          <a:p>
            <a:pPr algn="ctr">
              <a:lnSpc>
                <a:spcPct val="110000"/>
              </a:lnSpc>
              <a:spcBef>
                <a:spcPts val="0"/>
              </a:spcBef>
              <a:spcAft>
                <a:spcPts val="0"/>
              </a:spcAft>
            </a:pPr>
          </a:p>
        </p:txBody>
      </p:sp>
      <p:sp>
        <p:nvSpPr>
          <p:cNvPr id="18" name="TextBox 17"/>
          <p:cNvSpPr txBox="1"/>
          <p:nvPr/>
        </p:nvSpPr>
        <p:spPr>
          <a:xfrm>
            <a:off x="7178040" y="3959352"/>
            <a:ext cx="960120" cy="448056"/>
          </a:xfrm>
          <a:prstGeom prst="rect">
            <a:avLst/>
          </a:prstGeom>
          <a:noFill/>
        </p:spPr>
        <p:txBody>
          <a:bodyPr wrap="square" lIns="0" rIns="0" tIns="0" bIns="0">
            <a:spAutoFit/>
          </a:bodyPr>
          <a:lstStyle/>
          <a:p>
            <a:pPr algn="r">
              <a:lnSpc>
                <a:spcPct val="110000"/>
              </a:lnSpc>
              <a:spcBef>
                <a:spcPts val="0"/>
              </a:spcBef>
              <a:spcAft>
                <a:spcPts val="0"/>
              </a:spcAft>
            </a:pPr>
            <a:r>
              <a:rPr sz="2400" b="1">
                <a:solidFill>
                  <a:srgbClr val="1C69D4"/>
                </a:solidFill>
                <a:latin typeface="Inter"/>
              </a:rPr>
              <a:t>1,696</a:t>
            </a:r>
          </a:p>
        </p:txBody>
      </p:sp>
      <p:sp>
        <p:nvSpPr>
          <p:cNvPr id="19" name="TextBox 18"/>
          <p:cNvSpPr txBox="1"/>
          <p:nvPr/>
        </p:nvSpPr>
        <p:spPr>
          <a:xfrm>
            <a:off x="658368" y="4773168"/>
            <a:ext cx="2267712" cy="393192"/>
          </a:xfrm>
          <a:prstGeom prst="rect">
            <a:avLst/>
          </a:prstGeom>
          <a:noFill/>
        </p:spPr>
        <p:txBody>
          <a:bodyPr wrap="square" lIns="0" rIns="0" tIns="0" bIns="0">
            <a:spAutoFit/>
          </a:bodyPr>
          <a:lstStyle/>
          <a:p>
            <a:pPr algn="l">
              <a:lnSpc>
                <a:spcPct val="110000"/>
              </a:lnSpc>
              <a:spcBef>
                <a:spcPts val="0"/>
              </a:spcBef>
              <a:spcAft>
                <a:spcPts val="0"/>
              </a:spcAft>
            </a:pPr>
            <a:r>
              <a:rPr sz="1800" b="0">
                <a:solidFill>
                  <a:srgbClr val="262626"/>
                </a:solidFill>
                <a:latin typeface="Inter"/>
              </a:rPr>
              <a:t>China</a:t>
            </a:r>
          </a:p>
        </p:txBody>
      </p:sp>
      <p:sp>
        <p:nvSpPr>
          <p:cNvPr id="20" name="Rectangle 19"/>
          <p:cNvSpPr/>
          <p:nvPr/>
        </p:nvSpPr>
        <p:spPr>
          <a:xfrm>
            <a:off x="3017520" y="4791455"/>
            <a:ext cx="3977639" cy="338328"/>
          </a:xfrm>
          <a:prstGeom prst="rect">
            <a:avLst/>
          </a:prstGeom>
          <a:solidFill>
            <a:srgbClr val="F6F7F9"/>
          </a:solidFill>
          <a:ln>
            <a:solidFill>
              <a:srgbClr val="F6F7F9"/>
            </a:solidFill>
          </a:ln>
        </p:spPr>
        <p:txBody>
          <a:bodyPr rtlCol="0" anchor="ctr" lIns="0" rIns="0" tIns="0" bIns="0"/>
          <a:lstStyle/>
          <a:p>
            <a:pPr algn="ctr">
              <a:lnSpc>
                <a:spcPct val="110000"/>
              </a:lnSpc>
              <a:spcBef>
                <a:spcPts val="0"/>
              </a:spcBef>
              <a:spcAft>
                <a:spcPts val="0"/>
              </a:spcAft>
            </a:pPr>
          </a:p>
        </p:txBody>
      </p:sp>
      <p:sp>
        <p:nvSpPr>
          <p:cNvPr id="21" name="TextBox 20"/>
          <p:cNvSpPr txBox="1"/>
          <p:nvPr/>
        </p:nvSpPr>
        <p:spPr>
          <a:xfrm>
            <a:off x="7178040" y="4745736"/>
            <a:ext cx="960120" cy="448056"/>
          </a:xfrm>
          <a:prstGeom prst="rect">
            <a:avLst/>
          </a:prstGeom>
          <a:noFill/>
        </p:spPr>
        <p:txBody>
          <a:bodyPr wrap="square" lIns="0" rIns="0" tIns="0" bIns="0">
            <a:spAutoFit/>
          </a:bodyPr>
          <a:lstStyle/>
          <a:p>
            <a:pPr algn="r">
              <a:lnSpc>
                <a:spcPct val="110000"/>
              </a:lnSpc>
              <a:spcBef>
                <a:spcPts val="0"/>
              </a:spcBef>
              <a:spcAft>
                <a:spcPts val="0"/>
              </a:spcAft>
            </a:pPr>
            <a:r>
              <a:rPr sz="2400" b="1">
                <a:solidFill>
                  <a:srgbClr val="1C69D4"/>
                </a:solidFill>
                <a:latin typeface="Inter"/>
              </a:rPr>
              <a:t>0</a:t>
            </a:r>
          </a:p>
        </p:txBody>
      </p:sp>
      <p:sp>
        <p:nvSpPr>
          <p:cNvPr id="22" name="Rectangle 21"/>
          <p:cNvSpPr/>
          <p:nvPr/>
        </p:nvSpPr>
        <p:spPr>
          <a:xfrm>
            <a:off x="8531352" y="2295144"/>
            <a:ext cx="12700" cy="3447288"/>
          </a:xfrm>
          <a:prstGeom prst="rect">
            <a:avLst/>
          </a:prstGeom>
          <a:solidFill>
            <a:srgbClr val="E6E6E6"/>
          </a:solidFill>
          <a:ln>
            <a:solidFill>
              <a:srgbClr val="E6E6E6"/>
            </a:solidFill>
          </a:ln>
        </p:spPr>
        <p:txBody>
          <a:bodyPr rtlCol="0" anchor="ctr" lIns="0" rIns="0" tIns="0" bIns="0"/>
          <a:lstStyle/>
          <a:p>
            <a:pPr algn="ctr">
              <a:lnSpc>
                <a:spcPct val="110000"/>
              </a:lnSpc>
              <a:spcBef>
                <a:spcPts val="0"/>
              </a:spcBef>
              <a:spcAft>
                <a:spcPts val="0"/>
              </a:spcAft>
            </a:pPr>
          </a:p>
        </p:txBody>
      </p:sp>
      <p:sp>
        <p:nvSpPr>
          <p:cNvPr id="23" name="TextBox 22"/>
          <p:cNvSpPr txBox="1"/>
          <p:nvPr/>
        </p:nvSpPr>
        <p:spPr>
          <a:xfrm>
            <a:off x="8860536" y="2414016"/>
            <a:ext cx="2551176" cy="493776"/>
          </a:xfrm>
          <a:prstGeom prst="rect">
            <a:avLst/>
          </a:prstGeom>
          <a:noFill/>
        </p:spPr>
        <p:txBody>
          <a:bodyPr wrap="square" lIns="0" rIns="0" tIns="0" bIns="0">
            <a:spAutoFit/>
          </a:bodyPr>
          <a:lstStyle/>
          <a:p>
            <a:pPr algn="l">
              <a:lnSpc>
                <a:spcPct val="110000"/>
              </a:lnSpc>
              <a:spcBef>
                <a:spcPts val="0"/>
              </a:spcBef>
              <a:spcAft>
                <a:spcPts val="0"/>
              </a:spcAft>
            </a:pPr>
            <a:r>
              <a:rPr sz="1300" b="1">
                <a:solidFill>
                  <a:srgbClr val="1C69D4"/>
                </a:solidFill>
                <a:latin typeface="Inter"/>
              </a:rPr>
              <a:t>REVIEW BEFORE USE</a:t>
            </a:r>
          </a:p>
        </p:txBody>
      </p:sp>
      <p:sp>
        <p:nvSpPr>
          <p:cNvPr id="24" name="TextBox 23"/>
          <p:cNvSpPr txBox="1"/>
          <p:nvPr/>
        </p:nvSpPr>
        <p:spPr>
          <a:xfrm>
            <a:off x="8860536" y="3072384"/>
            <a:ext cx="2532888" cy="1014984"/>
          </a:xfrm>
          <a:prstGeom prst="rect">
            <a:avLst/>
          </a:prstGeom>
          <a:noFill/>
        </p:spPr>
        <p:txBody>
          <a:bodyPr wrap="square" lIns="0" rIns="0" tIns="0" bIns="0">
            <a:spAutoFit/>
          </a:bodyPr>
          <a:lstStyle/>
          <a:p>
            <a:pPr algn="l">
              <a:lnSpc>
                <a:spcPct val="110000"/>
              </a:lnSpc>
              <a:spcBef>
                <a:spcPts val="0"/>
              </a:spcBef>
              <a:spcAft>
                <a:spcPts val="0"/>
              </a:spcAft>
            </a:pPr>
            <a:r>
              <a:rPr sz="2200" b="1">
                <a:solidFill>
                  <a:srgbClr val="262626"/>
                </a:solidFill>
                <a:latin typeface="Inter"/>
              </a:rPr>
              <a:t>Genesis G70 page</a:t>
            </a:r>
          </a:p>
          <a:p>
            <a:pPr algn="l">
              <a:lnSpc>
                <a:spcPct val="110000"/>
              </a:lnSpc>
              <a:spcBef>
                <a:spcPts val="0"/>
              </a:spcBef>
              <a:spcAft>
                <a:spcPts val="0"/>
              </a:spcAft>
            </a:pPr>
            <a:r>
              <a:rPr sz="2200" b="1">
                <a:solidFill>
                  <a:srgbClr val="262626"/>
                </a:solidFill>
                <a:latin typeface="Inter"/>
              </a:rPr>
              <a:t>tagged as G70.</a:t>
            </a:r>
          </a:p>
        </p:txBody>
      </p:sp>
      <p:sp>
        <p:nvSpPr>
          <p:cNvPr id="25" name="TextBox 24"/>
          <p:cNvSpPr txBox="1"/>
          <p:nvPr/>
        </p:nvSpPr>
        <p:spPr>
          <a:xfrm>
            <a:off x="8860536" y="4425696"/>
            <a:ext cx="2542032" cy="1170432"/>
          </a:xfrm>
          <a:prstGeom prst="rect">
            <a:avLst/>
          </a:prstGeom>
          <a:noFill/>
        </p:spPr>
        <p:txBody>
          <a:bodyPr wrap="square" lIns="0" rIns="0" tIns="0" bIns="0">
            <a:spAutoFit/>
          </a:bodyPr>
          <a:lstStyle/>
          <a:p>
            <a:pPr algn="l">
              <a:lnSpc>
                <a:spcPct val="110000"/>
              </a:lnSpc>
              <a:spcBef>
                <a:spcPts val="0"/>
              </a:spcBef>
              <a:spcAft>
                <a:spcPts val="0"/>
              </a:spcAft>
            </a:pPr>
            <a:r>
              <a:rPr sz="1800" b="0">
                <a:solidFill>
                  <a:srgbClr val="6B6B6B"/>
                </a:solidFill>
                <a:latin typeface="Inter"/>
              </a:rPr>
              <a:t>Vehicle identity and</a:t>
            </a:r>
          </a:p>
          <a:p>
            <a:pPr algn="l">
              <a:lnSpc>
                <a:spcPct val="110000"/>
              </a:lnSpc>
              <a:spcBef>
                <a:spcPts val="0"/>
              </a:spcBef>
              <a:spcAft>
                <a:spcPts val="0"/>
              </a:spcAft>
            </a:pPr>
            <a:r>
              <a:rPr sz="1800" b="0">
                <a:solidFill>
                  <a:srgbClr val="6B6B6B"/>
                </a:solidFill>
                <a:latin typeface="Inter"/>
              </a:rPr>
              <a:t>market relevance need</a:t>
            </a:r>
          </a:p>
          <a:p>
            <a:pPr algn="l">
              <a:lnSpc>
                <a:spcPct val="110000"/>
              </a:lnSpc>
              <a:spcBef>
                <a:spcPts val="0"/>
              </a:spcBef>
              <a:spcAft>
                <a:spcPts val="0"/>
              </a:spcAft>
            </a:pPr>
            <a:r>
              <a:rPr sz="1800" b="0">
                <a:solidFill>
                  <a:srgbClr val="6B6B6B"/>
                </a:solidFill>
                <a:latin typeface="Inter"/>
              </a:rPr>
              <a:t>validation.</a:t>
            </a:r>
          </a:p>
        </p:txBody>
      </p:sp>
      <p:sp>
        <p:nvSpPr>
          <p:cNvPr id="26" name="TextBox 25"/>
          <p:cNvSpPr txBox="1"/>
          <p:nvPr/>
        </p:nvSpPr>
        <p:spPr>
          <a:xfrm>
            <a:off x="676656" y="5687568"/>
            <a:ext cx="7498079" cy="630936"/>
          </a:xfrm>
          <a:prstGeom prst="rect">
            <a:avLst/>
          </a:prstGeom>
          <a:noFill/>
        </p:spPr>
        <p:txBody>
          <a:bodyPr wrap="square" lIns="0" rIns="0" tIns="0" bIns="0">
            <a:spAutoFit/>
          </a:bodyPr>
          <a:lstStyle/>
          <a:p>
            <a:pPr algn="l">
              <a:lnSpc>
                <a:spcPct val="110000"/>
              </a:lnSpc>
              <a:spcBef>
                <a:spcPts val="0"/>
              </a:spcBef>
              <a:spcAft>
                <a:spcPts val="0"/>
              </a:spcAft>
            </a:pPr>
            <a:r>
              <a:rPr sz="1400" b="0">
                <a:solidFill>
                  <a:srgbClr val="6B6B6B"/>
                </a:solidFill>
                <a:latin typeface="Inter"/>
              </a:rPr>
              <a:t>China has study and sales data for G68 / G70; no customer comments.</a:t>
            </a:r>
          </a:p>
          <a:p>
            <a:pPr algn="l">
              <a:lnSpc>
                <a:spcPct val="110000"/>
              </a:lnSpc>
              <a:spcBef>
                <a:spcPts val="0"/>
              </a:spcBef>
              <a:spcAft>
                <a:spcPts val="0"/>
              </a:spcAft>
            </a:pPr>
            <a:r>
              <a:rPr sz="1400" b="0">
                <a:solidFill>
                  <a:srgbClr val="6B6B6B"/>
                </a:solidFill>
                <a:latin typeface="Inter"/>
              </a:rPr>
              <a:t>Study cells are not respondents. Forecast sales are not observed sales.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TextBox 1"/>
          <p:cNvSpPr txBox="1"/>
          <p:nvPr/>
        </p:nvSpPr>
        <p:spPr>
          <a:xfrm>
            <a:off x="594360" y="274320"/>
            <a:ext cx="10607040" cy="228600"/>
          </a:xfrm>
          <a:prstGeom prst="rect">
            <a:avLst/>
          </a:prstGeom>
          <a:noFill/>
        </p:spPr>
        <p:txBody>
          <a:bodyPr wrap="square" lIns="0" rIns="0" tIns="0" bIns="0">
            <a:spAutoFit/>
          </a:bodyPr>
          <a:lstStyle/>
          <a:p>
            <a:pPr algn="l">
              <a:lnSpc>
                <a:spcPct val="110000"/>
              </a:lnSpc>
              <a:spcBef>
                <a:spcPts val="0"/>
              </a:spcBef>
              <a:spcAft>
                <a:spcPts val="0"/>
              </a:spcAft>
            </a:pPr>
            <a:r>
              <a:rPr sz="1100" b="1">
                <a:solidFill>
                  <a:srgbClr val="1C69D4"/>
                </a:solidFill>
                <a:latin typeface="Inter"/>
              </a:rPr>
              <a:t>BMW PRODUCT INTELLIGENCE  /  Q&amp;A</a:t>
            </a:r>
          </a:p>
        </p:txBody>
      </p:sp>
      <p:sp>
        <p:nvSpPr>
          <p:cNvPr id="3" name="TextBox 2"/>
          <p:cNvSpPr txBox="1"/>
          <p:nvPr/>
        </p:nvSpPr>
        <p:spPr>
          <a:xfrm>
            <a:off x="594360" y="859536"/>
            <a:ext cx="11018520" cy="1170432"/>
          </a:xfrm>
          <a:prstGeom prst="rect">
            <a:avLst/>
          </a:prstGeom>
          <a:noFill/>
        </p:spPr>
        <p:txBody>
          <a:bodyPr wrap="square" lIns="0" rIns="0" tIns="0" bIns="0">
            <a:spAutoFit/>
          </a:bodyPr>
          <a:lstStyle/>
          <a:p>
            <a:pPr algn="l">
              <a:lnSpc>
                <a:spcPct val="110000"/>
              </a:lnSpc>
              <a:spcBef>
                <a:spcPts val="0"/>
              </a:spcBef>
              <a:spcAft>
                <a:spcPts val="0"/>
              </a:spcAft>
            </a:pPr>
            <a:r>
              <a:rPr sz="3600" b="1">
                <a:solidFill>
                  <a:srgbClr val="262626"/>
                </a:solidFill>
                <a:latin typeface="Inter"/>
              </a:rPr>
              <a:t>What the evidence proves.</a:t>
            </a:r>
          </a:p>
          <a:p>
            <a:pPr algn="l">
              <a:lnSpc>
                <a:spcPct val="110000"/>
              </a:lnSpc>
              <a:spcBef>
                <a:spcPts val="0"/>
              </a:spcBef>
              <a:spcAft>
                <a:spcPts val="0"/>
              </a:spcAft>
            </a:pPr>
            <a:r>
              <a:rPr sz="3600" b="1">
                <a:solidFill>
                  <a:srgbClr val="262626"/>
                </a:solidFill>
                <a:latin typeface="Inter"/>
              </a:rPr>
              <a:t>What still needs validation.</a:t>
            </a:r>
          </a:p>
        </p:txBody>
      </p:sp>
      <p:sp>
        <p:nvSpPr>
          <p:cNvPr id="4" name="Rectangle 3"/>
          <p:cNvSpPr/>
          <p:nvPr/>
        </p:nvSpPr>
        <p:spPr>
          <a:xfrm>
            <a:off x="594360" y="6428232"/>
            <a:ext cx="11000232" cy="12700"/>
          </a:xfrm>
          <a:prstGeom prst="rect">
            <a:avLst/>
          </a:prstGeom>
          <a:solidFill>
            <a:srgbClr val="E6E6E6"/>
          </a:solidFill>
          <a:ln>
            <a:solidFill>
              <a:srgbClr val="E6E6E6"/>
            </a:solidFill>
          </a:ln>
        </p:spPr>
        <p:txBody>
          <a:bodyPr rtlCol="0" anchor="ctr" lIns="0" rIns="0" tIns="0" bIns="0"/>
          <a:lstStyle/>
          <a:p>
            <a:pPr algn="ctr">
              <a:lnSpc>
                <a:spcPct val="110000"/>
              </a:lnSpc>
              <a:spcBef>
                <a:spcPts val="0"/>
              </a:spcBef>
              <a:spcAft>
                <a:spcPts val="0"/>
              </a:spcAft>
            </a:pPr>
          </a:p>
        </p:txBody>
      </p:sp>
      <p:sp>
        <p:nvSpPr>
          <p:cNvPr id="5" name="TextBox 4"/>
          <p:cNvSpPr txBox="1"/>
          <p:nvPr/>
        </p:nvSpPr>
        <p:spPr>
          <a:xfrm>
            <a:off x="594360" y="6528816"/>
            <a:ext cx="9966960" cy="164592"/>
          </a:xfrm>
          <a:prstGeom prst="rect">
            <a:avLst/>
          </a:prstGeom>
          <a:noFill/>
        </p:spPr>
        <p:txBody>
          <a:bodyPr wrap="square" lIns="0" rIns="0" tIns="0" bIns="0">
            <a:spAutoFit/>
          </a:bodyPr>
          <a:lstStyle/>
          <a:p>
            <a:pPr algn="l">
              <a:lnSpc>
                <a:spcPct val="110000"/>
              </a:lnSpc>
              <a:spcBef>
                <a:spcPts val="0"/>
              </a:spcBef>
              <a:spcAft>
                <a:spcPts val="0"/>
              </a:spcAft>
            </a:pPr>
            <a:r>
              <a:rPr sz="900" b="0">
                <a:solidFill>
                  <a:srgbClr val="6B6B6B"/>
                </a:solidFill>
                <a:latin typeface="Inter"/>
              </a:rPr>
              <a:t>BMW hackathon prototype  |  2026-10-10  |  Q&amp;A</a:t>
            </a:r>
          </a:p>
        </p:txBody>
      </p:sp>
      <p:sp>
        <p:nvSpPr>
          <p:cNvPr id="6" name="TextBox 5"/>
          <p:cNvSpPr txBox="1"/>
          <p:nvPr/>
        </p:nvSpPr>
        <p:spPr>
          <a:xfrm>
            <a:off x="11109960" y="6501384"/>
            <a:ext cx="484632" cy="228600"/>
          </a:xfrm>
          <a:prstGeom prst="rect">
            <a:avLst/>
          </a:prstGeom>
          <a:noFill/>
        </p:spPr>
        <p:txBody>
          <a:bodyPr wrap="square" lIns="0" rIns="0" tIns="0" bIns="0">
            <a:spAutoFit/>
          </a:bodyPr>
          <a:lstStyle/>
          <a:p>
            <a:pPr algn="r">
              <a:lnSpc>
                <a:spcPct val="110000"/>
              </a:lnSpc>
              <a:spcBef>
                <a:spcPts val="0"/>
              </a:spcBef>
              <a:spcAft>
                <a:spcPts val="0"/>
              </a:spcAft>
            </a:pPr>
            <a:r>
              <a:rPr sz="1000" b="0">
                <a:solidFill>
                  <a:srgbClr val="6B6B6B"/>
                </a:solidFill>
                <a:latin typeface="Inter"/>
              </a:rPr>
              <a:t>09</a:t>
            </a:r>
          </a:p>
        </p:txBody>
      </p:sp>
      <p:sp>
        <p:nvSpPr>
          <p:cNvPr id="7" name="TextBox 6"/>
          <p:cNvSpPr txBox="1"/>
          <p:nvPr/>
        </p:nvSpPr>
        <p:spPr>
          <a:xfrm>
            <a:off x="640080" y="2267712"/>
            <a:ext cx="3383280" cy="274320"/>
          </a:xfrm>
          <a:prstGeom prst="rect">
            <a:avLst/>
          </a:prstGeom>
          <a:noFill/>
        </p:spPr>
        <p:txBody>
          <a:bodyPr wrap="square" lIns="0" rIns="0" tIns="0" bIns="0">
            <a:spAutoFit/>
          </a:bodyPr>
          <a:lstStyle/>
          <a:p>
            <a:pPr algn="l">
              <a:lnSpc>
                <a:spcPct val="110000"/>
              </a:lnSpc>
              <a:spcBef>
                <a:spcPts val="0"/>
              </a:spcBef>
              <a:spcAft>
                <a:spcPts val="0"/>
              </a:spcAft>
            </a:pPr>
            <a:r>
              <a:rPr sz="1100" b="1">
                <a:solidFill>
                  <a:srgbClr val="6B6B6B"/>
                </a:solidFill>
                <a:latin typeface="Inter"/>
              </a:rPr>
              <a:t>CAPABILITY</a:t>
            </a:r>
          </a:p>
        </p:txBody>
      </p:sp>
      <p:sp>
        <p:nvSpPr>
          <p:cNvPr id="8" name="TextBox 7"/>
          <p:cNvSpPr txBox="1"/>
          <p:nvPr/>
        </p:nvSpPr>
        <p:spPr>
          <a:xfrm>
            <a:off x="4206240" y="2267712"/>
            <a:ext cx="2331720" cy="274320"/>
          </a:xfrm>
          <a:prstGeom prst="rect">
            <a:avLst/>
          </a:prstGeom>
          <a:noFill/>
        </p:spPr>
        <p:txBody>
          <a:bodyPr wrap="square" lIns="0" rIns="0" tIns="0" bIns="0">
            <a:spAutoFit/>
          </a:bodyPr>
          <a:lstStyle/>
          <a:p>
            <a:pPr algn="l">
              <a:lnSpc>
                <a:spcPct val="110000"/>
              </a:lnSpc>
              <a:spcBef>
                <a:spcPts val="0"/>
              </a:spcBef>
              <a:spcAft>
                <a:spcPts val="0"/>
              </a:spcAft>
            </a:pPr>
            <a:r>
              <a:rPr sz="1100" b="1">
                <a:solidFill>
                  <a:srgbClr val="6B6B6B"/>
                </a:solidFill>
                <a:latin typeface="Inter"/>
              </a:rPr>
              <a:t>STATUS</a:t>
            </a:r>
          </a:p>
        </p:txBody>
      </p:sp>
      <p:sp>
        <p:nvSpPr>
          <p:cNvPr id="9" name="TextBox 8"/>
          <p:cNvSpPr txBox="1"/>
          <p:nvPr/>
        </p:nvSpPr>
        <p:spPr>
          <a:xfrm>
            <a:off x="6766560" y="2267712"/>
            <a:ext cx="4681728" cy="274320"/>
          </a:xfrm>
          <a:prstGeom prst="rect">
            <a:avLst/>
          </a:prstGeom>
          <a:noFill/>
        </p:spPr>
        <p:txBody>
          <a:bodyPr wrap="square" lIns="0" rIns="0" tIns="0" bIns="0">
            <a:spAutoFit/>
          </a:bodyPr>
          <a:lstStyle/>
          <a:p>
            <a:pPr algn="l">
              <a:lnSpc>
                <a:spcPct val="110000"/>
              </a:lnSpc>
              <a:spcBef>
                <a:spcPts val="0"/>
              </a:spcBef>
              <a:spcAft>
                <a:spcPts val="0"/>
              </a:spcAft>
            </a:pPr>
            <a:r>
              <a:rPr sz="1100" b="1">
                <a:solidFill>
                  <a:srgbClr val="6B6B6B"/>
                </a:solidFill>
                <a:latin typeface="Inter"/>
              </a:rPr>
              <a:t>VERIFICATION / LIMIT</a:t>
            </a:r>
          </a:p>
        </p:txBody>
      </p:sp>
      <p:sp>
        <p:nvSpPr>
          <p:cNvPr id="10" name="Rectangle 9"/>
          <p:cNvSpPr/>
          <p:nvPr/>
        </p:nvSpPr>
        <p:spPr>
          <a:xfrm>
            <a:off x="640080" y="2679192"/>
            <a:ext cx="10954512" cy="557784"/>
          </a:xfrm>
          <a:prstGeom prst="rect">
            <a:avLst/>
          </a:prstGeom>
          <a:solidFill>
            <a:srgbClr val="F6F7F9"/>
          </a:solidFill>
          <a:ln>
            <a:solidFill>
              <a:srgbClr val="F6F7F9"/>
            </a:solidFill>
          </a:ln>
        </p:spPr>
        <p:txBody>
          <a:bodyPr rtlCol="0" anchor="ctr" lIns="0" rIns="0" tIns="0" bIns="0"/>
          <a:lstStyle/>
          <a:p>
            <a:pPr algn="ctr">
              <a:lnSpc>
                <a:spcPct val="110000"/>
              </a:lnSpc>
              <a:spcBef>
                <a:spcPts val="0"/>
              </a:spcBef>
              <a:spcAft>
                <a:spcPts val="0"/>
              </a:spcAft>
            </a:pPr>
          </a:p>
        </p:txBody>
      </p:sp>
      <p:sp>
        <p:nvSpPr>
          <p:cNvPr id="11" name="TextBox 10"/>
          <p:cNvSpPr txBox="1"/>
          <p:nvPr/>
        </p:nvSpPr>
        <p:spPr>
          <a:xfrm>
            <a:off x="722375" y="2788920"/>
            <a:ext cx="3246120" cy="438912"/>
          </a:xfrm>
          <a:prstGeom prst="rect">
            <a:avLst/>
          </a:prstGeom>
          <a:noFill/>
        </p:spPr>
        <p:txBody>
          <a:bodyPr wrap="square" lIns="0" rIns="0" tIns="0" bIns="0">
            <a:spAutoFit/>
          </a:bodyPr>
          <a:lstStyle/>
          <a:p>
            <a:pPr algn="l">
              <a:lnSpc>
                <a:spcPct val="110000"/>
              </a:lnSpc>
              <a:spcBef>
                <a:spcPts val="0"/>
              </a:spcBef>
              <a:spcAft>
                <a:spcPts val="0"/>
              </a:spcAft>
            </a:pPr>
            <a:r>
              <a:rPr sz="1400" b="0">
                <a:solidFill>
                  <a:srgbClr val="262626"/>
                </a:solidFill>
                <a:latin typeface="Inter"/>
              </a:rPr>
              <a:t>Public app + DB health</a:t>
            </a:r>
          </a:p>
        </p:txBody>
      </p:sp>
      <p:sp>
        <p:nvSpPr>
          <p:cNvPr id="12" name="TextBox 11"/>
          <p:cNvSpPr txBox="1"/>
          <p:nvPr/>
        </p:nvSpPr>
        <p:spPr>
          <a:xfrm>
            <a:off x="4288536" y="2788920"/>
            <a:ext cx="2194560" cy="438912"/>
          </a:xfrm>
          <a:prstGeom prst="rect">
            <a:avLst/>
          </a:prstGeom>
          <a:noFill/>
        </p:spPr>
        <p:txBody>
          <a:bodyPr wrap="square" lIns="0" rIns="0" tIns="0" bIns="0">
            <a:spAutoFit/>
          </a:bodyPr>
          <a:lstStyle/>
          <a:p>
            <a:pPr algn="l">
              <a:lnSpc>
                <a:spcPct val="110000"/>
              </a:lnSpc>
              <a:spcBef>
                <a:spcPts val="0"/>
              </a:spcBef>
              <a:spcAft>
                <a:spcPts val="0"/>
              </a:spcAft>
            </a:pPr>
            <a:r>
              <a:rPr sz="1400" b="1">
                <a:solidFill>
                  <a:srgbClr val="1C69D4"/>
                </a:solidFill>
                <a:latin typeface="Inter"/>
              </a:rPr>
              <a:t>Verified</a:t>
            </a:r>
          </a:p>
        </p:txBody>
      </p:sp>
      <p:sp>
        <p:nvSpPr>
          <p:cNvPr id="13" name="TextBox 12"/>
          <p:cNvSpPr txBox="1"/>
          <p:nvPr/>
        </p:nvSpPr>
        <p:spPr>
          <a:xfrm>
            <a:off x="6848856" y="2788920"/>
            <a:ext cx="4544568" cy="438912"/>
          </a:xfrm>
          <a:prstGeom prst="rect">
            <a:avLst/>
          </a:prstGeom>
          <a:noFill/>
        </p:spPr>
        <p:txBody>
          <a:bodyPr wrap="square" lIns="0" rIns="0" tIns="0" bIns="0">
            <a:spAutoFit/>
          </a:bodyPr>
          <a:lstStyle/>
          <a:p>
            <a:pPr algn="l">
              <a:lnSpc>
                <a:spcPct val="110000"/>
              </a:lnSpc>
              <a:spcBef>
                <a:spcPts val="0"/>
              </a:spcBef>
              <a:spcAft>
                <a:spcPts val="0"/>
              </a:spcAft>
            </a:pPr>
            <a:r>
              <a:rPr sz="1400" b="0">
                <a:solidFill>
                  <a:srgbClr val="262626"/>
                </a:solidFill>
                <a:latin typeface="Inter"/>
              </a:rPr>
              <a:t>Live frontend, DB ok, auth boundary enforced</a:t>
            </a:r>
          </a:p>
        </p:txBody>
      </p:sp>
      <p:sp>
        <p:nvSpPr>
          <p:cNvPr id="14" name="TextBox 13"/>
          <p:cNvSpPr txBox="1"/>
          <p:nvPr/>
        </p:nvSpPr>
        <p:spPr>
          <a:xfrm>
            <a:off x="722375" y="3392424"/>
            <a:ext cx="3246120" cy="438912"/>
          </a:xfrm>
          <a:prstGeom prst="rect">
            <a:avLst/>
          </a:prstGeom>
          <a:noFill/>
        </p:spPr>
        <p:txBody>
          <a:bodyPr wrap="square" lIns="0" rIns="0" tIns="0" bIns="0">
            <a:spAutoFit/>
          </a:bodyPr>
          <a:lstStyle/>
          <a:p>
            <a:pPr algn="l">
              <a:lnSpc>
                <a:spcPct val="110000"/>
              </a:lnSpc>
              <a:spcBef>
                <a:spcPts val="0"/>
              </a:spcBef>
              <a:spcAft>
                <a:spcPts val="0"/>
              </a:spcAft>
            </a:pPr>
            <a:r>
              <a:rPr sz="1400" b="0">
                <a:solidFill>
                  <a:srgbClr val="262626"/>
                </a:solidFill>
                <a:latin typeface="Inter"/>
              </a:rPr>
              <a:t>Research / Evidence / Sources</a:t>
            </a:r>
          </a:p>
        </p:txBody>
      </p:sp>
      <p:sp>
        <p:nvSpPr>
          <p:cNvPr id="15" name="TextBox 14"/>
          <p:cNvSpPr txBox="1"/>
          <p:nvPr/>
        </p:nvSpPr>
        <p:spPr>
          <a:xfrm>
            <a:off x="4288536" y="3392424"/>
            <a:ext cx="2194560" cy="438912"/>
          </a:xfrm>
          <a:prstGeom prst="rect">
            <a:avLst/>
          </a:prstGeom>
          <a:noFill/>
        </p:spPr>
        <p:txBody>
          <a:bodyPr wrap="square" lIns="0" rIns="0" tIns="0" bIns="0">
            <a:spAutoFit/>
          </a:bodyPr>
          <a:lstStyle/>
          <a:p>
            <a:pPr algn="l">
              <a:lnSpc>
                <a:spcPct val="110000"/>
              </a:lnSpc>
              <a:spcBef>
                <a:spcPts val="0"/>
              </a:spcBef>
              <a:spcAft>
                <a:spcPts val="0"/>
              </a:spcAft>
            </a:pPr>
            <a:r>
              <a:rPr sz="1400" b="1">
                <a:solidFill>
                  <a:srgbClr val="1C69D4"/>
                </a:solidFill>
                <a:latin typeface="Inter"/>
              </a:rPr>
              <a:t>Shipped in main</a:t>
            </a:r>
          </a:p>
        </p:txBody>
      </p:sp>
      <p:sp>
        <p:nvSpPr>
          <p:cNvPr id="16" name="TextBox 15"/>
          <p:cNvSpPr txBox="1"/>
          <p:nvPr/>
        </p:nvSpPr>
        <p:spPr>
          <a:xfrm>
            <a:off x="6848856" y="3392424"/>
            <a:ext cx="4544568" cy="438912"/>
          </a:xfrm>
          <a:prstGeom prst="rect">
            <a:avLst/>
          </a:prstGeom>
          <a:noFill/>
        </p:spPr>
        <p:txBody>
          <a:bodyPr wrap="square" lIns="0" rIns="0" tIns="0" bIns="0">
            <a:spAutoFit/>
          </a:bodyPr>
          <a:lstStyle/>
          <a:p>
            <a:pPr algn="l">
              <a:lnSpc>
                <a:spcPct val="110000"/>
              </a:lnSpc>
              <a:spcBef>
                <a:spcPts val="0"/>
              </a:spcBef>
              <a:spcAft>
                <a:spcPts val="0"/>
              </a:spcAft>
            </a:pPr>
            <a:r>
              <a:rPr sz="1400" b="0">
                <a:solidFill>
                  <a:srgbClr val="262626"/>
                </a:solidFill>
                <a:latin typeface="Inter"/>
              </a:rPr>
              <a:t>Frontend bundle matches deployed main</a:t>
            </a:r>
          </a:p>
        </p:txBody>
      </p:sp>
      <p:sp>
        <p:nvSpPr>
          <p:cNvPr id="17" name="Rectangle 16"/>
          <p:cNvSpPr/>
          <p:nvPr/>
        </p:nvSpPr>
        <p:spPr>
          <a:xfrm>
            <a:off x="640080" y="3886200"/>
            <a:ext cx="10954512" cy="557784"/>
          </a:xfrm>
          <a:prstGeom prst="rect">
            <a:avLst/>
          </a:prstGeom>
          <a:solidFill>
            <a:srgbClr val="F6F7F9"/>
          </a:solidFill>
          <a:ln>
            <a:solidFill>
              <a:srgbClr val="F6F7F9"/>
            </a:solidFill>
          </a:ln>
        </p:spPr>
        <p:txBody>
          <a:bodyPr rtlCol="0" anchor="ctr" lIns="0" rIns="0" tIns="0" bIns="0"/>
          <a:lstStyle/>
          <a:p>
            <a:pPr algn="ctr">
              <a:lnSpc>
                <a:spcPct val="110000"/>
              </a:lnSpc>
              <a:spcBef>
                <a:spcPts val="0"/>
              </a:spcBef>
              <a:spcAft>
                <a:spcPts val="0"/>
              </a:spcAft>
            </a:pPr>
          </a:p>
        </p:txBody>
      </p:sp>
      <p:sp>
        <p:nvSpPr>
          <p:cNvPr id="18" name="TextBox 17"/>
          <p:cNvSpPr txBox="1"/>
          <p:nvPr/>
        </p:nvSpPr>
        <p:spPr>
          <a:xfrm>
            <a:off x="722375" y="3995928"/>
            <a:ext cx="3246120" cy="438912"/>
          </a:xfrm>
          <a:prstGeom prst="rect">
            <a:avLst/>
          </a:prstGeom>
          <a:noFill/>
        </p:spPr>
        <p:txBody>
          <a:bodyPr wrap="square" lIns="0" rIns="0" tIns="0" bIns="0">
            <a:spAutoFit/>
          </a:bodyPr>
          <a:lstStyle/>
          <a:p>
            <a:pPr algn="l">
              <a:lnSpc>
                <a:spcPct val="110000"/>
              </a:lnSpc>
              <a:spcBef>
                <a:spcPts val="0"/>
              </a:spcBef>
              <a:spcAft>
                <a:spcPts val="0"/>
              </a:spcAft>
            </a:pPr>
            <a:r>
              <a:rPr sz="1400" b="0">
                <a:solidFill>
                  <a:srgbClr val="262626"/>
                </a:solidFill>
                <a:latin typeface="Inter"/>
              </a:rPr>
              <a:t>Orchestrator + Critic + resume</a:t>
            </a:r>
          </a:p>
        </p:txBody>
      </p:sp>
      <p:sp>
        <p:nvSpPr>
          <p:cNvPr id="19" name="TextBox 18"/>
          <p:cNvSpPr txBox="1"/>
          <p:nvPr/>
        </p:nvSpPr>
        <p:spPr>
          <a:xfrm>
            <a:off x="4288536" y="3995928"/>
            <a:ext cx="2194560" cy="438912"/>
          </a:xfrm>
          <a:prstGeom prst="rect">
            <a:avLst/>
          </a:prstGeom>
          <a:noFill/>
        </p:spPr>
        <p:txBody>
          <a:bodyPr wrap="square" lIns="0" rIns="0" tIns="0" bIns="0">
            <a:spAutoFit/>
          </a:bodyPr>
          <a:lstStyle/>
          <a:p>
            <a:pPr algn="l">
              <a:lnSpc>
                <a:spcPct val="110000"/>
              </a:lnSpc>
              <a:spcBef>
                <a:spcPts val="0"/>
              </a:spcBef>
              <a:spcAft>
                <a:spcPts val="0"/>
              </a:spcAft>
            </a:pPr>
            <a:r>
              <a:rPr sz="1400" b="1">
                <a:solidFill>
                  <a:srgbClr val="1C69D4"/>
                </a:solidFill>
                <a:latin typeface="Inter"/>
              </a:rPr>
              <a:t>Shipped code</a:t>
            </a:r>
          </a:p>
        </p:txBody>
      </p:sp>
      <p:sp>
        <p:nvSpPr>
          <p:cNvPr id="20" name="TextBox 19"/>
          <p:cNvSpPr txBox="1"/>
          <p:nvPr/>
        </p:nvSpPr>
        <p:spPr>
          <a:xfrm>
            <a:off x="6848856" y="3995928"/>
            <a:ext cx="4544568" cy="438912"/>
          </a:xfrm>
          <a:prstGeom prst="rect">
            <a:avLst/>
          </a:prstGeom>
          <a:noFill/>
        </p:spPr>
        <p:txBody>
          <a:bodyPr wrap="square" lIns="0" rIns="0" tIns="0" bIns="0">
            <a:spAutoFit/>
          </a:bodyPr>
          <a:lstStyle/>
          <a:p>
            <a:pPr algn="l">
              <a:lnSpc>
                <a:spcPct val="110000"/>
              </a:lnSpc>
              <a:spcBef>
                <a:spcPts val="0"/>
              </a:spcBef>
              <a:spcAft>
                <a:spcPts val="0"/>
              </a:spcAft>
            </a:pPr>
            <a:r>
              <a:rPr sz="1400" b="0">
                <a:solidFill>
                  <a:srgbClr val="262626"/>
                </a:solidFill>
                <a:latin typeface="Inter"/>
              </a:rPr>
              <a:t>Full authenticated hosted run not exercised</a:t>
            </a:r>
          </a:p>
        </p:txBody>
      </p:sp>
      <p:sp>
        <p:nvSpPr>
          <p:cNvPr id="21" name="TextBox 20"/>
          <p:cNvSpPr txBox="1"/>
          <p:nvPr/>
        </p:nvSpPr>
        <p:spPr>
          <a:xfrm>
            <a:off x="722375" y="4599432"/>
            <a:ext cx="3246120" cy="438912"/>
          </a:xfrm>
          <a:prstGeom prst="rect">
            <a:avLst/>
          </a:prstGeom>
          <a:noFill/>
        </p:spPr>
        <p:txBody>
          <a:bodyPr wrap="square" lIns="0" rIns="0" tIns="0" bIns="0">
            <a:spAutoFit/>
          </a:bodyPr>
          <a:lstStyle/>
          <a:p>
            <a:pPr algn="l">
              <a:lnSpc>
                <a:spcPct val="110000"/>
              </a:lnSpc>
              <a:spcBef>
                <a:spcPts val="0"/>
              </a:spcBef>
              <a:spcAft>
                <a:spcPts val="0"/>
              </a:spcAft>
            </a:pPr>
            <a:r>
              <a:rPr sz="1400" b="0">
                <a:solidFill>
                  <a:srgbClr val="262626"/>
                </a:solidFill>
                <a:latin typeface="Inter"/>
              </a:rPr>
              <a:t>Stored execution history</a:t>
            </a:r>
          </a:p>
        </p:txBody>
      </p:sp>
      <p:sp>
        <p:nvSpPr>
          <p:cNvPr id="22" name="TextBox 21"/>
          <p:cNvSpPr txBox="1"/>
          <p:nvPr/>
        </p:nvSpPr>
        <p:spPr>
          <a:xfrm>
            <a:off x="4288536" y="4599432"/>
            <a:ext cx="2194560" cy="438912"/>
          </a:xfrm>
          <a:prstGeom prst="rect">
            <a:avLst/>
          </a:prstGeom>
          <a:noFill/>
        </p:spPr>
        <p:txBody>
          <a:bodyPr wrap="square" lIns="0" rIns="0" tIns="0" bIns="0">
            <a:spAutoFit/>
          </a:bodyPr>
          <a:lstStyle/>
          <a:p>
            <a:pPr algn="l">
              <a:lnSpc>
                <a:spcPct val="110000"/>
              </a:lnSpc>
              <a:spcBef>
                <a:spcPts val="0"/>
              </a:spcBef>
              <a:spcAft>
                <a:spcPts val="0"/>
              </a:spcAft>
            </a:pPr>
            <a:r>
              <a:rPr sz="1400" b="1">
                <a:solidFill>
                  <a:srgbClr val="1C69D4"/>
                </a:solidFill>
                <a:latin typeface="Inter"/>
              </a:rPr>
              <a:t>Observed in DB</a:t>
            </a:r>
          </a:p>
        </p:txBody>
      </p:sp>
      <p:sp>
        <p:nvSpPr>
          <p:cNvPr id="23" name="TextBox 22"/>
          <p:cNvSpPr txBox="1"/>
          <p:nvPr/>
        </p:nvSpPr>
        <p:spPr>
          <a:xfrm>
            <a:off x="6848856" y="4599432"/>
            <a:ext cx="4544568" cy="438912"/>
          </a:xfrm>
          <a:prstGeom prst="rect">
            <a:avLst/>
          </a:prstGeom>
          <a:noFill/>
        </p:spPr>
        <p:txBody>
          <a:bodyPr wrap="square" lIns="0" rIns="0" tIns="0" bIns="0">
            <a:spAutoFit/>
          </a:bodyPr>
          <a:lstStyle/>
          <a:p>
            <a:pPr algn="l">
              <a:lnSpc>
                <a:spcPct val="110000"/>
              </a:lnSpc>
              <a:spcBef>
                <a:spcPts val="0"/>
              </a:spcBef>
              <a:spcAft>
                <a:spcPts val="0"/>
              </a:spcAft>
            </a:pPr>
            <a:r>
              <a:rPr sz="1400" b="0">
                <a:solidFill>
                  <a:srgbClr val="262626"/>
                </a:solidFill>
                <a:latin typeface="Inter"/>
              </a:rPr>
              <a:t>5 completed runs; 1 older run in progress</a:t>
            </a:r>
          </a:p>
        </p:txBody>
      </p:sp>
      <p:sp>
        <p:nvSpPr>
          <p:cNvPr id="24" name="Rectangle 23"/>
          <p:cNvSpPr/>
          <p:nvPr/>
        </p:nvSpPr>
        <p:spPr>
          <a:xfrm>
            <a:off x="640080" y="5093208"/>
            <a:ext cx="10954512" cy="557784"/>
          </a:xfrm>
          <a:prstGeom prst="rect">
            <a:avLst/>
          </a:prstGeom>
          <a:solidFill>
            <a:srgbClr val="F6F7F9"/>
          </a:solidFill>
          <a:ln>
            <a:solidFill>
              <a:srgbClr val="F6F7F9"/>
            </a:solidFill>
          </a:ln>
        </p:spPr>
        <p:txBody>
          <a:bodyPr rtlCol="0" anchor="ctr" lIns="0" rIns="0" tIns="0" bIns="0"/>
          <a:lstStyle/>
          <a:p>
            <a:pPr algn="ctr">
              <a:lnSpc>
                <a:spcPct val="110000"/>
              </a:lnSpc>
              <a:spcBef>
                <a:spcPts val="0"/>
              </a:spcBef>
              <a:spcAft>
                <a:spcPts val="0"/>
              </a:spcAft>
            </a:pPr>
          </a:p>
        </p:txBody>
      </p:sp>
      <p:sp>
        <p:nvSpPr>
          <p:cNvPr id="25" name="TextBox 24"/>
          <p:cNvSpPr txBox="1"/>
          <p:nvPr/>
        </p:nvSpPr>
        <p:spPr>
          <a:xfrm>
            <a:off x="722375" y="5202936"/>
            <a:ext cx="3246120" cy="438912"/>
          </a:xfrm>
          <a:prstGeom prst="rect">
            <a:avLst/>
          </a:prstGeom>
          <a:noFill/>
        </p:spPr>
        <p:txBody>
          <a:bodyPr wrap="square" lIns="0" rIns="0" tIns="0" bIns="0">
            <a:spAutoFit/>
          </a:bodyPr>
          <a:lstStyle/>
          <a:p>
            <a:pPr algn="l">
              <a:lnSpc>
                <a:spcPct val="110000"/>
              </a:lnSpc>
              <a:spcBef>
                <a:spcPts val="0"/>
              </a:spcBef>
              <a:spcAft>
                <a:spcPts val="0"/>
              </a:spcAft>
            </a:pPr>
            <a:r>
              <a:rPr sz="1400" b="0">
                <a:solidFill>
                  <a:srgbClr val="262626"/>
                </a:solidFill>
                <a:latin typeface="Inter"/>
              </a:rPr>
              <a:t>Requirement backlog + original files</a:t>
            </a:r>
          </a:p>
        </p:txBody>
      </p:sp>
      <p:sp>
        <p:nvSpPr>
          <p:cNvPr id="26" name="TextBox 25"/>
          <p:cNvSpPr txBox="1"/>
          <p:nvPr/>
        </p:nvSpPr>
        <p:spPr>
          <a:xfrm>
            <a:off x="4288536" y="5202936"/>
            <a:ext cx="2194560" cy="438912"/>
          </a:xfrm>
          <a:prstGeom prst="rect">
            <a:avLst/>
          </a:prstGeom>
          <a:noFill/>
        </p:spPr>
        <p:txBody>
          <a:bodyPr wrap="square" lIns="0" rIns="0" tIns="0" bIns="0">
            <a:spAutoFit/>
          </a:bodyPr>
          <a:lstStyle/>
          <a:p>
            <a:pPr algn="l">
              <a:lnSpc>
                <a:spcPct val="110000"/>
              </a:lnSpc>
              <a:spcBef>
                <a:spcPts val="0"/>
              </a:spcBef>
              <a:spcAft>
                <a:spcPts val="0"/>
              </a:spcAft>
            </a:pPr>
            <a:r>
              <a:rPr sz="1400" b="1">
                <a:solidFill>
                  <a:srgbClr val="1C69D4"/>
                </a:solidFill>
                <a:latin typeface="Inter"/>
              </a:rPr>
              <a:t>Incomplete</a:t>
            </a:r>
          </a:p>
        </p:txBody>
      </p:sp>
      <p:sp>
        <p:nvSpPr>
          <p:cNvPr id="27" name="TextBox 26"/>
          <p:cNvSpPr txBox="1"/>
          <p:nvPr/>
        </p:nvSpPr>
        <p:spPr>
          <a:xfrm>
            <a:off x="6848856" y="5202936"/>
            <a:ext cx="4544568" cy="438912"/>
          </a:xfrm>
          <a:prstGeom prst="rect">
            <a:avLst/>
          </a:prstGeom>
          <a:noFill/>
        </p:spPr>
        <p:txBody>
          <a:bodyPr wrap="square" lIns="0" rIns="0" tIns="0" bIns="0">
            <a:spAutoFit/>
          </a:bodyPr>
          <a:lstStyle/>
          <a:p>
            <a:pPr algn="l">
              <a:lnSpc>
                <a:spcPct val="110000"/>
              </a:lnSpc>
              <a:spcBef>
                <a:spcPts val="0"/>
              </a:spcBef>
              <a:spcAft>
                <a:spcPts val="0"/>
              </a:spcAft>
            </a:pPr>
            <a:r>
              <a:rPr sz="1400" b="0">
                <a:solidFill>
                  <a:srgbClr val="262626"/>
                </a:solidFill>
                <a:latin typeface="Inter"/>
              </a:rPr>
              <a:t>Backlog tables empty; hosted originals absent</a:t>
            </a:r>
          </a:p>
        </p:txBody>
      </p:sp>
      <p:sp>
        <p:nvSpPr>
          <p:cNvPr id="28" name="TextBox 27"/>
          <p:cNvSpPr txBox="1"/>
          <p:nvPr/>
        </p:nvSpPr>
        <p:spPr>
          <a:xfrm>
            <a:off x="676656" y="5925312"/>
            <a:ext cx="10863072" cy="265176"/>
          </a:xfrm>
          <a:prstGeom prst="rect">
            <a:avLst/>
          </a:prstGeom>
          <a:noFill/>
        </p:spPr>
        <p:txBody>
          <a:bodyPr wrap="square" lIns="0" rIns="0" tIns="0" bIns="0">
            <a:spAutoFit/>
          </a:bodyPr>
          <a:lstStyle/>
          <a:p>
            <a:pPr algn="l">
              <a:lnSpc>
                <a:spcPct val="110000"/>
              </a:lnSpc>
              <a:spcBef>
                <a:spcPts val="0"/>
              </a:spcBef>
              <a:spcAft>
                <a:spcPts val="0"/>
              </a:spcAft>
            </a:pPr>
            <a:r>
              <a:rPr sz="1200" b="0">
                <a:solidFill>
                  <a:srgbClr val="6B6B6B"/>
                </a:solidFill>
                <a:latin typeface="Inter"/>
              </a:rPr>
              <a:t>Snapshot: 2026-10-10 21:01 UTC  |  Deployed main: 7c7ba86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BMW Product Intelligence</dc:title>
  <dc:subject>Three-minute pitch grounded in Supabase and the deployed Vercel main branch</dc:subject>
  <dc:creator>Gabriel Hansmann</dc:creator>
  <cp:keywords>BMW, cited research, Supabase, Vercel, LangGraph, PowerPoint MCP</cp:keywords>
  <dc:description>6 main slides + 3 Q&amp;A slides. Snapshot 2026-10-10T21:01:22.195974+00:00. Source main 7c7ba8619daee786309e8ef10caca85b7b5d24f2. Public deployment verified; no new authenticated hosted run exercised.</dc:description>
  <cp:lastModifiedBy>Gabriel Hansmann</cp:lastModifiedBy>
  <cp:revision>1</cp:revision>
  <dcterms:created xsi:type="dcterms:W3CDTF">2026-10-10T21:01:22Z</dcterms:created>
  <dcterms:modified xsi:type="dcterms:W3CDTF">2026-10-10T23:06:47Z</dcterms:modified>
  <cp:category/>
</cp:coreProperties>
</file>