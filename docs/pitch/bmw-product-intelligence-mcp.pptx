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0:00–0:20</a:t>
            </a:r>
          </a:p>
          <a:p/>
          <a:p>
            <a:r>
              <a:t>SPEAKER SCRIPT</a:t>
            </a:r>
          </a:p>
          <a:p>
            <a:r>
              <a:t>Imagine you're defining the successor to a vehicle. Customer complaints sit in spreadsheets, equipment details in PDFs, and competitor claims across the web. How do you turn that evidence into a requirement you can defend? That's the question behind BMW Product Intelligence.</a:t>
            </a:r>
          </a:p>
          <a:p/>
          <a:p>
            <a:r>
              <a:t>DELIVERY CUE</a:t>
            </a:r>
          </a:p>
          <a:p>
            <a:r>
              <a:t>Open with the question. Pause before introducing the project.</a:t>
            </a:r>
          </a:p>
          <a:p/>
          <a:p>
            <a:r>
              <a:t>CLAIM BOUNDARY</a:t>
            </a:r>
          </a:p>
          <a:p>
            <a:r>
              <a:t>Product problem and intended outcome; no claim of measured time savings.</a:t>
            </a:r>
          </a:p>
          <a:p/>
          <a:p>
            <a:r>
              <a:t>SOURCE SNAPSHOT: 0fa94c3</a:t>
            </a:r>
          </a:p>
          <a:p>
            <a:r>
              <a:t>SOURCES</a:t>
            </a:r>
          </a:p>
          <a:p>
            <a:r>
              <a:t>docs/idea.md</a:t>
            </a:r>
          </a:p>
          <a:p>
            <a:r>
              <a:t>docs/architecture/00-overview.md</a:t>
            </a:r>
          </a:p>
          <a:p>
            <a:r>
              <a:t>docs/requirements/README.md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0:20–0:50</a:t>
            </a:r>
          </a:p>
          <a:p/>
          <a:p>
            <a:r>
              <a:t>SPEAKER SCRIPT</a:t>
            </a:r>
          </a:p>
          <a:p>
            <a:r>
              <a:t>The provided BMW files are already loaded into a shared evidence base: over thirteen thousand customer comments, plus customer studies, product catalogs, equipment options, and sales. Retrieval keeps the original file and location. Markets remain separate, and coverage gaps stay visible. For example, China has study and sales data, but no customer feedback in this dataset.</a:t>
            </a:r>
          </a:p>
          <a:p/>
          <a:p>
            <a:r>
              <a:t>DELIVERY CUE</a:t>
            </a:r>
          </a:p>
          <a:p>
            <a:r>
              <a:t>Let the audience read the large number. Do not read every statistic aloud.</a:t>
            </a:r>
          </a:p>
          <a:p/>
          <a:p>
            <a:r>
              <a:t>CLAIM BOUNDARY</a:t>
            </a:r>
          </a:p>
          <a:p>
            <a:r>
              <a:t>Documented loaded-data snapshot: 13,771 comments, 1,627 study cells, 198 equipment options, 149 catalog passages, 36 sales records. Study cells are not respondents. China has zero customer feedback in this dataset.</a:t>
            </a:r>
          </a:p>
          <a:p/>
          <a:p>
            <a:r>
              <a:t>SOURCE SNAPSHOT: 0fa94c3</a:t>
            </a:r>
          </a:p>
          <a:p>
            <a:r>
              <a:t>SOURCES</a:t>
            </a:r>
          </a:p>
          <a:p>
            <a:r>
              <a:t>docs/architecture/03-ingestion.md</a:t>
            </a:r>
          </a:p>
          <a:p>
            <a:r>
              <a:t>docs/architecture/11-knowledge-layer.md</a:t>
            </a:r>
          </a:p>
          <a:p>
            <a:r>
              <a:t>docs/decisions/0007-option-availability-and-ontology-seed.md</a:t>
            </a:r>
          </a:p>
          <a:p>
            <a:r>
              <a:t>docs/decisions/0008-knowledge-layer-normalization-and-retrieval.md</a:t>
            </a:r>
          </a:p>
          <a:p>
            <a:r>
              <a:t>backend/app/knowledge/library.py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0:50–1:25</a:t>
            </a:r>
          </a:p>
          <a:p/>
          <a:p>
            <a:r>
              <a:t>SPEAKER SCRIPT</a:t>
            </a:r>
          </a:p>
          <a:p>
            <a:r>
              <a:t>The PM starts with a question: what should improve for the next G sixty in the US? The planner chooses relevant agents and explains why. The backend runner now executes them behind Critic checks, and supports four PM actions: accept, edit, retry, or reject. Acceptance starts the next step using accepted evidence. The live frontend currently shows planning; connecting its review controls is the next integration.</a:t>
            </a:r>
          </a:p>
          <a:p/>
          <a:p>
            <a:r>
              <a:t>DELIVERY CUE</a:t>
            </a:r>
          </a:p>
          <a:p>
            <a:r>
              <a:t>Explain the backend workflow, then distinguish it from the current frontend. Say G sixty naturally.</a:t>
            </a:r>
          </a:p>
          <a:p/>
          <a:p>
            <a:r>
              <a:t>CLAIM BOUNDARY</a:t>
            </a:r>
          </a:p>
          <a:p>
            <a:r>
              <a:t>The runner and step-action endpoints are implemented and fixture-tested. Every agent passes through Critic checks with one automatic retry. The frontend does not call these execution endpoints yet. Edit changes the summary only. Full live execution was not validated for this presentation.</a:t>
            </a:r>
          </a:p>
          <a:p/>
          <a:p>
            <a:r>
              <a:t>SOURCE SNAPSHOT: 0fa94c3</a:t>
            </a:r>
          </a:p>
          <a:p>
            <a:r>
              <a:t>SOURCES</a:t>
            </a:r>
          </a:p>
          <a:p>
            <a:r>
              <a:t>docs/architecture/02-orchestration-and-human-in-the-loop.md</a:t>
            </a:r>
          </a:p>
          <a:p>
            <a:r>
              <a:t>docs/decisions/0005-chat-entry-and-orchestrator-planned-steps.md</a:t>
            </a:r>
          </a:p>
          <a:p>
            <a:r>
              <a:t>docs/decisions/0012-planner-proposes-code-validates.md</a:t>
            </a:r>
          </a:p>
          <a:p>
            <a:r>
              <a:t>docs/decisions/0013-frontend-uses-only-the-backend-api.md</a:t>
            </a:r>
          </a:p>
          <a:p>
            <a:r>
              <a:t>backend/app/orchestration/catalog.py</a:t>
            </a:r>
          </a:p>
          <a:p>
            <a:r>
              <a:t>docs/decisions/0014-all-roster-agents-implemented.md</a:t>
            </a:r>
          </a:p>
          <a:p>
            <a:r>
              <a:t>docs/decisions/0015-step-runner-and-step-output-on-the-step.md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1:25–2:00</a:t>
            </a:r>
          </a:p>
          <a:p/>
          <a:p>
            <a:r>
              <a:t>SPEAKER SCRIPT</a:t>
            </a:r>
          </a:p>
          <a:p>
            <a:r>
              <a:t>The output is designed to be a requirement with supporting sources, a defensible target, and explicit assumptions. In the prototype, the PM can inspect and change the scoring components: customer relevance, business signal, strategic fit, and effort. Confidence stays separate from priority. A promising idea with thin evidence must look different from a well-supported one. Decisions carry reasons, so the review can be explained later.</a:t>
            </a:r>
          </a:p>
          <a:p/>
          <a:p>
            <a:r>
              <a:t>DELIVERY CUE</a:t>
            </a:r>
          </a:p>
          <a:p>
            <a:r>
              <a:t>Emphasize that confidence and priority answer different questions. Avoid presenting illustrative scores as validated recommendations.</a:t>
            </a:r>
          </a:p>
          <a:p/>
          <a:p>
            <a:r>
              <a:t>CLAIM BOUNDARY</a:t>
            </a:r>
          </a:p>
          <a:p>
            <a:r>
              <a:t>Cited retrieval, agent scoring and step audit events exist. The UI demonstrates editable scoring on fixtures. The runner retains outputs on steps, not in finding, requirement or score backlog tables. Business signal can use catalog-standard availability as an explicitly thin proxy; it is not observed customer option uptake.</a:t>
            </a:r>
          </a:p>
          <a:p/>
          <a:p>
            <a:r>
              <a:t>SOURCE SNAPSHOT: 0fa94c3</a:t>
            </a:r>
          </a:p>
          <a:p>
            <a:r>
              <a:t>SOURCES</a:t>
            </a:r>
          </a:p>
          <a:p>
            <a:r>
              <a:t>docs/architecture/04-data-model.md</a:t>
            </a:r>
          </a:p>
          <a:p>
            <a:r>
              <a:t>docs/architecture/06-prioritization.md</a:t>
            </a:r>
          </a:p>
          <a:p>
            <a:r>
              <a:t>docs/architecture/07-audit-trail.md</a:t>
            </a:r>
          </a:p>
          <a:p>
            <a:r>
              <a:t>docs/requirements/03-requirements-and-prioritization.md</a:t>
            </a:r>
          </a:p>
          <a:p>
            <a:r>
              <a:t>docs/decisions/0011-local-demo-frontend-and-vercel.md</a:t>
            </a:r>
          </a:p>
          <a:p>
            <a:r>
              <a:t>frontend/src/data.ts</a:t>
            </a:r>
          </a:p>
          <a:p>
            <a:r>
              <a:t>docs/decisions/0014-all-roster-agents-implemented.md</a:t>
            </a:r>
          </a:p>
          <a:p>
            <a:r>
              <a:t>docs/decisions/0015-step-runner-and-step-output-on-the-step.md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2:00–2:35</a:t>
            </a:r>
          </a:p>
          <a:p/>
          <a:p>
            <a:r>
              <a:t>SPEAKER SCRIPT</a:t>
            </a:r>
          </a:p>
          <a:p>
            <a:r>
              <a:t>Today, ingestion, cited retrieval and live planning work. The backend also has the agent modules, step runner, Critic checks, and PM review endpoints. These additions are fixture-tested; their full live path is not yet validated. The public workspace shows targets, reviews and reports on labeled sample data. Next, connect the live frontend and persist accepted outputs into the requirement backlog. The foundation is inspectable without treating demo decisions as verified BMW recommendations.</a:t>
            </a:r>
          </a:p>
          <a:p/>
          <a:p>
            <a:r>
              <a:t>DELIVERY CUE</a:t>
            </a:r>
          </a:p>
          <a:p>
            <a:r>
              <a:t>Point to the real workspace screenshot. Distinguish implemented backend code from verified live operation and the public sample-data demo.</a:t>
            </a:r>
          </a:p>
          <a:p/>
          <a:p>
            <a:r>
              <a:t>CLAIM BOUNDARY</a:t>
            </a:r>
          </a:p>
          <a:p>
            <a:r>
              <a:t>All roster modules and the backend runner are implemented per ADRs 0014 and 0015. The new agents were tested with fixtures, not validated end to end against the live services. The runner writes JSON outputs to steps and audit events; it does not write accepted requirements to backlog tables. Public Vercel remains a static fixture demo.</a:t>
            </a:r>
          </a:p>
          <a:p/>
          <a:p>
            <a:r>
              <a:t>SOURCE SNAPSHOT: 0fa94c3</a:t>
            </a:r>
          </a:p>
          <a:p>
            <a:r>
              <a:t>SOURCES</a:t>
            </a:r>
          </a:p>
          <a:p>
            <a:r>
              <a:t>frontend/README.md</a:t>
            </a:r>
          </a:p>
          <a:p>
            <a:r>
              <a:t>docs/decisions/0011-local-demo-frontend-and-vercel.md</a:t>
            </a:r>
          </a:p>
          <a:p>
            <a:r>
              <a:t>docs/decisions/0013-frontend-uses-only-the-backend-api.md</a:t>
            </a:r>
          </a:p>
          <a:p>
            <a:r>
              <a:t>docs/architecture/01-agents.md</a:t>
            </a:r>
          </a:p>
          <a:p>
            <a:r>
              <a:t>docs/decisions/0009-web-search-through-the-llm.md</a:t>
            </a:r>
          </a:p>
          <a:p>
            <a:r>
              <a:t>backend/app/agents/market_trend_agent.py</a:t>
            </a:r>
          </a:p>
          <a:p>
            <a:r>
              <a:t>frontend/src/lib/live.ts</a:t>
            </a:r>
          </a:p>
          <a:p>
            <a:r>
              <a:t>docs/decisions/0014-all-roster-agents-implemented.md</a:t>
            </a:r>
          </a:p>
          <a:p>
            <a:r>
              <a:t>docs/decisions/0015-step-runner-and-step-output-on-the-step.md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2:35–3:00</a:t>
            </a:r>
          </a:p>
          <a:p/>
          <a:p>
            <a:r>
              <a:t>SPEAKER SCRIPT</a:t>
            </a:r>
          </a:p>
          <a:p>
            <a:r>
              <a:t>Our next step is a pilot on one vehicle line and market. Connect the live workspace and backlog, then measure time to a cited draft, evidence coverage, and PM review effort. The goal is a faster path to requirements the PM can defend, with the evidence and decisions attached. Thank you.</a:t>
            </a:r>
          </a:p>
          <a:p/>
          <a:p>
            <a:r>
              <a:t>DELIVERY CUE</a:t>
            </a:r>
          </a:p>
          <a:p>
            <a:r>
              <a:t>Close on the pilot proposal. These are proposed evaluation measures, not results already achieved.</a:t>
            </a:r>
          </a:p>
          <a:p/>
          <a:p>
            <a:r>
              <a:t>CLAIM BOUNDARY</a:t>
            </a:r>
          </a:p>
          <a:p>
            <a:r>
              <a:t>Pilot and evaluation measures are this pitch's proposal, inferred from the documented PM goals. No customer adoption, ROI, accuracy or time-savings result is claimed. Recurring evidence refresh, weekly reports, broader inputs and long-term tracking are roadmap items.</a:t>
            </a:r>
          </a:p>
          <a:p/>
          <a:p>
            <a:r>
              <a:t>SOURCE SNAPSHOT: 0fa94c3</a:t>
            </a:r>
          </a:p>
          <a:p>
            <a:r>
              <a:t>SOURCES</a:t>
            </a:r>
          </a:p>
          <a:p>
            <a:r>
              <a:t>docs/idea.md</a:t>
            </a:r>
          </a:p>
          <a:p>
            <a:r>
              <a:t>docs/architecture/05-requirement-lifecycle.md</a:t>
            </a:r>
          </a:p>
          <a:p>
            <a:r>
              <a:t>docs/architecture/08-scaling-and-config.md</a:t>
            </a:r>
          </a:p>
          <a:p>
            <a:r>
              <a:t>docs/requirements/04-pm-overview.md</a:t>
            </a:r>
          </a:p>
          <a:p>
            <a:r>
              <a:t>docs/requirements/06-lifecycle-and-configuration.md</a:t>
            </a:r>
          </a:p>
          <a:p>
            <a:r>
              <a:t>docs/decisions/0014-all-roster-agents-implemented.md</a:t>
            </a:r>
          </a:p>
          <a:p>
            <a:r>
              <a:t>docs/decisions/0015-step-runner-and-step-output-on-the-step.md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Q&amp;A only</a:t>
            </a:r>
          </a:p>
          <a:p/>
          <a:p>
            <a:r>
              <a:t>SPEAKER SCRIPT</a:t>
            </a:r>
          </a:p>
          <a:p>
            <a:r>
              <a:t>React calls FastAPI through /api. Shared knowledge tools combine hybrid search with exact structured lookups and row-based citations. Supabase Postgres and pgvector store evidence, plans, steps and audit events. The in-process background runner calls agent adapters behind Critic checks. Outputs live on the step and only accepted outputs reach later agents. Frontend execution wiring, backlog writes and recovery from server interruption are still pending.</a:t>
            </a:r>
          </a:p>
          <a:p/>
          <a:p>
            <a:r>
              <a:t>DELIVERY CUE</a:t>
            </a:r>
          </a:p>
          <a:p>
            <a:r>
              <a:t>Use only in Q&amp;A. Explain exact data versus semantic retrieval, rather than listing technologies.</a:t>
            </a:r>
          </a:p>
          <a:p/>
          <a:p>
            <a:r>
              <a:t>CLAIM BOUNDARY</a:t>
            </a:r>
          </a:p>
          <a:p>
            <a:r>
              <a:t>Backend runner and Critic checks implemented in ADR 0015. No durable execution recovery exists; interrupted background work can remain stuck. LangGraph/checkpointed execution remains planned. Agents read evidence through the shared knowledge tools.</a:t>
            </a:r>
          </a:p>
          <a:p/>
          <a:p>
            <a:r>
              <a:t>SOURCE SNAPSHOT: 0fa94c3</a:t>
            </a:r>
          </a:p>
          <a:p>
            <a:r>
              <a:t>SOURCES</a:t>
            </a:r>
          </a:p>
          <a:p>
            <a:r>
              <a:t>docs/architecture/03-ingestion.md</a:t>
            </a:r>
          </a:p>
          <a:p>
            <a:r>
              <a:t>docs/architecture/09-tech-stack.md</a:t>
            </a:r>
          </a:p>
          <a:p>
            <a:r>
              <a:t>docs/architecture/11-knowledge-layer.md</a:t>
            </a:r>
          </a:p>
          <a:p>
            <a:r>
              <a:t>docs/architecture/12-repo-structure.md</a:t>
            </a:r>
          </a:p>
          <a:p>
            <a:r>
              <a:t>docs/decisions/0001-two-tier-pdf-ingestion.md</a:t>
            </a:r>
          </a:p>
          <a:p>
            <a:r>
              <a:t>docs/decisions/0010-frontend-backend-repo-structure.md</a:t>
            </a:r>
          </a:p>
          <a:p>
            <a:r>
              <a:t>docs/decisions/0014-all-roster-agents-implemented.md</a:t>
            </a:r>
          </a:p>
          <a:p>
            <a:r>
              <a:t>docs/decisions/0015-step-runner-and-step-output-on-the-step.md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Q&amp;A only</a:t>
            </a:r>
          </a:p>
          <a:p/>
          <a:p>
            <a:r>
              <a:t>SPEAKER SCRIPT</a:t>
            </a:r>
          </a:p>
          <a:p>
            <a:r>
              <a:t>The documented customer-feedback coverage is 8,783 US comments, 3,292 European comments, 1,696 from the rest of the world, and zero from China. China still has studies and sales. There are 2,666 comments without a mapped domain, and the customer-study cells have no respondent counts. The 2030 sales values are forecasts. Competitor benchmarking is designed to compare the same market, source type and measurement standard; the competitor module exists, while full live validation is pending.</a:t>
            </a:r>
          </a:p>
          <a:p/>
          <a:p>
            <a:r>
              <a:t>DELIVERY CUE</a:t>
            </a:r>
          </a:p>
          <a:p>
            <a:r>
              <a:t>Use only in Q&amp;A. A zero is a data-coverage gap, not proof that customers have no unmet needs.</a:t>
            </a:r>
          </a:p>
          <a:p/>
          <a:p>
            <a:r>
              <a:t>CLAIM BOUNDARY</a:t>
            </a:r>
          </a:p>
          <a:p>
            <a:r>
              <a:t>Documented coverage snapshot, not unique customers or a representative population. The competitor module now exists per ADR 0014, but full live validation is pending. Preserve assumptions about market and vehicle-line mappings; confirm them with BMW. Likes and reach are not respondent counts.</a:t>
            </a:r>
          </a:p>
          <a:p/>
          <a:p>
            <a:r>
              <a:t>SOURCE SNAPSHOT: 0fa94c3</a:t>
            </a:r>
          </a:p>
          <a:p>
            <a:r>
              <a:t>SOURCES</a:t>
            </a:r>
          </a:p>
          <a:p>
            <a:r>
              <a:t>docs/architecture/11-knowledge-layer.md</a:t>
            </a:r>
          </a:p>
          <a:p>
            <a:r>
              <a:t>docs/architecture/10-competitor-benchmarking.md</a:t>
            </a:r>
          </a:p>
          <a:p>
            <a:r>
              <a:t>docs/decisions/0008-knowledge-layer-normalization-and-retrieval.md</a:t>
            </a:r>
          </a:p>
          <a:p>
            <a:r>
              <a:t>docs/requirements/01-inputs-and-ingestion.md</a:t>
            </a:r>
          </a:p>
          <a:p>
            <a:r>
              <a:t>docs/requirements/02-analysis-and-structuring.md</a:t>
            </a:r>
          </a:p>
          <a:p>
            <a:r>
              <a:t>docs/decisions/0014-all-roster-agents-implemented.md</a:t>
            </a:r>
          </a:p>
          <a:p>
            <a:r>
              <a:t>docs/decisions/0015-step-runner-and-step-output-on-the-step.md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Q&amp;A only</a:t>
            </a:r>
          </a:p>
          <a:p/>
          <a:p>
            <a:r>
              <a:t>SPEAKER SCRIPT</a:t>
            </a:r>
          </a:p>
          <a:p>
            <a:r>
              <a:t>Ingestion, cited retrieval and live planning work. All roster agents and a backend runner with Critic checks and PM actions are implemented and fixture-tested. The public frontend still shows sample-data reviews. Next are live frontend wiring and writing accepted results into the requirement backlog. Outputs currently stay on steps. Durable execution recovery and recurring refresh remain roadmap items. No measured time saving, recommendation accuracy or customer adoption is claimed.</a:t>
            </a:r>
          </a:p>
          <a:p/>
          <a:p>
            <a:r>
              <a:t>DELIVERY CUE</a:t>
            </a:r>
          </a:p>
          <a:p>
            <a:r>
              <a:t>Use only in Q&amp;A. Implemented code is distinct from live-service validation. Explain step output versus backlog persistence.</a:t>
            </a:r>
          </a:p>
          <a:p/>
          <a:p>
            <a:r>
              <a:t>CLAIM BOUNDARY</a:t>
            </a:r>
          </a:p>
          <a:p>
            <a:r>
              <a:t>ADRs 0014 and 0015 supersede the old Market-only agent and no-runner status. The frontend does not call execution endpoints. Agent store_result methods were not live-validated. The runner deliberately avoids backlog writes. No restart recovery or production worker model is shipped.</a:t>
            </a:r>
          </a:p>
          <a:p/>
          <a:p>
            <a:r>
              <a:t>SOURCE SNAPSHOT: 0fa94c3</a:t>
            </a:r>
          </a:p>
          <a:p>
            <a:r>
              <a:t>SOURCES</a:t>
            </a:r>
          </a:p>
          <a:p>
            <a:r>
              <a:t>docs/architecture/01-agents.md</a:t>
            </a:r>
          </a:p>
          <a:p>
            <a:r>
              <a:t>docs/architecture/02-orchestration-and-human-in-the-loop.md</a:t>
            </a:r>
          </a:p>
          <a:p>
            <a:r>
              <a:t>docs/architecture/12-repo-structure.md</a:t>
            </a:r>
          </a:p>
          <a:p>
            <a:r>
              <a:t>docs/decisions/0003-critic-agent-and-agent-split.md</a:t>
            </a:r>
          </a:p>
          <a:p>
            <a:r>
              <a:t>docs/decisions/0009-web-search-through-the-llm.md</a:t>
            </a:r>
          </a:p>
          <a:p>
            <a:r>
              <a:t>docs/decisions/0012-planner-proposes-code-validates.md</a:t>
            </a:r>
          </a:p>
          <a:p>
            <a:r>
              <a:t>docs/decisions/0013-frontend-uses-only-the-backend-api.md</a:t>
            </a:r>
          </a:p>
          <a:p>
            <a:r>
              <a:t>docs/requirements/05-pm-control-and-traceability.md</a:t>
            </a:r>
          </a:p>
          <a:p>
            <a:r>
              <a:t>docs/requirements/06-lifecycle-and-configuration.md</a:t>
            </a:r>
          </a:p>
          <a:p>
            <a:r>
              <a:t>docs/decisions/0014-all-roster-agents-implemented.md</a:t>
            </a:r>
          </a:p>
          <a:p>
            <a:r>
              <a:t>docs/decisions/0015-step-runner-and-step-output-on-the-step.md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bmw-product-intelligence.vercel.app"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show="1">
  <p:cSld>
    <p:bg>
      <p:bgPr>
        <a:solidFill>
          <a:srgbClr val="1A2129"/>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A2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92608"/>
            <a:ext cx="9875520" cy="210312"/>
          </a:xfrm>
          <a:prstGeom prst="rect">
            <a:avLst/>
          </a:prstGeom>
          <a:noFill/>
        </p:spPr>
        <p:txBody>
          <a:bodyPr wrap="none" lIns="0" rIns="0" tIns="0" bIns="0" anchor="t">
            <a:noAutofit/>
          </a:bodyPr>
          <a:lstStyle/>
          <a:p>
            <a:pPr algn="l">
              <a:lnSpc>
                <a:spcPts val="1297"/>
              </a:lnSpc>
              <a:spcBef>
                <a:spcPts val="0"/>
              </a:spcBef>
              <a:spcAft>
                <a:spcPts val="0"/>
              </a:spcAft>
            </a:pPr>
            <a:r>
              <a:rPr sz="1100" b="1">
                <a:solidFill>
                  <a:srgbClr val="FFFFFF"/>
                </a:solidFill>
                <a:latin typeface="Inter"/>
              </a:rPr>
              <a:t>BMW PRODUCT INTELLIGENCE</a:t>
            </a:r>
          </a:p>
        </p:txBody>
      </p:sp>
      <p:sp>
        <p:nvSpPr>
          <p:cNvPr id="4" name="TextBox 3"/>
          <p:cNvSpPr txBox="1"/>
          <p:nvPr/>
        </p:nvSpPr>
        <p:spPr>
          <a:xfrm>
            <a:off x="612648" y="877824"/>
            <a:ext cx="10991088" cy="1252728"/>
          </a:xfrm>
          <a:prstGeom prst="rect">
            <a:avLst/>
          </a:prstGeom>
          <a:noFill/>
        </p:spPr>
        <p:txBody>
          <a:bodyPr wrap="none" lIns="0" rIns="0" tIns="0" bIns="0" anchor="t">
            <a:noAutofit/>
          </a:bodyPr>
          <a:lstStyle/>
          <a:p>
            <a:pPr algn="l">
              <a:lnSpc>
                <a:spcPts val="4256"/>
              </a:lnSpc>
              <a:spcBef>
                <a:spcPts val="0"/>
              </a:spcBef>
              <a:spcAft>
                <a:spcPts val="0"/>
              </a:spcAft>
            </a:pPr>
            <a:r>
              <a:rPr sz="3800" b="1">
                <a:solidFill>
                  <a:srgbClr val="FFFFFF"/>
                </a:solidFill>
                <a:latin typeface="Inter"/>
              </a:rPr>
              <a:t>Which customer needs</a:t>
            </a:r>
          </a:p>
          <a:p>
            <a:pPr algn="l">
              <a:lnSpc>
                <a:spcPts val="4256"/>
              </a:lnSpc>
              <a:spcBef>
                <a:spcPts val="0"/>
              </a:spcBef>
              <a:spcAft>
                <a:spcPts val="0"/>
              </a:spcAft>
            </a:pPr>
            <a:r>
              <a:rPr sz="3800" b="1">
                <a:solidFill>
                  <a:srgbClr val="FFFFFF"/>
                </a:solidFill>
                <a:latin typeface="Inter"/>
              </a:rPr>
              <a:t>shape the next vehicle?</a:t>
            </a:r>
          </a:p>
        </p:txBody>
      </p:sp>
      <p:sp>
        <p:nvSpPr>
          <p:cNvPr id="5" name="TextBox 4"/>
          <p:cNvSpPr txBox="1"/>
          <p:nvPr/>
        </p:nvSpPr>
        <p:spPr>
          <a:xfrm>
            <a:off x="612648" y="2496312"/>
            <a:ext cx="9875520" cy="530352"/>
          </a:xfrm>
          <a:prstGeom prst="rect">
            <a:avLst/>
          </a:prstGeom>
          <a:noFill/>
        </p:spPr>
        <p:txBody>
          <a:bodyPr wrap="none" lIns="0" rIns="0" tIns="0" bIns="0" anchor="t">
            <a:noAutofit/>
          </a:bodyPr>
          <a:lstStyle/>
          <a:p>
            <a:pPr algn="l">
              <a:lnSpc>
                <a:spcPts val="3186"/>
              </a:lnSpc>
              <a:spcBef>
                <a:spcPts val="0"/>
              </a:spcBef>
              <a:spcAft>
                <a:spcPts val="0"/>
              </a:spcAft>
            </a:pPr>
            <a:r>
              <a:rPr sz="2700" b="0">
                <a:solidFill>
                  <a:srgbClr val="FFFFFF"/>
                </a:solidFill>
                <a:latin typeface="Inter Light"/>
              </a:rPr>
              <a:t>Evidence to requirements. PMs in control.</a:t>
            </a:r>
          </a:p>
        </p:txBody>
      </p:sp>
      <p:cxnSp>
        <p:nvCxnSpPr>
          <p:cNvPr id="6" name="Connector 5"/>
          <p:cNvCxnSpPr/>
          <p:nvPr/>
        </p:nvCxnSpPr>
        <p:spPr>
          <a:xfrm>
            <a:off x="612648" y="3867912"/>
            <a:ext cx="3017520" cy="0"/>
          </a:xfrm>
          <a:prstGeom prst="line">
            <a:avLst/>
          </a:prstGeom>
          <a:ln w="12700">
            <a:solidFill>
              <a:srgbClr val="4A5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4160520"/>
            <a:ext cx="3200400" cy="457200"/>
          </a:xfrm>
          <a:prstGeom prst="rect">
            <a:avLst/>
          </a:prstGeom>
          <a:noFill/>
        </p:spPr>
        <p:txBody>
          <a:bodyPr wrap="none" lIns="0" rIns="0" tIns="0" bIns="0" anchor="t">
            <a:noAutofit/>
          </a:bodyPr>
          <a:lstStyle/>
          <a:p>
            <a:pPr algn="l">
              <a:lnSpc>
                <a:spcPts val="2713"/>
              </a:lnSpc>
              <a:spcBef>
                <a:spcPts val="0"/>
              </a:spcBef>
              <a:spcAft>
                <a:spcPts val="0"/>
              </a:spcAft>
            </a:pPr>
            <a:r>
              <a:rPr sz="2300" b="1">
                <a:solidFill>
                  <a:srgbClr val="FFFFFF"/>
                </a:solidFill>
                <a:latin typeface="Inter"/>
              </a:rPr>
              <a:t>Customer feedback</a:t>
            </a:r>
          </a:p>
        </p:txBody>
      </p:sp>
      <p:sp>
        <p:nvSpPr>
          <p:cNvPr id="8" name="TextBox 7"/>
          <p:cNvSpPr txBox="1"/>
          <p:nvPr/>
        </p:nvSpPr>
        <p:spPr>
          <a:xfrm>
            <a:off x="612648" y="4700016"/>
            <a:ext cx="3200400" cy="576072"/>
          </a:xfrm>
          <a:prstGeom prst="rect">
            <a:avLst/>
          </a:prstGeom>
          <a:noFill/>
        </p:spPr>
        <p:txBody>
          <a:bodyPr wrap="none" lIns="0" rIns="0" tIns="0" bIns="0" anchor="t">
            <a:noAutofit/>
          </a:bodyPr>
          <a:lstStyle/>
          <a:p>
            <a:pPr algn="l">
              <a:lnSpc>
                <a:spcPts val="2124"/>
              </a:lnSpc>
              <a:spcBef>
                <a:spcPts val="0"/>
              </a:spcBef>
              <a:spcAft>
                <a:spcPts val="0"/>
              </a:spcAft>
            </a:pPr>
            <a:r>
              <a:rPr sz="1800" b="0">
                <a:solidFill>
                  <a:srgbClr val="BBBBBB"/>
                </a:solidFill>
                <a:latin typeface="Inter Light"/>
              </a:rPr>
              <a:t>Spreadsheets and studies</a:t>
            </a:r>
          </a:p>
        </p:txBody>
      </p:sp>
      <p:cxnSp>
        <p:nvCxnSpPr>
          <p:cNvPr id="9" name="Connector 8"/>
          <p:cNvCxnSpPr/>
          <p:nvPr/>
        </p:nvCxnSpPr>
        <p:spPr>
          <a:xfrm>
            <a:off x="4315968" y="3867912"/>
            <a:ext cx="3017520" cy="0"/>
          </a:xfrm>
          <a:prstGeom prst="line">
            <a:avLst/>
          </a:prstGeom>
          <a:ln w="12700">
            <a:solidFill>
              <a:srgbClr val="4A535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315968" y="4160520"/>
            <a:ext cx="3200400" cy="457200"/>
          </a:xfrm>
          <a:prstGeom prst="rect">
            <a:avLst/>
          </a:prstGeom>
          <a:noFill/>
        </p:spPr>
        <p:txBody>
          <a:bodyPr wrap="none" lIns="0" rIns="0" tIns="0" bIns="0" anchor="t">
            <a:noAutofit/>
          </a:bodyPr>
          <a:lstStyle/>
          <a:p>
            <a:pPr algn="l">
              <a:lnSpc>
                <a:spcPts val="2713"/>
              </a:lnSpc>
              <a:spcBef>
                <a:spcPts val="0"/>
              </a:spcBef>
              <a:spcAft>
                <a:spcPts val="0"/>
              </a:spcAft>
            </a:pPr>
            <a:r>
              <a:rPr sz="2300" b="1">
                <a:solidFill>
                  <a:srgbClr val="FFFFFF"/>
                </a:solidFill>
                <a:latin typeface="Inter"/>
              </a:rPr>
              <a:t>Product data</a:t>
            </a:r>
          </a:p>
        </p:txBody>
      </p:sp>
      <p:sp>
        <p:nvSpPr>
          <p:cNvPr id="11" name="TextBox 10"/>
          <p:cNvSpPr txBox="1"/>
          <p:nvPr/>
        </p:nvSpPr>
        <p:spPr>
          <a:xfrm>
            <a:off x="4315968" y="4700016"/>
            <a:ext cx="3200400" cy="576072"/>
          </a:xfrm>
          <a:prstGeom prst="rect">
            <a:avLst/>
          </a:prstGeom>
          <a:noFill/>
        </p:spPr>
        <p:txBody>
          <a:bodyPr wrap="none" lIns="0" rIns="0" tIns="0" bIns="0" anchor="t">
            <a:noAutofit/>
          </a:bodyPr>
          <a:lstStyle/>
          <a:p>
            <a:pPr algn="l">
              <a:lnSpc>
                <a:spcPts val="2124"/>
              </a:lnSpc>
              <a:spcBef>
                <a:spcPts val="0"/>
              </a:spcBef>
              <a:spcAft>
                <a:spcPts val="0"/>
              </a:spcAft>
            </a:pPr>
            <a:r>
              <a:rPr sz="1800" b="0">
                <a:solidFill>
                  <a:srgbClr val="BBBBBB"/>
                </a:solidFill>
                <a:latin typeface="Inter Light"/>
              </a:rPr>
              <a:t>Catalogs, options and sales</a:t>
            </a:r>
          </a:p>
        </p:txBody>
      </p:sp>
      <p:cxnSp>
        <p:nvCxnSpPr>
          <p:cNvPr id="12" name="Connector 11"/>
          <p:cNvCxnSpPr/>
          <p:nvPr/>
        </p:nvCxnSpPr>
        <p:spPr>
          <a:xfrm>
            <a:off x="8019288" y="3867912"/>
            <a:ext cx="3017520" cy="0"/>
          </a:xfrm>
          <a:prstGeom prst="line">
            <a:avLst/>
          </a:prstGeom>
          <a:ln w="12700">
            <a:solidFill>
              <a:srgbClr val="4A535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019288" y="4160520"/>
            <a:ext cx="3200400" cy="457200"/>
          </a:xfrm>
          <a:prstGeom prst="rect">
            <a:avLst/>
          </a:prstGeom>
          <a:noFill/>
        </p:spPr>
        <p:txBody>
          <a:bodyPr wrap="none" lIns="0" rIns="0" tIns="0" bIns="0" anchor="t">
            <a:noAutofit/>
          </a:bodyPr>
          <a:lstStyle/>
          <a:p>
            <a:pPr algn="l">
              <a:lnSpc>
                <a:spcPts val="2713"/>
              </a:lnSpc>
              <a:spcBef>
                <a:spcPts val="0"/>
              </a:spcBef>
              <a:spcAft>
                <a:spcPts val="0"/>
              </a:spcAft>
            </a:pPr>
            <a:r>
              <a:rPr sz="2300" b="1">
                <a:solidFill>
                  <a:srgbClr val="FFFFFF"/>
                </a:solidFill>
                <a:latin typeface="Inter"/>
              </a:rPr>
              <a:t>Market research</a:t>
            </a:r>
          </a:p>
        </p:txBody>
      </p:sp>
      <p:sp>
        <p:nvSpPr>
          <p:cNvPr id="14" name="TextBox 13"/>
          <p:cNvSpPr txBox="1"/>
          <p:nvPr/>
        </p:nvSpPr>
        <p:spPr>
          <a:xfrm>
            <a:off x="8019288" y="4700016"/>
            <a:ext cx="3200400" cy="576072"/>
          </a:xfrm>
          <a:prstGeom prst="rect">
            <a:avLst/>
          </a:prstGeom>
          <a:noFill/>
        </p:spPr>
        <p:txBody>
          <a:bodyPr wrap="none" lIns="0" rIns="0" tIns="0" bIns="0" anchor="t">
            <a:noAutofit/>
          </a:bodyPr>
          <a:lstStyle/>
          <a:p>
            <a:pPr algn="l">
              <a:lnSpc>
                <a:spcPts val="2124"/>
              </a:lnSpc>
              <a:spcBef>
                <a:spcPts val="0"/>
              </a:spcBef>
              <a:spcAft>
                <a:spcPts val="0"/>
              </a:spcAft>
            </a:pPr>
            <a:r>
              <a:rPr sz="1800" b="0">
                <a:solidFill>
                  <a:srgbClr val="BBBBBB"/>
                </a:solidFill>
                <a:latin typeface="Inter Light"/>
              </a:rPr>
              <a:t>Rival products and trends</a:t>
            </a:r>
          </a:p>
        </p:txBody>
      </p:sp>
      <p:sp>
        <p:nvSpPr>
          <p:cNvPr id="15" name="Rectangle 14"/>
          <p:cNvSpPr/>
          <p:nvPr/>
        </p:nvSpPr>
        <p:spPr>
          <a:xfrm>
            <a:off x="612648" y="5532120"/>
            <a:ext cx="10991088" cy="576072"/>
          </a:xfrm>
          <a:prstGeom prst="rect">
            <a:avLst/>
          </a:prstGeom>
          <a:solidFill>
            <a:srgbClr val="1C6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669280"/>
            <a:ext cx="10424160" cy="301752"/>
          </a:xfrm>
          <a:prstGeom prst="rect">
            <a:avLst/>
          </a:prstGeom>
          <a:noFill/>
        </p:spPr>
        <p:txBody>
          <a:bodyPr wrap="none" lIns="0" rIns="0" tIns="0" bIns="0" anchor="t">
            <a:noAutofit/>
          </a:bodyPr>
          <a:lstStyle/>
          <a:p>
            <a:pPr algn="l">
              <a:lnSpc>
                <a:spcPts val="2242"/>
              </a:lnSpc>
              <a:spcBef>
                <a:spcPts val="0"/>
              </a:spcBef>
              <a:spcAft>
                <a:spcPts val="0"/>
              </a:spcAft>
            </a:pPr>
            <a:r>
              <a:rPr sz="1900" b="0">
                <a:solidFill>
                  <a:srgbClr val="FFFFFF"/>
                </a:solidFill>
                <a:latin typeface="Inter Light"/>
              </a:rPr>
              <a:t>From scattered sources to a requirement the PM can defend.</a:t>
            </a:r>
          </a:p>
        </p:txBody>
      </p:sp>
      <p:sp>
        <p:nvSpPr>
          <p:cNvPr id="17" name="TextBox 16"/>
          <p:cNvSpPr txBox="1"/>
          <p:nvPr/>
        </p:nvSpPr>
        <p:spPr>
          <a:xfrm>
            <a:off x="612648" y="6492240"/>
            <a:ext cx="9921240" cy="182880"/>
          </a:xfrm>
          <a:prstGeom prst="rect">
            <a:avLst/>
          </a:prstGeom>
          <a:noFill/>
        </p:spPr>
        <p:txBody>
          <a:bodyPr wrap="none" lIns="0" rIns="0" tIns="0" bIns="0" anchor="t">
            <a:noAutofit/>
          </a:bodyPr>
          <a:lstStyle/>
          <a:p>
            <a:pPr algn="l">
              <a:lnSpc>
                <a:spcPts val="1180"/>
              </a:lnSpc>
              <a:spcBef>
                <a:spcPts val="0"/>
              </a:spcBef>
              <a:spcAft>
                <a:spcPts val="0"/>
              </a:spcAft>
            </a:pPr>
            <a:r>
              <a:rPr sz="1000" b="0">
                <a:solidFill>
                  <a:srgbClr val="BBBBBB"/>
                </a:solidFill>
                <a:latin typeface="Inter"/>
              </a:rPr>
              <a:t>Requirement Evidence Engine | BMW hackathon prototype</a:t>
            </a:r>
          </a:p>
        </p:txBody>
      </p:sp>
      <p:sp>
        <p:nvSpPr>
          <p:cNvPr id="18" name="TextBox 17"/>
          <p:cNvSpPr txBox="1"/>
          <p:nvPr/>
        </p:nvSpPr>
        <p:spPr>
          <a:xfrm>
            <a:off x="10881360" y="6492240"/>
            <a:ext cx="685800" cy="182880"/>
          </a:xfrm>
          <a:prstGeom prst="rect">
            <a:avLst/>
          </a:prstGeom>
          <a:noFill/>
        </p:spPr>
        <p:txBody>
          <a:bodyPr wrap="none" lIns="0" rIns="0" tIns="0" bIns="0" anchor="t">
            <a:noAutofit/>
          </a:bodyPr>
          <a:lstStyle/>
          <a:p>
            <a:pPr algn="r">
              <a:lnSpc>
                <a:spcPts val="1180"/>
              </a:lnSpc>
              <a:spcBef>
                <a:spcPts val="0"/>
              </a:spcBef>
              <a:spcAft>
                <a:spcPts val="0"/>
              </a:spcAft>
            </a:pPr>
            <a:r>
              <a:rPr sz="1000" b="0">
                <a:solidFill>
                  <a:srgbClr val="BBBBBB"/>
                </a:solidFill>
                <a:latin typeface="Inter"/>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1">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92608"/>
            <a:ext cx="9875520" cy="210312"/>
          </a:xfrm>
          <a:prstGeom prst="rect">
            <a:avLst/>
          </a:prstGeom>
          <a:noFill/>
        </p:spPr>
        <p:txBody>
          <a:bodyPr wrap="none" lIns="0" rIns="0" tIns="0" bIns="0" anchor="t">
            <a:noAutofit/>
          </a:bodyPr>
          <a:lstStyle/>
          <a:p>
            <a:pPr algn="l">
              <a:lnSpc>
                <a:spcPts val="1297"/>
              </a:lnSpc>
              <a:spcBef>
                <a:spcPts val="0"/>
              </a:spcBef>
              <a:spcAft>
                <a:spcPts val="0"/>
              </a:spcAft>
            </a:pPr>
            <a:r>
              <a:rPr sz="1100" b="1">
                <a:solidFill>
                  <a:srgbClr val="1C69D4"/>
                </a:solidFill>
                <a:latin typeface="Inter"/>
              </a:rPr>
              <a:t>BMW PRODUCT INTELLIGENCE</a:t>
            </a:r>
          </a:p>
        </p:txBody>
      </p:sp>
      <p:sp>
        <p:nvSpPr>
          <p:cNvPr id="4" name="TextBox 3"/>
          <p:cNvSpPr txBox="1"/>
          <p:nvPr/>
        </p:nvSpPr>
        <p:spPr>
          <a:xfrm>
            <a:off x="612648" y="877824"/>
            <a:ext cx="10991088" cy="1252728"/>
          </a:xfrm>
          <a:prstGeom prst="rect">
            <a:avLst/>
          </a:prstGeom>
          <a:noFill/>
        </p:spPr>
        <p:txBody>
          <a:bodyPr wrap="none" lIns="0" rIns="0" tIns="0" bIns="0" anchor="t">
            <a:noAutofit/>
          </a:bodyPr>
          <a:lstStyle/>
          <a:p>
            <a:pPr algn="l">
              <a:lnSpc>
                <a:spcPts val="4256"/>
              </a:lnSpc>
              <a:spcBef>
                <a:spcPts val="0"/>
              </a:spcBef>
              <a:spcAft>
                <a:spcPts val="0"/>
              </a:spcAft>
            </a:pPr>
            <a:r>
              <a:rPr sz="3800" b="1">
                <a:solidFill>
                  <a:srgbClr val="262626"/>
                </a:solidFill>
                <a:latin typeface="Inter"/>
              </a:rPr>
              <a:t>A shared evidence base.</a:t>
            </a:r>
          </a:p>
          <a:p>
            <a:pPr algn="l">
              <a:lnSpc>
                <a:spcPts val="4256"/>
              </a:lnSpc>
              <a:spcBef>
                <a:spcPts val="0"/>
              </a:spcBef>
              <a:spcAft>
                <a:spcPts val="0"/>
              </a:spcAft>
            </a:pPr>
            <a:r>
              <a:rPr sz="3800" b="1">
                <a:solidFill>
                  <a:srgbClr val="262626"/>
                </a:solidFill>
                <a:latin typeface="Inter"/>
              </a:rPr>
              <a:t>Every source stays traceable.</a:t>
            </a:r>
          </a:p>
        </p:txBody>
      </p:sp>
      <p:sp>
        <p:nvSpPr>
          <p:cNvPr id="5" name="TextBox 4"/>
          <p:cNvSpPr txBox="1"/>
          <p:nvPr/>
        </p:nvSpPr>
        <p:spPr>
          <a:xfrm>
            <a:off x="612648" y="2487168"/>
            <a:ext cx="5486400" cy="1234440"/>
          </a:xfrm>
          <a:prstGeom prst="rect">
            <a:avLst/>
          </a:prstGeom>
          <a:noFill/>
        </p:spPr>
        <p:txBody>
          <a:bodyPr wrap="none" lIns="0" rIns="0" tIns="0" bIns="0" anchor="t">
            <a:noAutofit/>
          </a:bodyPr>
          <a:lstStyle/>
          <a:p>
            <a:pPr algn="l">
              <a:lnSpc>
                <a:spcPts val="8968"/>
              </a:lnSpc>
              <a:spcBef>
                <a:spcPts val="0"/>
              </a:spcBef>
              <a:spcAft>
                <a:spcPts val="0"/>
              </a:spcAft>
            </a:pPr>
            <a:r>
              <a:rPr sz="7600" b="1">
                <a:solidFill>
                  <a:srgbClr val="1C69D4"/>
                </a:solidFill>
                <a:latin typeface="Inter"/>
              </a:rPr>
              <a:t>13,771</a:t>
            </a:r>
          </a:p>
        </p:txBody>
      </p:sp>
      <p:sp>
        <p:nvSpPr>
          <p:cNvPr id="6" name="TextBox 5"/>
          <p:cNvSpPr txBox="1"/>
          <p:nvPr/>
        </p:nvSpPr>
        <p:spPr>
          <a:xfrm>
            <a:off x="658368" y="3794760"/>
            <a:ext cx="5394960" cy="457200"/>
          </a:xfrm>
          <a:prstGeom prst="rect">
            <a:avLst/>
          </a:prstGeom>
          <a:noFill/>
        </p:spPr>
        <p:txBody>
          <a:bodyPr wrap="none" lIns="0" rIns="0" tIns="0" bIns="0" anchor="t">
            <a:noAutofit/>
          </a:bodyPr>
          <a:lstStyle/>
          <a:p>
            <a:pPr algn="l">
              <a:lnSpc>
                <a:spcPts val="3186"/>
              </a:lnSpc>
              <a:spcBef>
                <a:spcPts val="0"/>
              </a:spcBef>
              <a:spcAft>
                <a:spcPts val="0"/>
              </a:spcAft>
            </a:pPr>
            <a:r>
              <a:rPr sz="2700" b="1">
                <a:solidFill>
                  <a:srgbClr val="262626"/>
                </a:solidFill>
                <a:latin typeface="Inter"/>
              </a:rPr>
              <a:t>Customer comments</a:t>
            </a:r>
          </a:p>
        </p:txBody>
      </p:sp>
      <p:sp>
        <p:nvSpPr>
          <p:cNvPr id="7" name="TextBox 6"/>
          <p:cNvSpPr txBox="1"/>
          <p:nvPr/>
        </p:nvSpPr>
        <p:spPr>
          <a:xfrm>
            <a:off x="658368" y="4343400"/>
            <a:ext cx="5257800" cy="832104"/>
          </a:xfrm>
          <a:prstGeom prst="rect">
            <a:avLst/>
          </a:prstGeom>
          <a:noFill/>
        </p:spPr>
        <p:txBody>
          <a:bodyPr wrap="none" lIns="0" rIns="0" tIns="0" bIns="0" anchor="t">
            <a:noAutofit/>
          </a:bodyPr>
          <a:lstStyle/>
          <a:p>
            <a:pPr algn="l">
              <a:lnSpc>
                <a:spcPts val="2242"/>
              </a:lnSpc>
              <a:spcBef>
                <a:spcPts val="0"/>
              </a:spcBef>
              <a:spcAft>
                <a:spcPts val="0"/>
              </a:spcAft>
            </a:pPr>
            <a:r>
              <a:rPr sz="1900" b="0">
                <a:solidFill>
                  <a:srgbClr val="3C3C3C"/>
                </a:solidFill>
                <a:latin typeface="Inter Light"/>
              </a:rPr>
              <a:t>Loaded from the provided BMW files.</a:t>
            </a:r>
          </a:p>
          <a:p>
            <a:pPr algn="l">
              <a:lnSpc>
                <a:spcPts val="2242"/>
              </a:lnSpc>
              <a:spcBef>
                <a:spcPts val="0"/>
              </a:spcBef>
              <a:spcAft>
                <a:spcPts val="0"/>
              </a:spcAft>
            </a:pPr>
            <a:r>
              <a:rPr sz="1900" b="0">
                <a:solidFill>
                  <a:srgbClr val="3C3C3C"/>
                </a:solidFill>
                <a:latin typeface="Inter Light"/>
              </a:rPr>
              <a:t>Original file and location preserved.</a:t>
            </a:r>
          </a:p>
        </p:txBody>
      </p:sp>
      <p:cxnSp>
        <p:nvCxnSpPr>
          <p:cNvPr id="8" name="Connector 7"/>
          <p:cNvCxnSpPr/>
          <p:nvPr/>
        </p:nvCxnSpPr>
        <p:spPr>
          <a:xfrm>
            <a:off x="6528816" y="2331720"/>
            <a:ext cx="5038344" cy="0"/>
          </a:xfrm>
          <a:prstGeom prst="line">
            <a:avLst/>
          </a:prstGeom>
          <a:ln w="12700">
            <a:solidFill>
              <a:srgbClr val="E6E6E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28816" y="2487168"/>
            <a:ext cx="1865376" cy="612648"/>
          </a:xfrm>
          <a:prstGeom prst="rect">
            <a:avLst/>
          </a:prstGeom>
          <a:noFill/>
        </p:spPr>
        <p:txBody>
          <a:bodyPr wrap="none" lIns="0" rIns="0" tIns="0" bIns="0" anchor="t">
            <a:noAutofit/>
          </a:bodyPr>
          <a:lstStyle/>
          <a:p>
            <a:pPr algn="l">
              <a:lnSpc>
                <a:spcPts val="3894"/>
              </a:lnSpc>
              <a:spcBef>
                <a:spcPts val="0"/>
              </a:spcBef>
              <a:spcAft>
                <a:spcPts val="0"/>
              </a:spcAft>
            </a:pPr>
            <a:r>
              <a:rPr sz="3300" b="1">
                <a:solidFill>
                  <a:srgbClr val="1C69D4"/>
                </a:solidFill>
                <a:latin typeface="Inter"/>
              </a:rPr>
              <a:t>1,627</a:t>
            </a:r>
          </a:p>
        </p:txBody>
      </p:sp>
      <p:sp>
        <p:nvSpPr>
          <p:cNvPr id="10" name="TextBox 9"/>
          <p:cNvSpPr txBox="1"/>
          <p:nvPr/>
        </p:nvSpPr>
        <p:spPr>
          <a:xfrm>
            <a:off x="8595360" y="2523744"/>
            <a:ext cx="2926080" cy="603504"/>
          </a:xfrm>
          <a:prstGeom prst="rect">
            <a:avLst/>
          </a:prstGeom>
          <a:noFill/>
        </p:spPr>
        <p:txBody>
          <a:bodyPr wrap="none" lIns="0" rIns="0" tIns="0" bIns="0" anchor="t">
            <a:noAutofit/>
          </a:bodyPr>
          <a:lstStyle/>
          <a:p>
            <a:pPr algn="l">
              <a:lnSpc>
                <a:spcPts val="2360"/>
              </a:lnSpc>
              <a:spcBef>
                <a:spcPts val="0"/>
              </a:spcBef>
              <a:spcAft>
                <a:spcPts val="0"/>
              </a:spcAft>
            </a:pPr>
            <a:r>
              <a:rPr sz="2000" b="0">
                <a:solidFill>
                  <a:srgbClr val="262626"/>
                </a:solidFill>
                <a:latin typeface="Inter Light"/>
              </a:rPr>
              <a:t>Customer-study cells</a:t>
            </a:r>
          </a:p>
        </p:txBody>
      </p:sp>
      <p:cxnSp>
        <p:nvCxnSpPr>
          <p:cNvPr id="11" name="Connector 10"/>
          <p:cNvCxnSpPr/>
          <p:nvPr/>
        </p:nvCxnSpPr>
        <p:spPr>
          <a:xfrm>
            <a:off x="6528816" y="3419856"/>
            <a:ext cx="5038344" cy="0"/>
          </a:xfrm>
          <a:prstGeom prst="line">
            <a:avLst/>
          </a:prstGeom>
          <a:ln w="12700">
            <a:solidFill>
              <a:srgbClr val="E6E6E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528816" y="3575304"/>
            <a:ext cx="1865376" cy="612648"/>
          </a:xfrm>
          <a:prstGeom prst="rect">
            <a:avLst/>
          </a:prstGeom>
          <a:noFill/>
        </p:spPr>
        <p:txBody>
          <a:bodyPr wrap="none" lIns="0" rIns="0" tIns="0" bIns="0" anchor="t">
            <a:noAutofit/>
          </a:bodyPr>
          <a:lstStyle/>
          <a:p>
            <a:pPr algn="l">
              <a:lnSpc>
                <a:spcPts val="3894"/>
              </a:lnSpc>
              <a:spcBef>
                <a:spcPts val="0"/>
              </a:spcBef>
              <a:spcAft>
                <a:spcPts val="0"/>
              </a:spcAft>
            </a:pPr>
            <a:r>
              <a:rPr sz="3300" b="1">
                <a:solidFill>
                  <a:srgbClr val="1C69D4"/>
                </a:solidFill>
                <a:latin typeface="Inter"/>
              </a:rPr>
              <a:t>198</a:t>
            </a:r>
          </a:p>
        </p:txBody>
      </p:sp>
      <p:sp>
        <p:nvSpPr>
          <p:cNvPr id="13" name="TextBox 12"/>
          <p:cNvSpPr txBox="1"/>
          <p:nvPr/>
        </p:nvSpPr>
        <p:spPr>
          <a:xfrm>
            <a:off x="8595360" y="3611880"/>
            <a:ext cx="2926080" cy="603504"/>
          </a:xfrm>
          <a:prstGeom prst="rect">
            <a:avLst/>
          </a:prstGeom>
          <a:noFill/>
        </p:spPr>
        <p:txBody>
          <a:bodyPr wrap="none" lIns="0" rIns="0" tIns="0" bIns="0" anchor="t">
            <a:noAutofit/>
          </a:bodyPr>
          <a:lstStyle/>
          <a:p>
            <a:pPr algn="l">
              <a:lnSpc>
                <a:spcPts val="2360"/>
              </a:lnSpc>
              <a:spcBef>
                <a:spcPts val="0"/>
              </a:spcBef>
              <a:spcAft>
                <a:spcPts val="0"/>
              </a:spcAft>
            </a:pPr>
            <a:r>
              <a:rPr sz="2000" b="0">
                <a:solidFill>
                  <a:srgbClr val="262626"/>
                </a:solidFill>
                <a:latin typeface="Inter Light"/>
              </a:rPr>
              <a:t>Equipment options</a:t>
            </a:r>
          </a:p>
        </p:txBody>
      </p:sp>
      <p:cxnSp>
        <p:nvCxnSpPr>
          <p:cNvPr id="14" name="Connector 13"/>
          <p:cNvCxnSpPr/>
          <p:nvPr/>
        </p:nvCxnSpPr>
        <p:spPr>
          <a:xfrm>
            <a:off x="6528816" y="4507992"/>
            <a:ext cx="5038344" cy="0"/>
          </a:xfrm>
          <a:prstGeom prst="line">
            <a:avLst/>
          </a:prstGeom>
          <a:ln w="12700">
            <a:solidFill>
              <a:srgbClr val="E6E6E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528816" y="4663440"/>
            <a:ext cx="1865376" cy="612648"/>
          </a:xfrm>
          <a:prstGeom prst="rect">
            <a:avLst/>
          </a:prstGeom>
          <a:noFill/>
        </p:spPr>
        <p:txBody>
          <a:bodyPr wrap="none" lIns="0" rIns="0" tIns="0" bIns="0" anchor="t">
            <a:noAutofit/>
          </a:bodyPr>
          <a:lstStyle/>
          <a:p>
            <a:pPr algn="l">
              <a:lnSpc>
                <a:spcPts val="3894"/>
              </a:lnSpc>
              <a:spcBef>
                <a:spcPts val="0"/>
              </a:spcBef>
              <a:spcAft>
                <a:spcPts val="0"/>
              </a:spcAft>
            </a:pPr>
            <a:r>
              <a:rPr sz="3300" b="1">
                <a:solidFill>
                  <a:srgbClr val="1C69D4"/>
                </a:solidFill>
                <a:latin typeface="Inter"/>
              </a:rPr>
              <a:t>149</a:t>
            </a:r>
          </a:p>
        </p:txBody>
      </p:sp>
      <p:sp>
        <p:nvSpPr>
          <p:cNvPr id="16" name="TextBox 15"/>
          <p:cNvSpPr txBox="1"/>
          <p:nvPr/>
        </p:nvSpPr>
        <p:spPr>
          <a:xfrm>
            <a:off x="8595360" y="4700016"/>
            <a:ext cx="2926080" cy="603504"/>
          </a:xfrm>
          <a:prstGeom prst="rect">
            <a:avLst/>
          </a:prstGeom>
          <a:noFill/>
        </p:spPr>
        <p:txBody>
          <a:bodyPr wrap="none" lIns="0" rIns="0" tIns="0" bIns="0" anchor="t">
            <a:noAutofit/>
          </a:bodyPr>
          <a:lstStyle/>
          <a:p>
            <a:pPr algn="l">
              <a:lnSpc>
                <a:spcPts val="2360"/>
              </a:lnSpc>
              <a:spcBef>
                <a:spcPts val="0"/>
              </a:spcBef>
              <a:spcAft>
                <a:spcPts val="0"/>
              </a:spcAft>
            </a:pPr>
            <a:r>
              <a:rPr sz="2000" b="0">
                <a:solidFill>
                  <a:srgbClr val="262626"/>
                </a:solidFill>
                <a:latin typeface="Inter Light"/>
              </a:rPr>
              <a:t>Catalog text passages</a:t>
            </a:r>
          </a:p>
        </p:txBody>
      </p:sp>
      <p:sp>
        <p:nvSpPr>
          <p:cNvPr id="17" name="Rectangle 16"/>
          <p:cNvSpPr/>
          <p:nvPr/>
        </p:nvSpPr>
        <p:spPr>
          <a:xfrm>
            <a:off x="612648" y="5769864"/>
            <a:ext cx="10991088" cy="493776"/>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5888736"/>
            <a:ext cx="10515600" cy="274320"/>
          </a:xfrm>
          <a:prstGeom prst="rect">
            <a:avLst/>
          </a:prstGeom>
          <a:noFill/>
        </p:spPr>
        <p:txBody>
          <a:bodyPr wrap="none" lIns="0" rIns="0" tIns="0" bIns="0" anchor="t">
            <a:noAutofit/>
          </a:bodyPr>
          <a:lstStyle/>
          <a:p>
            <a:pPr algn="l">
              <a:lnSpc>
                <a:spcPts val="1888"/>
              </a:lnSpc>
              <a:spcBef>
                <a:spcPts val="0"/>
              </a:spcBef>
              <a:spcAft>
                <a:spcPts val="0"/>
              </a:spcAft>
            </a:pPr>
            <a:r>
              <a:rPr sz="1600" b="0">
                <a:solidFill>
                  <a:srgbClr val="3C3C3C"/>
                </a:solidFill>
                <a:latin typeface="Inter Light"/>
              </a:rPr>
              <a:t>China has study and sales data, but no customer feedback in this dataset.</a:t>
            </a:r>
          </a:p>
        </p:txBody>
      </p:sp>
      <p:sp>
        <p:nvSpPr>
          <p:cNvPr id="19" name="TextBox 18"/>
          <p:cNvSpPr txBox="1"/>
          <p:nvPr/>
        </p:nvSpPr>
        <p:spPr>
          <a:xfrm>
            <a:off x="612648" y="6492240"/>
            <a:ext cx="9921240" cy="182880"/>
          </a:xfrm>
          <a:prstGeom prst="rect">
            <a:avLst/>
          </a:prstGeom>
          <a:noFill/>
        </p:spPr>
        <p:txBody>
          <a:bodyPr wrap="none" lIns="0" rIns="0" tIns="0" bIns="0" anchor="t">
            <a:noAutofit/>
          </a:bodyPr>
          <a:lstStyle/>
          <a:p>
            <a:pPr algn="l">
              <a:lnSpc>
                <a:spcPts val="1180"/>
              </a:lnSpc>
              <a:spcBef>
                <a:spcPts val="0"/>
              </a:spcBef>
              <a:spcAft>
                <a:spcPts val="0"/>
              </a:spcAft>
            </a:pPr>
            <a:r>
              <a:rPr sz="1000" b="0">
                <a:solidFill>
                  <a:srgbClr val="6B6B6B"/>
                </a:solidFill>
                <a:latin typeface="Inter"/>
              </a:rPr>
              <a:t>Requirement Evidence Engine | BMW hackathon prototype</a:t>
            </a:r>
          </a:p>
        </p:txBody>
      </p:sp>
      <p:sp>
        <p:nvSpPr>
          <p:cNvPr id="20" name="TextBox 19"/>
          <p:cNvSpPr txBox="1"/>
          <p:nvPr/>
        </p:nvSpPr>
        <p:spPr>
          <a:xfrm>
            <a:off x="10881360" y="6492240"/>
            <a:ext cx="685800" cy="182880"/>
          </a:xfrm>
          <a:prstGeom prst="rect">
            <a:avLst/>
          </a:prstGeom>
          <a:noFill/>
        </p:spPr>
        <p:txBody>
          <a:bodyPr wrap="none" lIns="0" rIns="0" tIns="0" bIns="0" anchor="t">
            <a:noAutofit/>
          </a:bodyPr>
          <a:lstStyle/>
          <a:p>
            <a:pPr algn="r">
              <a:lnSpc>
                <a:spcPts val="1180"/>
              </a:lnSpc>
              <a:spcBef>
                <a:spcPts val="0"/>
              </a:spcBef>
              <a:spcAft>
                <a:spcPts val="0"/>
              </a:spcAft>
            </a:pPr>
            <a:r>
              <a:rPr sz="1000" b="0">
                <a:solidFill>
                  <a:srgbClr val="6B6B6B"/>
                </a:solidFill>
                <a:latin typeface="Inter"/>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1">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92608"/>
            <a:ext cx="9875520" cy="210312"/>
          </a:xfrm>
          <a:prstGeom prst="rect">
            <a:avLst/>
          </a:prstGeom>
          <a:noFill/>
        </p:spPr>
        <p:txBody>
          <a:bodyPr wrap="none" lIns="0" rIns="0" tIns="0" bIns="0" anchor="t">
            <a:noAutofit/>
          </a:bodyPr>
          <a:lstStyle/>
          <a:p>
            <a:pPr algn="l">
              <a:lnSpc>
                <a:spcPts val="1297"/>
              </a:lnSpc>
              <a:spcBef>
                <a:spcPts val="0"/>
              </a:spcBef>
              <a:spcAft>
                <a:spcPts val="0"/>
              </a:spcAft>
            </a:pPr>
            <a:r>
              <a:rPr sz="1100" b="1">
                <a:solidFill>
                  <a:srgbClr val="1C69D4"/>
                </a:solidFill>
                <a:latin typeface="Inter"/>
              </a:rPr>
              <a:t>BMW PRODUCT INTELLIGENCE</a:t>
            </a:r>
          </a:p>
        </p:txBody>
      </p:sp>
      <p:sp>
        <p:nvSpPr>
          <p:cNvPr id="4" name="TextBox 3"/>
          <p:cNvSpPr txBox="1"/>
          <p:nvPr/>
        </p:nvSpPr>
        <p:spPr>
          <a:xfrm>
            <a:off x="612648" y="877824"/>
            <a:ext cx="10991088" cy="1252728"/>
          </a:xfrm>
          <a:prstGeom prst="rect">
            <a:avLst/>
          </a:prstGeom>
          <a:noFill/>
        </p:spPr>
        <p:txBody>
          <a:bodyPr wrap="none" lIns="0" rIns="0" tIns="0" bIns="0" anchor="t">
            <a:noAutofit/>
          </a:bodyPr>
          <a:lstStyle/>
          <a:p>
            <a:pPr algn="l">
              <a:lnSpc>
                <a:spcPts val="4256"/>
              </a:lnSpc>
              <a:spcBef>
                <a:spcPts val="0"/>
              </a:spcBef>
              <a:spcAft>
                <a:spcPts val="0"/>
              </a:spcAft>
            </a:pPr>
            <a:r>
              <a:rPr sz="3800" b="1">
                <a:solidFill>
                  <a:srgbClr val="262626"/>
                </a:solidFill>
                <a:latin typeface="Inter"/>
              </a:rPr>
              <a:t>AI proposes.</a:t>
            </a:r>
          </a:p>
          <a:p>
            <a:pPr algn="l">
              <a:lnSpc>
                <a:spcPts val="4256"/>
              </a:lnSpc>
              <a:spcBef>
                <a:spcPts val="0"/>
              </a:spcBef>
              <a:spcAft>
                <a:spcPts val="0"/>
              </a:spcAft>
            </a:pPr>
            <a:r>
              <a:rPr sz="3800" b="1">
                <a:solidFill>
                  <a:srgbClr val="262626"/>
                </a:solidFill>
                <a:latin typeface="Inter"/>
              </a:rPr>
              <a:t>The PM decides.</a:t>
            </a:r>
          </a:p>
        </p:txBody>
      </p:sp>
      <p:sp>
        <p:nvSpPr>
          <p:cNvPr id="5" name="Rectangle 4"/>
          <p:cNvSpPr/>
          <p:nvPr/>
        </p:nvSpPr>
        <p:spPr>
          <a:xfrm>
            <a:off x="612648" y="2304288"/>
            <a:ext cx="10991088" cy="7315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487168"/>
            <a:ext cx="10424160" cy="365760"/>
          </a:xfrm>
          <a:prstGeom prst="rect">
            <a:avLst/>
          </a:prstGeom>
          <a:noFill/>
        </p:spPr>
        <p:txBody>
          <a:bodyPr wrap="none" lIns="0" rIns="0" tIns="0" bIns="0" anchor="t">
            <a:noAutofit/>
          </a:bodyPr>
          <a:lstStyle/>
          <a:p>
            <a:pPr algn="l">
              <a:lnSpc>
                <a:spcPts val="2713"/>
              </a:lnSpc>
              <a:spcBef>
                <a:spcPts val="0"/>
              </a:spcBef>
              <a:spcAft>
                <a:spcPts val="0"/>
              </a:spcAft>
            </a:pPr>
            <a:r>
              <a:rPr sz="2300" b="0">
                <a:solidFill>
                  <a:srgbClr val="262626"/>
                </a:solidFill>
                <a:latin typeface="Inter Light"/>
              </a:rPr>
              <a:t>"What should improve for the next G60 in the US?"</a:t>
            </a:r>
          </a:p>
        </p:txBody>
      </p:sp>
      <p:sp>
        <p:nvSpPr>
          <p:cNvPr id="7" name="TextBox 6"/>
          <p:cNvSpPr txBox="1"/>
          <p:nvPr/>
        </p:nvSpPr>
        <p:spPr>
          <a:xfrm>
            <a:off x="612648" y="3474720"/>
            <a:ext cx="2377440" cy="566928"/>
          </a:xfrm>
          <a:prstGeom prst="rect">
            <a:avLst/>
          </a:prstGeom>
          <a:noFill/>
        </p:spPr>
        <p:txBody>
          <a:bodyPr wrap="none" lIns="0" rIns="0" tIns="0" bIns="0" anchor="t">
            <a:noAutofit/>
          </a:bodyPr>
          <a:lstStyle/>
          <a:p>
            <a:pPr algn="l">
              <a:lnSpc>
                <a:spcPts val="3776"/>
              </a:lnSpc>
              <a:spcBef>
                <a:spcPts val="0"/>
              </a:spcBef>
              <a:spcAft>
                <a:spcPts val="0"/>
              </a:spcAft>
            </a:pPr>
            <a:r>
              <a:rPr sz="3200" b="1">
                <a:solidFill>
                  <a:srgbClr val="1C69D4"/>
                </a:solidFill>
                <a:latin typeface="Inter"/>
              </a:rPr>
              <a:t>Ask</a:t>
            </a:r>
          </a:p>
        </p:txBody>
      </p:sp>
      <p:sp>
        <p:nvSpPr>
          <p:cNvPr id="8" name="TextBox 7"/>
          <p:cNvSpPr txBox="1"/>
          <p:nvPr/>
        </p:nvSpPr>
        <p:spPr>
          <a:xfrm>
            <a:off x="612648" y="4206240"/>
            <a:ext cx="2459736" cy="950976"/>
          </a:xfrm>
          <a:prstGeom prst="rect">
            <a:avLst/>
          </a:prstGeom>
          <a:noFill/>
        </p:spPr>
        <p:txBody>
          <a:bodyPr wrap="none" lIns="0" rIns="0" tIns="0" bIns="0" anchor="t">
            <a:noAutofit/>
          </a:bodyPr>
          <a:lstStyle/>
          <a:p>
            <a:pPr algn="l">
              <a:lnSpc>
                <a:spcPts val="2124"/>
              </a:lnSpc>
              <a:spcBef>
                <a:spcPts val="0"/>
              </a:spcBef>
              <a:spcAft>
                <a:spcPts val="0"/>
              </a:spcAft>
            </a:pPr>
            <a:r>
              <a:rPr sz="1800" b="0">
                <a:solidFill>
                  <a:srgbClr val="3C3C3C"/>
                </a:solidFill>
                <a:latin typeface="Inter Light"/>
              </a:rPr>
              <a:t>Choose the vehicle,</a:t>
            </a:r>
          </a:p>
          <a:p>
            <a:pPr algn="l">
              <a:lnSpc>
                <a:spcPts val="2124"/>
              </a:lnSpc>
              <a:spcBef>
                <a:spcPts val="0"/>
              </a:spcBef>
              <a:spcAft>
                <a:spcPts val="0"/>
              </a:spcAft>
            </a:pPr>
            <a:r>
              <a:rPr sz="1800" b="0">
                <a:solidFill>
                  <a:srgbClr val="3C3C3C"/>
                </a:solidFill>
                <a:latin typeface="Inter Light"/>
              </a:rPr>
              <a:t>market and question.</a:t>
            </a:r>
          </a:p>
        </p:txBody>
      </p:sp>
      <p:cxnSp>
        <p:nvCxnSpPr>
          <p:cNvPr id="9" name="Connector 8"/>
          <p:cNvCxnSpPr/>
          <p:nvPr/>
        </p:nvCxnSpPr>
        <p:spPr>
          <a:xfrm>
            <a:off x="2651760" y="3749039"/>
            <a:ext cx="539496" cy="0"/>
          </a:xfrm>
          <a:prstGeom prst="line">
            <a:avLst/>
          </a:prstGeom>
          <a:ln w="16510">
            <a:solidFill>
              <a:srgbClr val="1C69D4"/>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429000" y="3474720"/>
            <a:ext cx="2377440" cy="566928"/>
          </a:xfrm>
          <a:prstGeom prst="rect">
            <a:avLst/>
          </a:prstGeom>
          <a:noFill/>
        </p:spPr>
        <p:txBody>
          <a:bodyPr wrap="none" lIns="0" rIns="0" tIns="0" bIns="0" anchor="t">
            <a:noAutofit/>
          </a:bodyPr>
          <a:lstStyle/>
          <a:p>
            <a:pPr algn="l">
              <a:lnSpc>
                <a:spcPts val="3776"/>
              </a:lnSpc>
              <a:spcBef>
                <a:spcPts val="0"/>
              </a:spcBef>
              <a:spcAft>
                <a:spcPts val="0"/>
              </a:spcAft>
            </a:pPr>
            <a:r>
              <a:rPr sz="3200" b="1">
                <a:solidFill>
                  <a:srgbClr val="1C69D4"/>
                </a:solidFill>
                <a:latin typeface="Inter"/>
              </a:rPr>
              <a:t>Plan</a:t>
            </a:r>
          </a:p>
        </p:txBody>
      </p:sp>
      <p:sp>
        <p:nvSpPr>
          <p:cNvPr id="11" name="TextBox 10"/>
          <p:cNvSpPr txBox="1"/>
          <p:nvPr/>
        </p:nvSpPr>
        <p:spPr>
          <a:xfrm>
            <a:off x="3429000" y="4206240"/>
            <a:ext cx="2459736" cy="950976"/>
          </a:xfrm>
          <a:prstGeom prst="rect">
            <a:avLst/>
          </a:prstGeom>
          <a:noFill/>
        </p:spPr>
        <p:txBody>
          <a:bodyPr wrap="none" lIns="0" rIns="0" tIns="0" bIns="0" anchor="t">
            <a:noAutofit/>
          </a:bodyPr>
          <a:lstStyle/>
          <a:p>
            <a:pPr algn="l">
              <a:lnSpc>
                <a:spcPts val="2124"/>
              </a:lnSpc>
              <a:spcBef>
                <a:spcPts val="0"/>
              </a:spcBef>
              <a:spcAft>
                <a:spcPts val="0"/>
              </a:spcAft>
            </a:pPr>
            <a:r>
              <a:rPr sz="1800" b="0">
                <a:solidFill>
                  <a:srgbClr val="3C3C3C"/>
                </a:solidFill>
                <a:latin typeface="Inter Light"/>
              </a:rPr>
              <a:t>See the agents</a:t>
            </a:r>
          </a:p>
          <a:p>
            <a:pPr algn="l">
              <a:lnSpc>
                <a:spcPts val="2124"/>
              </a:lnSpc>
              <a:spcBef>
                <a:spcPts val="0"/>
              </a:spcBef>
              <a:spcAft>
                <a:spcPts val="0"/>
              </a:spcAft>
            </a:pPr>
            <a:r>
              <a:rPr sz="1800" b="0">
                <a:solidFill>
                  <a:srgbClr val="3C3C3C"/>
                </a:solidFill>
                <a:latin typeface="Inter Light"/>
              </a:rPr>
              <a:t>and why they matter.</a:t>
            </a:r>
          </a:p>
        </p:txBody>
      </p:sp>
      <p:cxnSp>
        <p:nvCxnSpPr>
          <p:cNvPr id="12" name="Connector 11"/>
          <p:cNvCxnSpPr/>
          <p:nvPr/>
        </p:nvCxnSpPr>
        <p:spPr>
          <a:xfrm>
            <a:off x="5468112" y="3749039"/>
            <a:ext cx="539496" cy="0"/>
          </a:xfrm>
          <a:prstGeom prst="line">
            <a:avLst/>
          </a:prstGeom>
          <a:ln w="16510">
            <a:solidFill>
              <a:srgbClr val="6B6B6B"/>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45352" y="3474720"/>
            <a:ext cx="2377440" cy="566928"/>
          </a:xfrm>
          <a:prstGeom prst="rect">
            <a:avLst/>
          </a:prstGeom>
          <a:noFill/>
        </p:spPr>
        <p:txBody>
          <a:bodyPr wrap="none" lIns="0" rIns="0" tIns="0" bIns="0" anchor="t">
            <a:noAutofit/>
          </a:bodyPr>
          <a:lstStyle/>
          <a:p>
            <a:pPr algn="l">
              <a:lnSpc>
                <a:spcPts val="3776"/>
              </a:lnSpc>
              <a:spcBef>
                <a:spcPts val="0"/>
              </a:spcBef>
              <a:spcAft>
                <a:spcPts val="0"/>
              </a:spcAft>
            </a:pPr>
            <a:r>
              <a:rPr sz="3200" b="1">
                <a:solidFill>
                  <a:srgbClr val="262626"/>
                </a:solidFill>
                <a:latin typeface="Inter"/>
              </a:rPr>
              <a:t>Review</a:t>
            </a:r>
          </a:p>
        </p:txBody>
      </p:sp>
      <p:sp>
        <p:nvSpPr>
          <p:cNvPr id="14" name="TextBox 13"/>
          <p:cNvSpPr txBox="1"/>
          <p:nvPr/>
        </p:nvSpPr>
        <p:spPr>
          <a:xfrm>
            <a:off x="6245352" y="4206240"/>
            <a:ext cx="2459736" cy="950976"/>
          </a:xfrm>
          <a:prstGeom prst="rect">
            <a:avLst/>
          </a:prstGeom>
          <a:noFill/>
        </p:spPr>
        <p:txBody>
          <a:bodyPr wrap="none" lIns="0" rIns="0" tIns="0" bIns="0" anchor="t">
            <a:noAutofit/>
          </a:bodyPr>
          <a:lstStyle/>
          <a:p>
            <a:pPr algn="l">
              <a:lnSpc>
                <a:spcPts val="2124"/>
              </a:lnSpc>
              <a:spcBef>
                <a:spcPts val="0"/>
              </a:spcBef>
              <a:spcAft>
                <a:spcPts val="0"/>
              </a:spcAft>
            </a:pPr>
            <a:r>
              <a:rPr sz="1800" b="0">
                <a:solidFill>
                  <a:srgbClr val="3C3C3C"/>
                </a:solidFill>
                <a:latin typeface="Inter Light"/>
              </a:rPr>
              <a:t>Inspect each</a:t>
            </a:r>
          </a:p>
          <a:p>
            <a:pPr algn="l">
              <a:lnSpc>
                <a:spcPts val="2124"/>
              </a:lnSpc>
              <a:spcBef>
                <a:spcPts val="0"/>
              </a:spcBef>
              <a:spcAft>
                <a:spcPts val="0"/>
              </a:spcAft>
            </a:pPr>
            <a:r>
              <a:rPr sz="1800" b="0">
                <a:solidFill>
                  <a:srgbClr val="3C3C3C"/>
                </a:solidFill>
                <a:latin typeface="Inter Light"/>
              </a:rPr>
              <a:t>cited contribution.</a:t>
            </a:r>
          </a:p>
        </p:txBody>
      </p:sp>
      <p:cxnSp>
        <p:nvCxnSpPr>
          <p:cNvPr id="15" name="Connector 14"/>
          <p:cNvCxnSpPr/>
          <p:nvPr/>
        </p:nvCxnSpPr>
        <p:spPr>
          <a:xfrm>
            <a:off x="8284464" y="3749039"/>
            <a:ext cx="539496" cy="0"/>
          </a:xfrm>
          <a:prstGeom prst="line">
            <a:avLst/>
          </a:prstGeom>
          <a:ln w="16510">
            <a:solidFill>
              <a:srgbClr val="6B6B6B"/>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061704" y="3474720"/>
            <a:ext cx="2377440" cy="566928"/>
          </a:xfrm>
          <a:prstGeom prst="rect">
            <a:avLst/>
          </a:prstGeom>
          <a:noFill/>
        </p:spPr>
        <p:txBody>
          <a:bodyPr wrap="none" lIns="0" rIns="0" tIns="0" bIns="0" anchor="t">
            <a:noAutofit/>
          </a:bodyPr>
          <a:lstStyle/>
          <a:p>
            <a:pPr algn="l">
              <a:lnSpc>
                <a:spcPts val="3776"/>
              </a:lnSpc>
              <a:spcBef>
                <a:spcPts val="0"/>
              </a:spcBef>
              <a:spcAft>
                <a:spcPts val="0"/>
              </a:spcAft>
            </a:pPr>
            <a:r>
              <a:rPr sz="3200" b="1">
                <a:solidFill>
                  <a:srgbClr val="262626"/>
                </a:solidFill>
                <a:latin typeface="Inter"/>
              </a:rPr>
              <a:t>Draft</a:t>
            </a:r>
          </a:p>
        </p:txBody>
      </p:sp>
      <p:sp>
        <p:nvSpPr>
          <p:cNvPr id="17" name="TextBox 16"/>
          <p:cNvSpPr txBox="1"/>
          <p:nvPr/>
        </p:nvSpPr>
        <p:spPr>
          <a:xfrm>
            <a:off x="9061704" y="4206240"/>
            <a:ext cx="2459736" cy="950976"/>
          </a:xfrm>
          <a:prstGeom prst="rect">
            <a:avLst/>
          </a:prstGeom>
          <a:noFill/>
        </p:spPr>
        <p:txBody>
          <a:bodyPr wrap="none" lIns="0" rIns="0" tIns="0" bIns="0" anchor="t">
            <a:noAutofit/>
          </a:bodyPr>
          <a:lstStyle/>
          <a:p>
            <a:pPr algn="l">
              <a:lnSpc>
                <a:spcPts val="2124"/>
              </a:lnSpc>
              <a:spcBef>
                <a:spcPts val="0"/>
              </a:spcBef>
              <a:spcAft>
                <a:spcPts val="0"/>
              </a:spcAft>
            </a:pPr>
            <a:r>
              <a:rPr sz="1800" b="0">
                <a:solidFill>
                  <a:srgbClr val="3C3C3C"/>
                </a:solidFill>
                <a:latin typeface="Inter Light"/>
              </a:rPr>
              <a:t>Turn accepted</a:t>
            </a:r>
          </a:p>
          <a:p>
            <a:pPr algn="l">
              <a:lnSpc>
                <a:spcPts val="2124"/>
              </a:lnSpc>
              <a:spcBef>
                <a:spcPts val="0"/>
              </a:spcBef>
              <a:spcAft>
                <a:spcPts val="0"/>
              </a:spcAft>
            </a:pPr>
            <a:r>
              <a:rPr sz="1800" b="0">
                <a:solidFill>
                  <a:srgbClr val="3C3C3C"/>
                </a:solidFill>
                <a:latin typeface="Inter Light"/>
              </a:rPr>
              <a:t>evidence</a:t>
            </a:r>
          </a:p>
          <a:p>
            <a:pPr algn="l">
              <a:lnSpc>
                <a:spcPts val="2124"/>
              </a:lnSpc>
              <a:spcBef>
                <a:spcPts val="0"/>
              </a:spcBef>
              <a:spcAft>
                <a:spcPts val="0"/>
              </a:spcAft>
            </a:pPr>
            <a:r>
              <a:rPr sz="1800" b="0">
                <a:solidFill>
                  <a:srgbClr val="3C3C3C"/>
                </a:solidFill>
                <a:latin typeface="Inter Light"/>
              </a:rPr>
              <a:t>into a requirement.</a:t>
            </a:r>
          </a:p>
        </p:txBody>
      </p:sp>
      <p:sp>
        <p:nvSpPr>
          <p:cNvPr id="18" name="Rectangle 17"/>
          <p:cNvSpPr/>
          <p:nvPr/>
        </p:nvSpPr>
        <p:spPr>
          <a:xfrm>
            <a:off x="612648" y="5449824"/>
            <a:ext cx="1664208" cy="484632"/>
          </a:xfrm>
          <a:prstGeom prst="rect">
            <a:avLst/>
          </a:prstGeom>
          <a:solidFill>
            <a:srgbClr val="1C6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 y="5586984"/>
            <a:ext cx="1664208" cy="265176"/>
          </a:xfrm>
          <a:prstGeom prst="rect">
            <a:avLst/>
          </a:prstGeom>
          <a:noFill/>
        </p:spPr>
        <p:txBody>
          <a:bodyPr wrap="none" lIns="0" rIns="0" tIns="0" bIns="0" anchor="t">
            <a:noAutofit/>
          </a:bodyPr>
          <a:lstStyle/>
          <a:p>
            <a:pPr algn="ctr">
              <a:lnSpc>
                <a:spcPts val="1888"/>
              </a:lnSpc>
              <a:spcBef>
                <a:spcPts val="0"/>
              </a:spcBef>
              <a:spcAft>
                <a:spcPts val="0"/>
              </a:spcAft>
            </a:pPr>
            <a:r>
              <a:rPr sz="1600" b="1">
                <a:solidFill>
                  <a:srgbClr val="FFFFFF"/>
                </a:solidFill>
                <a:latin typeface="Inter"/>
              </a:rPr>
              <a:t>Accept</a:t>
            </a:r>
          </a:p>
        </p:txBody>
      </p:sp>
      <p:sp>
        <p:nvSpPr>
          <p:cNvPr id="20" name="Rectangle 19"/>
          <p:cNvSpPr/>
          <p:nvPr/>
        </p:nvSpPr>
        <p:spPr>
          <a:xfrm>
            <a:off x="2505456" y="5449824"/>
            <a:ext cx="1664208" cy="484632"/>
          </a:xfrm>
          <a:prstGeom prst="rect">
            <a:avLst/>
          </a:prstGeom>
          <a:solidFill>
            <a:srgbClr val="FFFFFF"/>
          </a:solidFill>
          <a:ln w="1016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05456" y="5586984"/>
            <a:ext cx="1664208" cy="265176"/>
          </a:xfrm>
          <a:prstGeom prst="rect">
            <a:avLst/>
          </a:prstGeom>
          <a:noFill/>
        </p:spPr>
        <p:txBody>
          <a:bodyPr wrap="none" lIns="0" rIns="0" tIns="0" bIns="0" anchor="t">
            <a:noAutofit/>
          </a:bodyPr>
          <a:lstStyle/>
          <a:p>
            <a:pPr algn="ctr">
              <a:lnSpc>
                <a:spcPts val="1888"/>
              </a:lnSpc>
              <a:spcBef>
                <a:spcPts val="0"/>
              </a:spcBef>
              <a:spcAft>
                <a:spcPts val="0"/>
              </a:spcAft>
            </a:pPr>
            <a:r>
              <a:rPr sz="1600" b="1">
                <a:solidFill>
                  <a:srgbClr val="262626"/>
                </a:solidFill>
                <a:latin typeface="Inter"/>
              </a:rPr>
              <a:t>Edit</a:t>
            </a:r>
          </a:p>
        </p:txBody>
      </p:sp>
      <p:sp>
        <p:nvSpPr>
          <p:cNvPr id="22" name="Rectangle 21"/>
          <p:cNvSpPr/>
          <p:nvPr/>
        </p:nvSpPr>
        <p:spPr>
          <a:xfrm>
            <a:off x="4398264" y="5449824"/>
            <a:ext cx="1664208" cy="484632"/>
          </a:xfrm>
          <a:prstGeom prst="rect">
            <a:avLst/>
          </a:prstGeom>
          <a:solidFill>
            <a:srgbClr val="FFFFFF"/>
          </a:solidFill>
          <a:ln w="1016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98264" y="5586984"/>
            <a:ext cx="1664208" cy="265176"/>
          </a:xfrm>
          <a:prstGeom prst="rect">
            <a:avLst/>
          </a:prstGeom>
          <a:noFill/>
        </p:spPr>
        <p:txBody>
          <a:bodyPr wrap="none" lIns="0" rIns="0" tIns="0" bIns="0" anchor="t">
            <a:noAutofit/>
          </a:bodyPr>
          <a:lstStyle/>
          <a:p>
            <a:pPr algn="ctr">
              <a:lnSpc>
                <a:spcPts val="1888"/>
              </a:lnSpc>
              <a:spcBef>
                <a:spcPts val="0"/>
              </a:spcBef>
              <a:spcAft>
                <a:spcPts val="0"/>
              </a:spcAft>
            </a:pPr>
            <a:r>
              <a:rPr sz="1600" b="1">
                <a:solidFill>
                  <a:srgbClr val="262626"/>
                </a:solidFill>
                <a:latin typeface="Inter"/>
              </a:rPr>
              <a:t>Retry</a:t>
            </a:r>
          </a:p>
        </p:txBody>
      </p:sp>
      <p:sp>
        <p:nvSpPr>
          <p:cNvPr id="24" name="Rectangle 23"/>
          <p:cNvSpPr/>
          <p:nvPr/>
        </p:nvSpPr>
        <p:spPr>
          <a:xfrm>
            <a:off x="6291071" y="5449824"/>
            <a:ext cx="1664208" cy="484632"/>
          </a:xfrm>
          <a:prstGeom prst="rect">
            <a:avLst/>
          </a:prstGeom>
          <a:solidFill>
            <a:srgbClr val="FFFFFF"/>
          </a:solidFill>
          <a:ln w="1016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91071" y="5586984"/>
            <a:ext cx="1664208" cy="265176"/>
          </a:xfrm>
          <a:prstGeom prst="rect">
            <a:avLst/>
          </a:prstGeom>
          <a:noFill/>
        </p:spPr>
        <p:txBody>
          <a:bodyPr wrap="none" lIns="0" rIns="0" tIns="0" bIns="0" anchor="t">
            <a:noAutofit/>
          </a:bodyPr>
          <a:lstStyle/>
          <a:p>
            <a:pPr algn="ctr">
              <a:lnSpc>
                <a:spcPts val="1888"/>
              </a:lnSpc>
              <a:spcBef>
                <a:spcPts val="0"/>
              </a:spcBef>
              <a:spcAft>
                <a:spcPts val="0"/>
              </a:spcAft>
            </a:pPr>
            <a:r>
              <a:rPr sz="1600" b="1">
                <a:solidFill>
                  <a:srgbClr val="262626"/>
                </a:solidFill>
                <a:latin typeface="Inter"/>
              </a:rPr>
              <a:t>Reject</a:t>
            </a:r>
          </a:p>
        </p:txBody>
      </p:sp>
      <p:sp>
        <p:nvSpPr>
          <p:cNvPr id="26" name="TextBox 25"/>
          <p:cNvSpPr txBox="1"/>
          <p:nvPr/>
        </p:nvSpPr>
        <p:spPr>
          <a:xfrm>
            <a:off x="612648" y="6117336"/>
            <a:ext cx="10991088" cy="265176"/>
          </a:xfrm>
          <a:prstGeom prst="rect">
            <a:avLst/>
          </a:prstGeom>
          <a:noFill/>
        </p:spPr>
        <p:txBody>
          <a:bodyPr wrap="none" lIns="0" rIns="0" tIns="0" bIns="0" anchor="t">
            <a:noAutofit/>
          </a:bodyPr>
          <a:lstStyle/>
          <a:p>
            <a:pPr algn="l">
              <a:lnSpc>
                <a:spcPts val="1770"/>
              </a:lnSpc>
              <a:spcBef>
                <a:spcPts val="0"/>
              </a:spcBef>
              <a:spcAft>
                <a:spcPts val="0"/>
              </a:spcAft>
            </a:pPr>
            <a:r>
              <a:rPr sz="1500" b="0">
                <a:solidFill>
                  <a:srgbClr val="6B6B6B"/>
                </a:solidFill>
                <a:latin typeface="Inter"/>
              </a:rPr>
              <a:t>Backend: runner + Critic + PM actions. Next: connect the live frontend.</a:t>
            </a:r>
          </a:p>
        </p:txBody>
      </p:sp>
      <p:sp>
        <p:nvSpPr>
          <p:cNvPr id="27" name="TextBox 26"/>
          <p:cNvSpPr txBox="1"/>
          <p:nvPr/>
        </p:nvSpPr>
        <p:spPr>
          <a:xfrm>
            <a:off x="612648" y="6492240"/>
            <a:ext cx="9921240" cy="182880"/>
          </a:xfrm>
          <a:prstGeom prst="rect">
            <a:avLst/>
          </a:prstGeom>
          <a:noFill/>
        </p:spPr>
        <p:txBody>
          <a:bodyPr wrap="none" lIns="0" rIns="0" tIns="0" bIns="0" anchor="t">
            <a:noAutofit/>
          </a:bodyPr>
          <a:lstStyle/>
          <a:p>
            <a:pPr algn="l">
              <a:lnSpc>
                <a:spcPts val="1180"/>
              </a:lnSpc>
              <a:spcBef>
                <a:spcPts val="0"/>
              </a:spcBef>
              <a:spcAft>
                <a:spcPts val="0"/>
              </a:spcAft>
            </a:pPr>
            <a:r>
              <a:rPr sz="1000" b="0">
                <a:solidFill>
                  <a:srgbClr val="6B6B6B"/>
                </a:solidFill>
                <a:latin typeface="Inter"/>
              </a:rPr>
              <a:t>Requirement Evidence Engine | BMW hackathon prototype</a:t>
            </a:r>
          </a:p>
        </p:txBody>
      </p:sp>
      <p:sp>
        <p:nvSpPr>
          <p:cNvPr id="28" name="TextBox 27"/>
          <p:cNvSpPr txBox="1"/>
          <p:nvPr/>
        </p:nvSpPr>
        <p:spPr>
          <a:xfrm>
            <a:off x="10881360" y="6492240"/>
            <a:ext cx="685800" cy="182880"/>
          </a:xfrm>
          <a:prstGeom prst="rect">
            <a:avLst/>
          </a:prstGeom>
          <a:noFill/>
        </p:spPr>
        <p:txBody>
          <a:bodyPr wrap="none" lIns="0" rIns="0" tIns="0" bIns="0" anchor="t">
            <a:noAutofit/>
          </a:bodyPr>
          <a:lstStyle/>
          <a:p>
            <a:pPr algn="r">
              <a:lnSpc>
                <a:spcPts val="1180"/>
              </a:lnSpc>
              <a:spcBef>
                <a:spcPts val="0"/>
              </a:spcBef>
              <a:spcAft>
                <a:spcPts val="0"/>
              </a:spcAft>
            </a:pPr>
            <a:r>
              <a:rPr sz="1000" b="0">
                <a:solidFill>
                  <a:srgbClr val="6B6B6B"/>
                </a:solidFill>
                <a:latin typeface="Inter"/>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1">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92608"/>
            <a:ext cx="9875520" cy="210312"/>
          </a:xfrm>
          <a:prstGeom prst="rect">
            <a:avLst/>
          </a:prstGeom>
          <a:noFill/>
        </p:spPr>
        <p:txBody>
          <a:bodyPr wrap="none" lIns="0" rIns="0" tIns="0" bIns="0" anchor="t">
            <a:noAutofit/>
          </a:bodyPr>
          <a:lstStyle/>
          <a:p>
            <a:pPr algn="l">
              <a:lnSpc>
                <a:spcPts val="1297"/>
              </a:lnSpc>
              <a:spcBef>
                <a:spcPts val="0"/>
              </a:spcBef>
              <a:spcAft>
                <a:spcPts val="0"/>
              </a:spcAft>
            </a:pPr>
            <a:r>
              <a:rPr sz="1100" b="1">
                <a:solidFill>
                  <a:srgbClr val="1C69D4"/>
                </a:solidFill>
                <a:latin typeface="Inter"/>
              </a:rPr>
              <a:t>BMW PRODUCT INTELLIGENCE</a:t>
            </a:r>
          </a:p>
        </p:txBody>
      </p:sp>
      <p:sp>
        <p:nvSpPr>
          <p:cNvPr id="4" name="TextBox 3"/>
          <p:cNvSpPr txBox="1"/>
          <p:nvPr/>
        </p:nvSpPr>
        <p:spPr>
          <a:xfrm>
            <a:off x="612648" y="877824"/>
            <a:ext cx="10991088" cy="1252728"/>
          </a:xfrm>
          <a:prstGeom prst="rect">
            <a:avLst/>
          </a:prstGeom>
          <a:noFill/>
        </p:spPr>
        <p:txBody>
          <a:bodyPr wrap="none" lIns="0" rIns="0" tIns="0" bIns="0" anchor="t">
            <a:noAutofit/>
          </a:bodyPr>
          <a:lstStyle/>
          <a:p>
            <a:pPr algn="l">
              <a:lnSpc>
                <a:spcPts val="4256"/>
              </a:lnSpc>
              <a:spcBef>
                <a:spcPts val="0"/>
              </a:spcBef>
              <a:spcAft>
                <a:spcPts val="0"/>
              </a:spcAft>
            </a:pPr>
            <a:r>
              <a:rPr sz="3800" b="1">
                <a:solidFill>
                  <a:srgbClr val="262626"/>
                </a:solidFill>
                <a:latin typeface="Inter"/>
              </a:rPr>
              <a:t>Every priority has a reason.</a:t>
            </a:r>
          </a:p>
        </p:txBody>
      </p:sp>
      <p:sp>
        <p:nvSpPr>
          <p:cNvPr id="5" name="Rectangle 4"/>
          <p:cNvSpPr/>
          <p:nvPr/>
        </p:nvSpPr>
        <p:spPr>
          <a:xfrm>
            <a:off x="612648" y="2212848"/>
            <a:ext cx="3346704" cy="80467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468880"/>
            <a:ext cx="3072384" cy="310896"/>
          </a:xfrm>
          <a:prstGeom prst="rect">
            <a:avLst/>
          </a:prstGeom>
          <a:noFill/>
        </p:spPr>
        <p:txBody>
          <a:bodyPr wrap="none" lIns="0" rIns="0" tIns="0" bIns="0" anchor="t">
            <a:noAutofit/>
          </a:bodyPr>
          <a:lstStyle/>
          <a:p>
            <a:pPr algn="ctr">
              <a:lnSpc>
                <a:spcPts val="2360"/>
              </a:lnSpc>
              <a:spcBef>
                <a:spcPts val="0"/>
              </a:spcBef>
              <a:spcAft>
                <a:spcPts val="0"/>
              </a:spcAft>
            </a:pPr>
            <a:r>
              <a:rPr sz="2000" b="1">
                <a:solidFill>
                  <a:srgbClr val="262626"/>
                </a:solidFill>
                <a:latin typeface="Inter"/>
              </a:rPr>
              <a:t>Source row or page</a:t>
            </a:r>
          </a:p>
        </p:txBody>
      </p:sp>
      <p:cxnSp>
        <p:nvCxnSpPr>
          <p:cNvPr id="7" name="Connector 6"/>
          <p:cNvCxnSpPr/>
          <p:nvPr/>
        </p:nvCxnSpPr>
        <p:spPr>
          <a:xfrm>
            <a:off x="4023360" y="2615184"/>
            <a:ext cx="310896" cy="0"/>
          </a:xfrm>
          <a:prstGeom prst="line">
            <a:avLst/>
          </a:prstGeom>
          <a:ln w="16510">
            <a:solidFill>
              <a:srgbClr val="1C69D4"/>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434840" y="2212848"/>
            <a:ext cx="3346704" cy="804672"/>
          </a:xfrm>
          <a:prstGeom prst="rect">
            <a:avLst/>
          </a:prstGeom>
          <a:solidFill>
            <a:srgbClr val="1C6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468880"/>
            <a:ext cx="3072384" cy="310896"/>
          </a:xfrm>
          <a:prstGeom prst="rect">
            <a:avLst/>
          </a:prstGeom>
          <a:noFill/>
        </p:spPr>
        <p:txBody>
          <a:bodyPr wrap="none" lIns="0" rIns="0" tIns="0" bIns="0" anchor="t">
            <a:noAutofit/>
          </a:bodyPr>
          <a:lstStyle/>
          <a:p>
            <a:pPr algn="ctr">
              <a:lnSpc>
                <a:spcPts val="2360"/>
              </a:lnSpc>
              <a:spcBef>
                <a:spcPts val="0"/>
              </a:spcBef>
              <a:spcAft>
                <a:spcPts val="0"/>
              </a:spcAft>
            </a:pPr>
            <a:r>
              <a:rPr sz="2000" b="1">
                <a:solidFill>
                  <a:srgbClr val="FFFFFF"/>
                </a:solidFill>
                <a:latin typeface="Inter"/>
              </a:rPr>
              <a:t>Retrieved evidence</a:t>
            </a:r>
          </a:p>
        </p:txBody>
      </p:sp>
      <p:cxnSp>
        <p:nvCxnSpPr>
          <p:cNvPr id="10" name="Connector 9"/>
          <p:cNvCxnSpPr/>
          <p:nvPr/>
        </p:nvCxnSpPr>
        <p:spPr>
          <a:xfrm>
            <a:off x="7845552" y="2615184"/>
            <a:ext cx="310896" cy="0"/>
          </a:xfrm>
          <a:prstGeom prst="line">
            <a:avLst/>
          </a:prstGeom>
          <a:ln w="16510">
            <a:solidFill>
              <a:srgbClr val="6B6B6B"/>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8257031" y="2212848"/>
            <a:ext cx="3346704" cy="80467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94192" y="2468880"/>
            <a:ext cx="3072384" cy="310896"/>
          </a:xfrm>
          <a:prstGeom prst="rect">
            <a:avLst/>
          </a:prstGeom>
          <a:noFill/>
        </p:spPr>
        <p:txBody>
          <a:bodyPr wrap="none" lIns="0" rIns="0" tIns="0" bIns="0" anchor="t">
            <a:noAutofit/>
          </a:bodyPr>
          <a:lstStyle/>
          <a:p>
            <a:pPr algn="ctr">
              <a:lnSpc>
                <a:spcPts val="2360"/>
              </a:lnSpc>
              <a:spcBef>
                <a:spcPts val="0"/>
              </a:spcBef>
              <a:spcAft>
                <a:spcPts val="0"/>
              </a:spcAft>
            </a:pPr>
            <a:r>
              <a:rPr sz="2000" b="1">
                <a:solidFill>
                  <a:srgbClr val="262626"/>
                </a:solidFill>
                <a:latin typeface="Inter"/>
              </a:rPr>
              <a:t>Proposed requirement</a:t>
            </a:r>
          </a:p>
        </p:txBody>
      </p:sp>
      <p:sp>
        <p:nvSpPr>
          <p:cNvPr id="13" name="TextBox 12"/>
          <p:cNvSpPr txBox="1"/>
          <p:nvPr/>
        </p:nvSpPr>
        <p:spPr>
          <a:xfrm>
            <a:off x="612648" y="3300984"/>
            <a:ext cx="5559552" cy="292608"/>
          </a:xfrm>
          <a:prstGeom prst="rect">
            <a:avLst/>
          </a:prstGeom>
          <a:noFill/>
        </p:spPr>
        <p:txBody>
          <a:bodyPr wrap="none" lIns="0" rIns="0" tIns="0" bIns="0" anchor="t">
            <a:noAutofit/>
          </a:bodyPr>
          <a:lstStyle/>
          <a:p>
            <a:pPr algn="l">
              <a:lnSpc>
                <a:spcPts val="1534"/>
              </a:lnSpc>
              <a:spcBef>
                <a:spcPts val="0"/>
              </a:spcBef>
              <a:spcAft>
                <a:spcPts val="0"/>
              </a:spcAft>
            </a:pPr>
            <a:r>
              <a:rPr sz="1300" b="1">
                <a:solidFill>
                  <a:srgbClr val="1C69D4"/>
                </a:solidFill>
                <a:latin typeface="Inter"/>
              </a:rPr>
              <a:t>PM-EDITABLE SCORING</a:t>
            </a:r>
          </a:p>
        </p:txBody>
      </p:sp>
      <p:sp>
        <p:nvSpPr>
          <p:cNvPr id="14" name="TextBox 13"/>
          <p:cNvSpPr txBox="1"/>
          <p:nvPr/>
        </p:nvSpPr>
        <p:spPr>
          <a:xfrm>
            <a:off x="612648" y="3803904"/>
            <a:ext cx="5230368" cy="1627632"/>
          </a:xfrm>
          <a:prstGeom prst="rect">
            <a:avLst/>
          </a:prstGeom>
          <a:noFill/>
        </p:spPr>
        <p:txBody>
          <a:bodyPr wrap="none" lIns="0" rIns="0" tIns="0" bIns="0" anchor="t">
            <a:noAutofit/>
          </a:bodyPr>
          <a:lstStyle/>
          <a:p>
            <a:pPr algn="l">
              <a:lnSpc>
                <a:spcPts val="2898"/>
              </a:lnSpc>
              <a:spcBef>
                <a:spcPts val="0"/>
              </a:spcBef>
              <a:spcAft>
                <a:spcPts val="0"/>
              </a:spcAft>
            </a:pPr>
            <a:r>
              <a:rPr sz="2300" b="0">
                <a:solidFill>
                  <a:srgbClr val="3C3C3C"/>
                </a:solidFill>
                <a:latin typeface="Inter Light"/>
              </a:rPr>
              <a:t>Customer relevance</a:t>
            </a:r>
          </a:p>
          <a:p>
            <a:pPr algn="l">
              <a:lnSpc>
                <a:spcPts val="2898"/>
              </a:lnSpc>
              <a:spcBef>
                <a:spcPts val="0"/>
              </a:spcBef>
              <a:spcAft>
                <a:spcPts val="0"/>
              </a:spcAft>
            </a:pPr>
            <a:r>
              <a:rPr sz="2300" b="0">
                <a:solidFill>
                  <a:srgbClr val="3C3C3C"/>
                </a:solidFill>
                <a:latin typeface="Inter Light"/>
              </a:rPr>
              <a:t>Business signal</a:t>
            </a:r>
          </a:p>
          <a:p>
            <a:pPr algn="l">
              <a:lnSpc>
                <a:spcPts val="2898"/>
              </a:lnSpc>
              <a:spcBef>
                <a:spcPts val="0"/>
              </a:spcBef>
              <a:spcAft>
                <a:spcPts val="0"/>
              </a:spcAft>
            </a:pPr>
            <a:r>
              <a:rPr sz="2300" b="0">
                <a:solidFill>
                  <a:srgbClr val="3C3C3C"/>
                </a:solidFill>
                <a:latin typeface="Inter Light"/>
              </a:rPr>
              <a:t>Strategic fit</a:t>
            </a:r>
          </a:p>
          <a:p>
            <a:pPr algn="l">
              <a:lnSpc>
                <a:spcPts val="2898"/>
              </a:lnSpc>
              <a:spcBef>
                <a:spcPts val="0"/>
              </a:spcBef>
              <a:spcAft>
                <a:spcPts val="0"/>
              </a:spcAft>
            </a:pPr>
            <a:r>
              <a:rPr sz="2300" b="0">
                <a:solidFill>
                  <a:srgbClr val="3C3C3C"/>
                </a:solidFill>
                <a:latin typeface="Inter Light"/>
              </a:rPr>
              <a:t>Effort</a:t>
            </a:r>
          </a:p>
        </p:txBody>
      </p:sp>
      <p:sp>
        <p:nvSpPr>
          <p:cNvPr id="15" name="Rectangle 14"/>
          <p:cNvSpPr/>
          <p:nvPr/>
        </p:nvSpPr>
        <p:spPr>
          <a:xfrm>
            <a:off x="6400800" y="3300984"/>
            <a:ext cx="5202936" cy="2167128"/>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3408" y="3630168"/>
            <a:ext cx="4572000" cy="996696"/>
          </a:xfrm>
          <a:prstGeom prst="rect">
            <a:avLst/>
          </a:prstGeom>
          <a:noFill/>
        </p:spPr>
        <p:txBody>
          <a:bodyPr wrap="none" lIns="0" rIns="0" tIns="0" bIns="0" anchor="t">
            <a:noAutofit/>
          </a:bodyPr>
          <a:lstStyle/>
          <a:p>
            <a:pPr algn="l">
              <a:lnSpc>
                <a:spcPts val="3304"/>
              </a:lnSpc>
              <a:spcBef>
                <a:spcPts val="0"/>
              </a:spcBef>
              <a:spcAft>
                <a:spcPts val="0"/>
              </a:spcAft>
            </a:pPr>
            <a:r>
              <a:rPr sz="2800" b="1">
                <a:solidFill>
                  <a:srgbClr val="262626"/>
                </a:solidFill>
                <a:latin typeface="Inter"/>
              </a:rPr>
              <a:t>Priority and confidence</a:t>
            </a:r>
          </a:p>
          <a:p>
            <a:pPr algn="l">
              <a:lnSpc>
                <a:spcPts val="3304"/>
              </a:lnSpc>
              <a:spcBef>
                <a:spcPts val="0"/>
              </a:spcBef>
              <a:spcAft>
                <a:spcPts val="0"/>
              </a:spcAft>
            </a:pPr>
            <a:r>
              <a:rPr sz="2800" b="1">
                <a:solidFill>
                  <a:srgbClr val="262626"/>
                </a:solidFill>
                <a:latin typeface="Inter"/>
              </a:rPr>
              <a:t>stay separate.</a:t>
            </a:r>
          </a:p>
        </p:txBody>
      </p:sp>
      <p:sp>
        <p:nvSpPr>
          <p:cNvPr id="17" name="TextBox 16"/>
          <p:cNvSpPr txBox="1"/>
          <p:nvPr/>
        </p:nvSpPr>
        <p:spPr>
          <a:xfrm>
            <a:off x="6693408" y="4782312"/>
            <a:ext cx="4507992" cy="594360"/>
          </a:xfrm>
          <a:prstGeom prst="rect">
            <a:avLst/>
          </a:prstGeom>
          <a:noFill/>
        </p:spPr>
        <p:txBody>
          <a:bodyPr wrap="none" lIns="0" rIns="0" tIns="0" bIns="0" anchor="t">
            <a:noAutofit/>
          </a:bodyPr>
          <a:lstStyle/>
          <a:p>
            <a:pPr algn="l">
              <a:lnSpc>
                <a:spcPts val="2124"/>
              </a:lnSpc>
              <a:spcBef>
                <a:spcPts val="0"/>
              </a:spcBef>
              <a:spcAft>
                <a:spcPts val="0"/>
              </a:spcAft>
            </a:pPr>
            <a:r>
              <a:rPr sz="1800" b="0">
                <a:solidFill>
                  <a:srgbClr val="3C3C3C"/>
                </a:solidFill>
                <a:latin typeface="Inter Light"/>
              </a:rPr>
              <a:t>High potential, thin evidence stays</a:t>
            </a:r>
          </a:p>
          <a:p>
            <a:pPr algn="l">
              <a:lnSpc>
                <a:spcPts val="2124"/>
              </a:lnSpc>
              <a:spcBef>
                <a:spcPts val="0"/>
              </a:spcBef>
              <a:spcAft>
                <a:spcPts val="0"/>
              </a:spcAft>
            </a:pPr>
            <a:r>
              <a:rPr sz="1800" b="0">
                <a:solidFill>
                  <a:srgbClr val="3C3C3C"/>
                </a:solidFill>
                <a:latin typeface="Inter Light"/>
              </a:rPr>
              <a:t>visible.</a:t>
            </a:r>
          </a:p>
        </p:txBody>
      </p:sp>
      <p:sp>
        <p:nvSpPr>
          <p:cNvPr id="18" name="Rectangle 17"/>
          <p:cNvSpPr/>
          <p:nvPr/>
        </p:nvSpPr>
        <p:spPr>
          <a:xfrm>
            <a:off x="612648" y="5806440"/>
            <a:ext cx="10991088" cy="466344"/>
          </a:xfrm>
          <a:prstGeom prst="rect">
            <a:avLst/>
          </a:prstGeom>
          <a:solidFill>
            <a:srgbClr val="1A2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 y="5916168"/>
            <a:ext cx="10515600" cy="320040"/>
          </a:xfrm>
          <a:prstGeom prst="rect">
            <a:avLst/>
          </a:prstGeom>
          <a:noFill/>
        </p:spPr>
        <p:txBody>
          <a:bodyPr wrap="none" lIns="0" rIns="0" tIns="0" bIns="0" anchor="t">
            <a:noAutofit/>
          </a:bodyPr>
          <a:lstStyle/>
          <a:p>
            <a:pPr algn="l">
              <a:lnSpc>
                <a:spcPts val="2124"/>
              </a:lnSpc>
              <a:spcBef>
                <a:spcPts val="0"/>
              </a:spcBef>
              <a:spcAft>
                <a:spcPts val="0"/>
              </a:spcAft>
            </a:pPr>
            <a:r>
              <a:rPr sz="1800" b="0">
                <a:solidFill>
                  <a:srgbClr val="FFFFFF"/>
                </a:solidFill>
                <a:latin typeface="Inter Light"/>
              </a:rPr>
              <a:t>PM decisions record what changed and why.</a:t>
            </a:r>
          </a:p>
        </p:txBody>
      </p:sp>
      <p:sp>
        <p:nvSpPr>
          <p:cNvPr id="20" name="TextBox 19"/>
          <p:cNvSpPr txBox="1"/>
          <p:nvPr/>
        </p:nvSpPr>
        <p:spPr>
          <a:xfrm>
            <a:off x="612648" y="6492240"/>
            <a:ext cx="9921240" cy="182880"/>
          </a:xfrm>
          <a:prstGeom prst="rect">
            <a:avLst/>
          </a:prstGeom>
          <a:noFill/>
        </p:spPr>
        <p:txBody>
          <a:bodyPr wrap="none" lIns="0" rIns="0" tIns="0" bIns="0" anchor="t">
            <a:noAutofit/>
          </a:bodyPr>
          <a:lstStyle/>
          <a:p>
            <a:pPr algn="l">
              <a:lnSpc>
                <a:spcPts val="1180"/>
              </a:lnSpc>
              <a:spcBef>
                <a:spcPts val="0"/>
              </a:spcBef>
              <a:spcAft>
                <a:spcPts val="0"/>
              </a:spcAft>
            </a:pPr>
            <a:r>
              <a:rPr sz="1000" b="0">
                <a:solidFill>
                  <a:srgbClr val="6B6B6B"/>
                </a:solidFill>
                <a:latin typeface="Inter"/>
              </a:rPr>
              <a:t>Requirement Evidence Engine | BMW hackathon prototype</a:t>
            </a:r>
          </a:p>
        </p:txBody>
      </p:sp>
      <p:sp>
        <p:nvSpPr>
          <p:cNvPr id="21" name="TextBox 20"/>
          <p:cNvSpPr txBox="1"/>
          <p:nvPr/>
        </p:nvSpPr>
        <p:spPr>
          <a:xfrm>
            <a:off x="10881360" y="6492240"/>
            <a:ext cx="685800" cy="182880"/>
          </a:xfrm>
          <a:prstGeom prst="rect">
            <a:avLst/>
          </a:prstGeom>
          <a:noFill/>
        </p:spPr>
        <p:txBody>
          <a:bodyPr wrap="none" lIns="0" rIns="0" tIns="0" bIns="0" anchor="t">
            <a:noAutofit/>
          </a:bodyPr>
          <a:lstStyle/>
          <a:p>
            <a:pPr algn="r">
              <a:lnSpc>
                <a:spcPts val="1180"/>
              </a:lnSpc>
              <a:spcBef>
                <a:spcPts val="0"/>
              </a:spcBef>
              <a:spcAft>
                <a:spcPts val="0"/>
              </a:spcAft>
            </a:pPr>
            <a:r>
              <a:rPr sz="1000" b="0">
                <a:solidFill>
                  <a:srgbClr val="6B6B6B"/>
                </a:solidFill>
                <a:latin typeface="Inter"/>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1">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92608"/>
            <a:ext cx="9875520" cy="210312"/>
          </a:xfrm>
          <a:prstGeom prst="rect">
            <a:avLst/>
          </a:prstGeom>
          <a:noFill/>
        </p:spPr>
        <p:txBody>
          <a:bodyPr wrap="none" lIns="0" rIns="0" tIns="0" bIns="0" anchor="t">
            <a:noAutofit/>
          </a:bodyPr>
          <a:lstStyle/>
          <a:p>
            <a:pPr algn="l">
              <a:lnSpc>
                <a:spcPts val="1297"/>
              </a:lnSpc>
              <a:spcBef>
                <a:spcPts val="0"/>
              </a:spcBef>
              <a:spcAft>
                <a:spcPts val="0"/>
              </a:spcAft>
            </a:pPr>
            <a:r>
              <a:rPr sz="1100" b="1">
                <a:solidFill>
                  <a:srgbClr val="1C69D4"/>
                </a:solidFill>
                <a:latin typeface="Inter"/>
              </a:rPr>
              <a:t>BMW PRODUCT INTELLIGENCE</a:t>
            </a:r>
          </a:p>
        </p:txBody>
      </p:sp>
      <p:sp>
        <p:nvSpPr>
          <p:cNvPr id="4" name="TextBox 3"/>
          <p:cNvSpPr txBox="1"/>
          <p:nvPr/>
        </p:nvSpPr>
        <p:spPr>
          <a:xfrm>
            <a:off x="612648" y="877824"/>
            <a:ext cx="10991088" cy="1252728"/>
          </a:xfrm>
          <a:prstGeom prst="rect">
            <a:avLst/>
          </a:prstGeom>
          <a:noFill/>
        </p:spPr>
        <p:txBody>
          <a:bodyPr wrap="none" lIns="0" rIns="0" tIns="0" bIns="0" anchor="t">
            <a:noAutofit/>
          </a:bodyPr>
          <a:lstStyle/>
          <a:p>
            <a:pPr algn="l">
              <a:lnSpc>
                <a:spcPts val="4256"/>
              </a:lnSpc>
              <a:spcBef>
                <a:spcPts val="0"/>
              </a:spcBef>
              <a:spcAft>
                <a:spcPts val="0"/>
              </a:spcAft>
            </a:pPr>
            <a:r>
              <a:rPr sz="3800" b="1">
                <a:solidFill>
                  <a:srgbClr val="262626"/>
                </a:solidFill>
                <a:latin typeface="Inter"/>
              </a:rPr>
              <a:t>A working foundation.</a:t>
            </a:r>
          </a:p>
          <a:p>
            <a:pPr algn="l">
              <a:lnSpc>
                <a:spcPts val="4256"/>
              </a:lnSpc>
              <a:spcBef>
                <a:spcPts val="0"/>
              </a:spcBef>
              <a:spcAft>
                <a:spcPts val="0"/>
              </a:spcAft>
            </a:pPr>
            <a:r>
              <a:rPr sz="3800" b="1">
                <a:solidFill>
                  <a:srgbClr val="262626"/>
                </a:solidFill>
                <a:latin typeface="Inter"/>
              </a:rPr>
              <a:t>A clear next step.</a:t>
            </a:r>
          </a:p>
        </p:txBody>
      </p:sp>
      <p:pic>
        <p:nvPicPr>
          <p:cNvPr id="5" name="Picture 4" descr="workspace-demo.png"/>
          <p:cNvPicPr>
            <a:picLocks noChangeAspect="1"/>
          </p:cNvPicPr>
          <p:nvPr/>
        </p:nvPicPr>
        <p:blipFill>
          <a:blip r:embed="rId2"/>
          <a:stretch>
            <a:fillRect/>
          </a:stretch>
        </p:blipFill>
        <p:spPr>
          <a:xfrm>
            <a:off x="612648" y="2075688"/>
            <a:ext cx="6400800" cy="4133849"/>
          </a:xfrm>
          <a:prstGeom prst="rect">
            <a:avLst/>
          </a:prstGeom>
        </p:spPr>
      </p:pic>
      <p:sp>
        <p:nvSpPr>
          <p:cNvPr id="6" name="TextBox 5"/>
          <p:cNvSpPr txBox="1"/>
          <p:nvPr/>
        </p:nvSpPr>
        <p:spPr>
          <a:xfrm>
            <a:off x="612648" y="6263640"/>
            <a:ext cx="6565392" cy="173736"/>
          </a:xfrm>
          <a:prstGeom prst="rect">
            <a:avLst/>
          </a:prstGeom>
          <a:noFill/>
        </p:spPr>
        <p:txBody>
          <a:bodyPr wrap="none" lIns="0" rIns="0" tIns="0" bIns="0" anchor="t">
            <a:noAutofit/>
          </a:bodyPr>
          <a:lstStyle/>
          <a:p>
            <a:pPr algn="l">
              <a:lnSpc>
                <a:spcPts val="1180"/>
              </a:lnSpc>
              <a:spcBef>
                <a:spcPts val="0"/>
              </a:spcBef>
              <a:spcAft>
                <a:spcPts val="0"/>
              </a:spcAft>
            </a:pPr>
            <a:r>
              <a:rPr sz="1000" b="0">
                <a:solidFill>
                  <a:srgbClr val="6B6B6B"/>
                </a:solidFill>
                <a:latin typeface="Inter"/>
              </a:rPr>
              <a:t>Actual deployed workspace. Clearly labeled illustrative data.</a:t>
            </a:r>
          </a:p>
        </p:txBody>
      </p:sp>
      <p:sp>
        <p:nvSpPr>
          <p:cNvPr id="7" name="TextBox 6"/>
          <p:cNvSpPr txBox="1"/>
          <p:nvPr/>
        </p:nvSpPr>
        <p:spPr>
          <a:xfrm>
            <a:off x="7461504" y="2157984"/>
            <a:ext cx="4105656" cy="246888"/>
          </a:xfrm>
          <a:prstGeom prst="rect">
            <a:avLst/>
          </a:prstGeom>
          <a:noFill/>
        </p:spPr>
        <p:txBody>
          <a:bodyPr wrap="none" lIns="0" rIns="0" tIns="0" bIns="0" anchor="t">
            <a:noAutofit/>
          </a:bodyPr>
          <a:lstStyle/>
          <a:p>
            <a:pPr algn="l">
              <a:lnSpc>
                <a:spcPts val="1416"/>
              </a:lnSpc>
              <a:spcBef>
                <a:spcPts val="0"/>
              </a:spcBef>
              <a:spcAft>
                <a:spcPts val="0"/>
              </a:spcAft>
            </a:pPr>
            <a:r>
              <a:rPr sz="1200" b="1">
                <a:solidFill>
                  <a:srgbClr val="1C69D4"/>
                </a:solidFill>
                <a:latin typeface="Inter"/>
              </a:rPr>
              <a:t>IMPLEMENTED BACKEND</a:t>
            </a:r>
          </a:p>
        </p:txBody>
      </p:sp>
      <p:sp>
        <p:nvSpPr>
          <p:cNvPr id="8" name="TextBox 7"/>
          <p:cNvSpPr txBox="1"/>
          <p:nvPr/>
        </p:nvSpPr>
        <p:spPr>
          <a:xfrm>
            <a:off x="7461504" y="2615184"/>
            <a:ext cx="4105656" cy="1234440"/>
          </a:xfrm>
          <a:prstGeom prst="rect">
            <a:avLst/>
          </a:prstGeom>
          <a:noFill/>
        </p:spPr>
        <p:txBody>
          <a:bodyPr wrap="none" lIns="0" rIns="0" tIns="0" bIns="0" anchor="t">
            <a:noAutofit/>
          </a:bodyPr>
          <a:lstStyle/>
          <a:p>
            <a:pPr algn="l">
              <a:lnSpc>
                <a:spcPts val="2640"/>
              </a:lnSpc>
              <a:spcBef>
                <a:spcPts val="0"/>
              </a:spcBef>
              <a:spcAft>
                <a:spcPts val="0"/>
              </a:spcAft>
            </a:pPr>
            <a:r>
              <a:rPr sz="2000" b="0">
                <a:solidFill>
                  <a:srgbClr val="262626"/>
                </a:solidFill>
                <a:latin typeface="Inter Light"/>
              </a:rPr>
              <a:t>Cited search and planning</a:t>
            </a:r>
          </a:p>
          <a:p>
            <a:pPr algn="l">
              <a:lnSpc>
                <a:spcPts val="2640"/>
              </a:lnSpc>
              <a:spcBef>
                <a:spcPts val="0"/>
              </a:spcBef>
              <a:spcAft>
                <a:spcPts val="0"/>
              </a:spcAft>
            </a:pPr>
            <a:r>
              <a:rPr sz="2000" b="0">
                <a:solidFill>
                  <a:srgbClr val="262626"/>
                </a:solidFill>
                <a:latin typeface="Inter Light"/>
              </a:rPr>
              <a:t>Agent runner + Critic</a:t>
            </a:r>
          </a:p>
          <a:p>
            <a:pPr algn="l">
              <a:lnSpc>
                <a:spcPts val="2640"/>
              </a:lnSpc>
              <a:spcBef>
                <a:spcPts val="0"/>
              </a:spcBef>
              <a:spcAft>
                <a:spcPts val="0"/>
              </a:spcAft>
            </a:pPr>
            <a:r>
              <a:rPr sz="2000" b="0">
                <a:solidFill>
                  <a:srgbClr val="262626"/>
                </a:solidFill>
                <a:latin typeface="Inter Light"/>
              </a:rPr>
              <a:t>PM review endpoints</a:t>
            </a:r>
          </a:p>
        </p:txBody>
      </p:sp>
      <p:cxnSp>
        <p:nvCxnSpPr>
          <p:cNvPr id="9" name="Connector 8"/>
          <p:cNvCxnSpPr/>
          <p:nvPr/>
        </p:nvCxnSpPr>
        <p:spPr>
          <a:xfrm>
            <a:off x="7461504" y="4096512"/>
            <a:ext cx="4105656" cy="0"/>
          </a:xfrm>
          <a:prstGeom prst="line">
            <a:avLst/>
          </a:prstGeom>
          <a:ln w="12700">
            <a:solidFill>
              <a:srgbClr val="E6E6E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461504" y="4325112"/>
            <a:ext cx="4105656" cy="246888"/>
          </a:xfrm>
          <a:prstGeom prst="rect">
            <a:avLst/>
          </a:prstGeom>
          <a:noFill/>
        </p:spPr>
        <p:txBody>
          <a:bodyPr wrap="none" lIns="0" rIns="0" tIns="0" bIns="0" anchor="t">
            <a:noAutofit/>
          </a:bodyPr>
          <a:lstStyle/>
          <a:p>
            <a:pPr algn="l">
              <a:lnSpc>
                <a:spcPts val="1416"/>
              </a:lnSpc>
              <a:spcBef>
                <a:spcPts val="0"/>
              </a:spcBef>
              <a:spcAft>
                <a:spcPts val="0"/>
              </a:spcAft>
            </a:pPr>
            <a:r>
              <a:rPr sz="1200" b="1">
                <a:solidFill>
                  <a:srgbClr val="1C69D4"/>
                </a:solidFill>
                <a:latin typeface="Inter"/>
              </a:rPr>
              <a:t>FRONTEND DEMO</a:t>
            </a:r>
          </a:p>
        </p:txBody>
      </p:sp>
      <p:sp>
        <p:nvSpPr>
          <p:cNvPr id="11" name="TextBox 10"/>
          <p:cNvSpPr txBox="1"/>
          <p:nvPr/>
        </p:nvSpPr>
        <p:spPr>
          <a:xfrm>
            <a:off x="7461504" y="4736592"/>
            <a:ext cx="4105656" cy="841248"/>
          </a:xfrm>
          <a:prstGeom prst="rect">
            <a:avLst/>
          </a:prstGeom>
          <a:noFill/>
        </p:spPr>
        <p:txBody>
          <a:bodyPr wrap="none" lIns="0" rIns="0" tIns="0" bIns="0" anchor="t">
            <a:noAutofit/>
          </a:bodyPr>
          <a:lstStyle/>
          <a:p>
            <a:pPr algn="l">
              <a:lnSpc>
                <a:spcPts val="2242"/>
              </a:lnSpc>
              <a:spcBef>
                <a:spcPts val="0"/>
              </a:spcBef>
              <a:spcAft>
                <a:spcPts val="0"/>
              </a:spcAft>
            </a:pPr>
            <a:r>
              <a:rPr sz="1900" b="0">
                <a:solidFill>
                  <a:srgbClr val="262626"/>
                </a:solidFill>
                <a:latin typeface="Inter Light"/>
              </a:rPr>
              <a:t>Targets, requirement reviews</a:t>
            </a:r>
          </a:p>
          <a:p>
            <a:pPr algn="l">
              <a:lnSpc>
                <a:spcPts val="2242"/>
              </a:lnSpc>
              <a:spcBef>
                <a:spcPts val="0"/>
              </a:spcBef>
              <a:spcAft>
                <a:spcPts val="0"/>
              </a:spcAft>
            </a:pPr>
            <a:r>
              <a:rPr sz="1900" b="0">
                <a:solidFill>
                  <a:srgbClr val="262626"/>
                </a:solidFill>
                <a:latin typeface="Inter Light"/>
              </a:rPr>
              <a:t>and reports on sample data.</a:t>
            </a:r>
          </a:p>
        </p:txBody>
      </p:sp>
      <p:sp>
        <p:nvSpPr>
          <p:cNvPr id="12" name="TextBox 11"/>
          <p:cNvSpPr txBox="1"/>
          <p:nvPr/>
        </p:nvSpPr>
        <p:spPr>
          <a:xfrm>
            <a:off x="7461504" y="5779008"/>
            <a:ext cx="4105656" cy="512064"/>
          </a:xfrm>
          <a:prstGeom prst="rect">
            <a:avLst/>
          </a:prstGeom>
          <a:noFill/>
        </p:spPr>
        <p:txBody>
          <a:bodyPr wrap="none" lIns="0" rIns="0" tIns="0" bIns="0" anchor="t">
            <a:noAutofit/>
          </a:bodyPr>
          <a:lstStyle/>
          <a:p>
            <a:pPr algn="l">
              <a:lnSpc>
                <a:spcPts val="1887"/>
              </a:lnSpc>
              <a:spcBef>
                <a:spcPts val="0"/>
              </a:spcBef>
              <a:spcAft>
                <a:spcPts val="0"/>
              </a:spcAft>
            </a:pPr>
            <a:r>
              <a:rPr sz="1600" b="1">
                <a:solidFill>
                  <a:srgbClr val="1C69D4"/>
                </a:solidFill>
                <a:latin typeface="Inter"/>
              </a:rPr>
              <a:t>NEXT: UI wiring + backlog writes</a:t>
            </a:r>
          </a:p>
        </p:txBody>
      </p:sp>
      <p:sp>
        <p:nvSpPr>
          <p:cNvPr id="13" name="TextBox 12"/>
          <p:cNvSpPr txBox="1"/>
          <p:nvPr/>
        </p:nvSpPr>
        <p:spPr>
          <a:xfrm>
            <a:off x="612648" y="6492240"/>
            <a:ext cx="9921240" cy="182880"/>
          </a:xfrm>
          <a:prstGeom prst="rect">
            <a:avLst/>
          </a:prstGeom>
          <a:noFill/>
        </p:spPr>
        <p:txBody>
          <a:bodyPr wrap="none" lIns="0" rIns="0" tIns="0" bIns="0" anchor="t">
            <a:noAutofit/>
          </a:bodyPr>
          <a:lstStyle/>
          <a:p>
            <a:pPr algn="l">
              <a:lnSpc>
                <a:spcPts val="1180"/>
              </a:lnSpc>
              <a:spcBef>
                <a:spcPts val="0"/>
              </a:spcBef>
              <a:spcAft>
                <a:spcPts val="0"/>
              </a:spcAft>
            </a:pPr>
            <a:r>
              <a:rPr sz="1000" b="0">
                <a:solidFill>
                  <a:srgbClr val="6B6B6B"/>
                </a:solidFill>
                <a:latin typeface="Inter"/>
              </a:rPr>
              <a:t>Requirement Evidence Engine | BMW hackathon prototype</a:t>
            </a:r>
          </a:p>
        </p:txBody>
      </p:sp>
      <p:sp>
        <p:nvSpPr>
          <p:cNvPr id="14" name="TextBox 13"/>
          <p:cNvSpPr txBox="1"/>
          <p:nvPr/>
        </p:nvSpPr>
        <p:spPr>
          <a:xfrm>
            <a:off x="10881360" y="6492240"/>
            <a:ext cx="685800" cy="182880"/>
          </a:xfrm>
          <a:prstGeom prst="rect">
            <a:avLst/>
          </a:prstGeom>
          <a:noFill/>
        </p:spPr>
        <p:txBody>
          <a:bodyPr wrap="none" lIns="0" rIns="0" tIns="0" bIns="0" anchor="t">
            <a:noAutofit/>
          </a:bodyPr>
          <a:lstStyle/>
          <a:p>
            <a:pPr algn="r">
              <a:lnSpc>
                <a:spcPts val="1180"/>
              </a:lnSpc>
              <a:spcBef>
                <a:spcPts val="0"/>
              </a:spcBef>
              <a:spcAft>
                <a:spcPts val="0"/>
              </a:spcAft>
            </a:pPr>
            <a:r>
              <a:rPr sz="1000" b="0">
                <a:solidFill>
                  <a:srgbClr val="6B6B6B"/>
                </a:solidFill>
                <a:latin typeface="Inter"/>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1">
  <p:cSld>
    <p:bg>
      <p:bgPr>
        <a:solidFill>
          <a:srgbClr val="1A2129"/>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A2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92608"/>
            <a:ext cx="9875520" cy="210312"/>
          </a:xfrm>
          <a:prstGeom prst="rect">
            <a:avLst/>
          </a:prstGeom>
          <a:noFill/>
        </p:spPr>
        <p:txBody>
          <a:bodyPr wrap="none" lIns="0" rIns="0" tIns="0" bIns="0" anchor="t">
            <a:noAutofit/>
          </a:bodyPr>
          <a:lstStyle/>
          <a:p>
            <a:pPr algn="l">
              <a:lnSpc>
                <a:spcPts val="1297"/>
              </a:lnSpc>
              <a:spcBef>
                <a:spcPts val="0"/>
              </a:spcBef>
              <a:spcAft>
                <a:spcPts val="0"/>
              </a:spcAft>
            </a:pPr>
            <a:r>
              <a:rPr sz="1100" b="1">
                <a:solidFill>
                  <a:srgbClr val="FFFFFF"/>
                </a:solidFill>
                <a:latin typeface="Inter"/>
              </a:rPr>
              <a:t>BMW PRODUCT INTELLIGENCE</a:t>
            </a:r>
          </a:p>
        </p:txBody>
      </p:sp>
      <p:sp>
        <p:nvSpPr>
          <p:cNvPr id="4" name="TextBox 3"/>
          <p:cNvSpPr txBox="1"/>
          <p:nvPr/>
        </p:nvSpPr>
        <p:spPr>
          <a:xfrm>
            <a:off x="612648" y="877824"/>
            <a:ext cx="10991088" cy="1252728"/>
          </a:xfrm>
          <a:prstGeom prst="rect">
            <a:avLst/>
          </a:prstGeom>
          <a:noFill/>
        </p:spPr>
        <p:txBody>
          <a:bodyPr wrap="none" lIns="0" rIns="0" tIns="0" bIns="0" anchor="t">
            <a:noAutofit/>
          </a:bodyPr>
          <a:lstStyle/>
          <a:p>
            <a:pPr algn="l">
              <a:lnSpc>
                <a:spcPts val="4256"/>
              </a:lnSpc>
              <a:spcBef>
                <a:spcPts val="0"/>
              </a:spcBef>
              <a:spcAft>
                <a:spcPts val="0"/>
              </a:spcAft>
            </a:pPr>
            <a:r>
              <a:rPr sz="3800" b="1">
                <a:solidFill>
                  <a:srgbClr val="FFFFFF"/>
                </a:solidFill>
                <a:latin typeface="Inter"/>
              </a:rPr>
              <a:t>Pilot one vehicle line.</a:t>
            </a:r>
          </a:p>
          <a:p>
            <a:pPr algn="l">
              <a:lnSpc>
                <a:spcPts val="4256"/>
              </a:lnSpc>
              <a:spcBef>
                <a:spcPts val="0"/>
              </a:spcBef>
              <a:spcAft>
                <a:spcPts val="0"/>
              </a:spcAft>
            </a:pPr>
            <a:r>
              <a:rPr sz="3800" b="1">
                <a:solidFill>
                  <a:srgbClr val="FFFFFF"/>
                </a:solidFill>
                <a:latin typeface="Inter"/>
              </a:rPr>
              <a:t>Make the decision traceable.</a:t>
            </a:r>
          </a:p>
        </p:txBody>
      </p:sp>
      <p:sp>
        <p:nvSpPr>
          <p:cNvPr id="5" name="TextBox 4"/>
          <p:cNvSpPr txBox="1"/>
          <p:nvPr/>
        </p:nvSpPr>
        <p:spPr>
          <a:xfrm>
            <a:off x="612648" y="2596896"/>
            <a:ext cx="10881360" cy="566928"/>
          </a:xfrm>
          <a:prstGeom prst="rect">
            <a:avLst/>
          </a:prstGeom>
          <a:noFill/>
        </p:spPr>
        <p:txBody>
          <a:bodyPr wrap="none" lIns="0" rIns="0" tIns="0" bIns="0" anchor="t">
            <a:noAutofit/>
          </a:bodyPr>
          <a:lstStyle/>
          <a:p>
            <a:pPr algn="l">
              <a:lnSpc>
                <a:spcPts val="2950"/>
              </a:lnSpc>
              <a:spcBef>
                <a:spcPts val="0"/>
              </a:spcBef>
              <a:spcAft>
                <a:spcPts val="0"/>
              </a:spcAft>
            </a:pPr>
            <a:r>
              <a:rPr sz="2500" b="0">
                <a:solidFill>
                  <a:srgbClr val="FFFFFF"/>
                </a:solidFill>
                <a:latin typeface="Inter Light"/>
              </a:rPr>
              <a:t>Wire the workspace, then measure:</a:t>
            </a:r>
          </a:p>
        </p:txBody>
      </p:sp>
      <p:cxnSp>
        <p:nvCxnSpPr>
          <p:cNvPr id="6" name="Connector 5"/>
          <p:cNvCxnSpPr/>
          <p:nvPr/>
        </p:nvCxnSpPr>
        <p:spPr>
          <a:xfrm>
            <a:off x="612648" y="3767328"/>
            <a:ext cx="3163824" cy="0"/>
          </a:xfrm>
          <a:prstGeom prst="line">
            <a:avLst/>
          </a:prstGeom>
          <a:ln w="12700">
            <a:solidFill>
              <a:srgbClr val="4A5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12648" y="4032504"/>
            <a:ext cx="3127248" cy="256032"/>
          </a:xfrm>
          <a:prstGeom prst="rect">
            <a:avLst/>
          </a:prstGeom>
          <a:noFill/>
        </p:spPr>
        <p:txBody>
          <a:bodyPr wrap="none" lIns="0" rIns="0" tIns="0" bIns="0" anchor="t">
            <a:noAutofit/>
          </a:bodyPr>
          <a:lstStyle/>
          <a:p>
            <a:pPr algn="l">
              <a:lnSpc>
                <a:spcPts val="1534"/>
              </a:lnSpc>
              <a:spcBef>
                <a:spcPts val="0"/>
              </a:spcBef>
              <a:spcAft>
                <a:spcPts val="0"/>
              </a:spcAft>
            </a:pPr>
            <a:r>
              <a:rPr sz="1300" b="0">
                <a:solidFill>
                  <a:srgbClr val="BBBBBB"/>
                </a:solidFill>
                <a:latin typeface="Inter"/>
              </a:rPr>
              <a:t>01</a:t>
            </a:r>
          </a:p>
        </p:txBody>
      </p:sp>
      <p:sp>
        <p:nvSpPr>
          <p:cNvPr id="8" name="TextBox 7"/>
          <p:cNvSpPr txBox="1"/>
          <p:nvPr/>
        </p:nvSpPr>
        <p:spPr>
          <a:xfrm>
            <a:off x="612648" y="4553712"/>
            <a:ext cx="3154680" cy="804672"/>
          </a:xfrm>
          <a:prstGeom prst="rect">
            <a:avLst/>
          </a:prstGeom>
          <a:noFill/>
        </p:spPr>
        <p:txBody>
          <a:bodyPr wrap="none" lIns="0" rIns="0" tIns="0" bIns="0" anchor="t">
            <a:noAutofit/>
          </a:bodyPr>
          <a:lstStyle/>
          <a:p>
            <a:pPr algn="l">
              <a:lnSpc>
                <a:spcPts val="2832"/>
              </a:lnSpc>
              <a:spcBef>
                <a:spcPts val="0"/>
              </a:spcBef>
              <a:spcAft>
                <a:spcPts val="0"/>
              </a:spcAft>
            </a:pPr>
            <a:r>
              <a:rPr sz="2400" b="1">
                <a:solidFill>
                  <a:srgbClr val="FFFFFF"/>
                </a:solidFill>
                <a:latin typeface="Inter"/>
              </a:rPr>
              <a:t>Time to a cited draft</a:t>
            </a:r>
          </a:p>
        </p:txBody>
      </p:sp>
      <p:cxnSp>
        <p:nvCxnSpPr>
          <p:cNvPr id="9" name="Connector 8"/>
          <p:cNvCxnSpPr/>
          <p:nvPr/>
        </p:nvCxnSpPr>
        <p:spPr>
          <a:xfrm>
            <a:off x="4343400" y="3767328"/>
            <a:ext cx="3163824" cy="0"/>
          </a:xfrm>
          <a:prstGeom prst="line">
            <a:avLst/>
          </a:prstGeom>
          <a:ln w="12700">
            <a:solidFill>
              <a:srgbClr val="4A535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343400" y="4032504"/>
            <a:ext cx="3127248" cy="256032"/>
          </a:xfrm>
          <a:prstGeom prst="rect">
            <a:avLst/>
          </a:prstGeom>
          <a:noFill/>
        </p:spPr>
        <p:txBody>
          <a:bodyPr wrap="none" lIns="0" rIns="0" tIns="0" bIns="0" anchor="t">
            <a:noAutofit/>
          </a:bodyPr>
          <a:lstStyle/>
          <a:p>
            <a:pPr algn="l">
              <a:lnSpc>
                <a:spcPts val="1534"/>
              </a:lnSpc>
              <a:spcBef>
                <a:spcPts val="0"/>
              </a:spcBef>
              <a:spcAft>
                <a:spcPts val="0"/>
              </a:spcAft>
            </a:pPr>
            <a:r>
              <a:rPr sz="1300" b="0">
                <a:solidFill>
                  <a:srgbClr val="BBBBBB"/>
                </a:solidFill>
                <a:latin typeface="Inter"/>
              </a:rPr>
              <a:t>02</a:t>
            </a:r>
          </a:p>
        </p:txBody>
      </p:sp>
      <p:sp>
        <p:nvSpPr>
          <p:cNvPr id="11" name="TextBox 10"/>
          <p:cNvSpPr txBox="1"/>
          <p:nvPr/>
        </p:nvSpPr>
        <p:spPr>
          <a:xfrm>
            <a:off x="4343400" y="4553712"/>
            <a:ext cx="3154680" cy="804672"/>
          </a:xfrm>
          <a:prstGeom prst="rect">
            <a:avLst/>
          </a:prstGeom>
          <a:noFill/>
        </p:spPr>
        <p:txBody>
          <a:bodyPr wrap="none" lIns="0" rIns="0" tIns="0" bIns="0" anchor="t">
            <a:noAutofit/>
          </a:bodyPr>
          <a:lstStyle/>
          <a:p>
            <a:pPr algn="l">
              <a:lnSpc>
                <a:spcPts val="2832"/>
              </a:lnSpc>
              <a:spcBef>
                <a:spcPts val="0"/>
              </a:spcBef>
              <a:spcAft>
                <a:spcPts val="0"/>
              </a:spcAft>
            </a:pPr>
            <a:r>
              <a:rPr sz="2400" b="1">
                <a:solidFill>
                  <a:srgbClr val="FFFFFF"/>
                </a:solidFill>
                <a:latin typeface="Inter"/>
              </a:rPr>
              <a:t>Evidence coverage</a:t>
            </a:r>
          </a:p>
        </p:txBody>
      </p:sp>
      <p:cxnSp>
        <p:nvCxnSpPr>
          <p:cNvPr id="12" name="Connector 11"/>
          <p:cNvCxnSpPr/>
          <p:nvPr/>
        </p:nvCxnSpPr>
        <p:spPr>
          <a:xfrm>
            <a:off x="8074152" y="3767328"/>
            <a:ext cx="3163824" cy="0"/>
          </a:xfrm>
          <a:prstGeom prst="line">
            <a:avLst/>
          </a:prstGeom>
          <a:ln w="12700">
            <a:solidFill>
              <a:srgbClr val="4A535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074152" y="4032504"/>
            <a:ext cx="3127248" cy="256032"/>
          </a:xfrm>
          <a:prstGeom prst="rect">
            <a:avLst/>
          </a:prstGeom>
          <a:noFill/>
        </p:spPr>
        <p:txBody>
          <a:bodyPr wrap="none" lIns="0" rIns="0" tIns="0" bIns="0" anchor="t">
            <a:noAutofit/>
          </a:bodyPr>
          <a:lstStyle/>
          <a:p>
            <a:pPr algn="l">
              <a:lnSpc>
                <a:spcPts val="1534"/>
              </a:lnSpc>
              <a:spcBef>
                <a:spcPts val="0"/>
              </a:spcBef>
              <a:spcAft>
                <a:spcPts val="0"/>
              </a:spcAft>
            </a:pPr>
            <a:r>
              <a:rPr sz="1300" b="0">
                <a:solidFill>
                  <a:srgbClr val="BBBBBB"/>
                </a:solidFill>
                <a:latin typeface="Inter"/>
              </a:rPr>
              <a:t>03</a:t>
            </a:r>
          </a:p>
        </p:txBody>
      </p:sp>
      <p:sp>
        <p:nvSpPr>
          <p:cNvPr id="14" name="TextBox 13"/>
          <p:cNvSpPr txBox="1"/>
          <p:nvPr/>
        </p:nvSpPr>
        <p:spPr>
          <a:xfrm>
            <a:off x="8074152" y="4553712"/>
            <a:ext cx="3154680" cy="804672"/>
          </a:xfrm>
          <a:prstGeom prst="rect">
            <a:avLst/>
          </a:prstGeom>
          <a:noFill/>
        </p:spPr>
        <p:txBody>
          <a:bodyPr wrap="none" lIns="0" rIns="0" tIns="0" bIns="0" anchor="t">
            <a:noAutofit/>
          </a:bodyPr>
          <a:lstStyle/>
          <a:p>
            <a:pPr algn="l">
              <a:lnSpc>
                <a:spcPts val="2832"/>
              </a:lnSpc>
              <a:spcBef>
                <a:spcPts val="0"/>
              </a:spcBef>
              <a:spcAft>
                <a:spcPts val="0"/>
              </a:spcAft>
            </a:pPr>
            <a:r>
              <a:rPr sz="2400" b="1">
                <a:solidFill>
                  <a:srgbClr val="FFFFFF"/>
                </a:solidFill>
                <a:latin typeface="Inter"/>
              </a:rPr>
              <a:t>PM review effort</a:t>
            </a:r>
          </a:p>
        </p:txBody>
      </p:sp>
      <p:sp>
        <p:nvSpPr>
          <p:cNvPr id="15" name="Rectangle 14"/>
          <p:cNvSpPr/>
          <p:nvPr/>
        </p:nvSpPr>
        <p:spPr>
          <a:xfrm>
            <a:off x="612648" y="5550408"/>
            <a:ext cx="10991088" cy="585216"/>
          </a:xfrm>
          <a:prstGeom prst="rect">
            <a:avLst/>
          </a:prstGeom>
          <a:solidFill>
            <a:srgbClr val="1C6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696712"/>
            <a:ext cx="10515600" cy="320040"/>
          </a:xfrm>
          <a:prstGeom prst="rect">
            <a:avLst/>
          </a:prstGeom>
          <a:noFill/>
        </p:spPr>
        <p:txBody>
          <a:bodyPr wrap="none" lIns="0" rIns="0" tIns="0" bIns="0" anchor="t">
            <a:noAutofit/>
          </a:bodyPr>
          <a:lstStyle/>
          <a:p>
            <a:pPr algn="l">
              <a:lnSpc>
                <a:spcPts val="2242"/>
              </a:lnSpc>
              <a:spcBef>
                <a:spcPts val="0"/>
              </a:spcBef>
              <a:spcAft>
                <a:spcPts val="0"/>
              </a:spcAft>
            </a:pPr>
            <a:r>
              <a:rPr sz="1900" b="0">
                <a:solidFill>
                  <a:srgbClr val="FFFFFF"/>
                </a:solidFill>
                <a:latin typeface="Inter"/>
                <a:hlinkClick r:id="rId2"/>
              </a:rPr>
              <a:t>bmw-product-intelligence.vercel.app</a:t>
            </a:r>
          </a:p>
        </p:txBody>
      </p:sp>
      <p:sp>
        <p:nvSpPr>
          <p:cNvPr id="17" name="TextBox 16"/>
          <p:cNvSpPr txBox="1"/>
          <p:nvPr/>
        </p:nvSpPr>
        <p:spPr>
          <a:xfrm>
            <a:off x="612648" y="6245352"/>
            <a:ext cx="10881360" cy="192024"/>
          </a:xfrm>
          <a:prstGeom prst="rect">
            <a:avLst/>
          </a:prstGeom>
          <a:noFill/>
        </p:spPr>
        <p:txBody>
          <a:bodyPr wrap="none" lIns="0" rIns="0" tIns="0" bIns="0" anchor="t">
            <a:noAutofit/>
          </a:bodyPr>
          <a:lstStyle/>
          <a:p>
            <a:pPr algn="l">
              <a:lnSpc>
                <a:spcPts val="1297"/>
              </a:lnSpc>
              <a:spcBef>
                <a:spcPts val="0"/>
              </a:spcBef>
              <a:spcAft>
                <a:spcPts val="0"/>
              </a:spcAft>
            </a:pPr>
            <a:r>
              <a:rPr sz="1100" b="0">
                <a:solidFill>
                  <a:srgbClr val="BBBBBB"/>
                </a:solidFill>
                <a:latin typeface="Inter"/>
              </a:rPr>
              <a:t>Try the static demo. Live evidence and planning run with the local backend.</a:t>
            </a:r>
          </a:p>
        </p:txBody>
      </p:sp>
      <p:sp>
        <p:nvSpPr>
          <p:cNvPr id="18" name="TextBox 17"/>
          <p:cNvSpPr txBox="1"/>
          <p:nvPr/>
        </p:nvSpPr>
        <p:spPr>
          <a:xfrm>
            <a:off x="612648" y="6492240"/>
            <a:ext cx="9921240" cy="182880"/>
          </a:xfrm>
          <a:prstGeom prst="rect">
            <a:avLst/>
          </a:prstGeom>
          <a:noFill/>
        </p:spPr>
        <p:txBody>
          <a:bodyPr wrap="none" lIns="0" rIns="0" tIns="0" bIns="0" anchor="t">
            <a:noAutofit/>
          </a:bodyPr>
          <a:lstStyle/>
          <a:p>
            <a:pPr algn="l">
              <a:lnSpc>
                <a:spcPts val="1180"/>
              </a:lnSpc>
              <a:spcBef>
                <a:spcPts val="0"/>
              </a:spcBef>
              <a:spcAft>
                <a:spcPts val="0"/>
              </a:spcAft>
            </a:pPr>
            <a:r>
              <a:rPr sz="1000" b="0">
                <a:solidFill>
                  <a:srgbClr val="BBBBBB"/>
                </a:solidFill>
                <a:latin typeface="Inter"/>
              </a:rPr>
              <a:t>Requirement Evidence Engine | BMW hackathon prototype</a:t>
            </a:r>
          </a:p>
        </p:txBody>
      </p:sp>
      <p:sp>
        <p:nvSpPr>
          <p:cNvPr id="19" name="TextBox 18"/>
          <p:cNvSpPr txBox="1"/>
          <p:nvPr/>
        </p:nvSpPr>
        <p:spPr>
          <a:xfrm>
            <a:off x="10881360" y="6492240"/>
            <a:ext cx="685800" cy="182880"/>
          </a:xfrm>
          <a:prstGeom prst="rect">
            <a:avLst/>
          </a:prstGeom>
          <a:noFill/>
        </p:spPr>
        <p:txBody>
          <a:bodyPr wrap="none" lIns="0" rIns="0" tIns="0" bIns="0" anchor="t">
            <a:noAutofit/>
          </a:bodyPr>
          <a:lstStyle/>
          <a:p>
            <a:pPr algn="r">
              <a:lnSpc>
                <a:spcPts val="1180"/>
              </a:lnSpc>
              <a:spcBef>
                <a:spcPts val="0"/>
              </a:spcBef>
              <a:spcAft>
                <a:spcPts val="0"/>
              </a:spcAft>
            </a:pPr>
            <a:r>
              <a:rPr sz="1000" b="0">
                <a:solidFill>
                  <a:srgbClr val="BBBBBB"/>
                </a:solidFill>
                <a:latin typeface="Inter"/>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92608"/>
            <a:ext cx="9875520" cy="210312"/>
          </a:xfrm>
          <a:prstGeom prst="rect">
            <a:avLst/>
          </a:prstGeom>
          <a:noFill/>
        </p:spPr>
        <p:txBody>
          <a:bodyPr wrap="none" lIns="0" rIns="0" tIns="0" bIns="0" anchor="t">
            <a:noAutofit/>
          </a:bodyPr>
          <a:lstStyle/>
          <a:p>
            <a:pPr algn="l">
              <a:lnSpc>
                <a:spcPts val="1297"/>
              </a:lnSpc>
              <a:spcBef>
                <a:spcPts val="0"/>
              </a:spcBef>
              <a:spcAft>
                <a:spcPts val="0"/>
              </a:spcAft>
            </a:pPr>
            <a:r>
              <a:rPr sz="1100" b="1">
                <a:solidFill>
                  <a:srgbClr val="1C69D4"/>
                </a:solidFill>
                <a:latin typeface="Inter"/>
              </a:rPr>
              <a:t>BMW PRODUCT INTELLIGENCE | Q&amp;A</a:t>
            </a:r>
          </a:p>
        </p:txBody>
      </p:sp>
      <p:sp>
        <p:nvSpPr>
          <p:cNvPr id="4" name="TextBox 3"/>
          <p:cNvSpPr txBox="1"/>
          <p:nvPr/>
        </p:nvSpPr>
        <p:spPr>
          <a:xfrm>
            <a:off x="612648" y="877824"/>
            <a:ext cx="10991088" cy="1252728"/>
          </a:xfrm>
          <a:prstGeom prst="rect">
            <a:avLst/>
          </a:prstGeom>
          <a:noFill/>
        </p:spPr>
        <p:txBody>
          <a:bodyPr wrap="none" lIns="0" rIns="0" tIns="0" bIns="0" anchor="t">
            <a:noAutofit/>
          </a:bodyPr>
          <a:lstStyle/>
          <a:p>
            <a:pPr algn="l">
              <a:lnSpc>
                <a:spcPts val="4256"/>
              </a:lnSpc>
              <a:spcBef>
                <a:spcPts val="0"/>
              </a:spcBef>
              <a:spcAft>
                <a:spcPts val="0"/>
              </a:spcAft>
            </a:pPr>
            <a:r>
              <a:rPr sz="3800" b="1">
                <a:solidFill>
                  <a:srgbClr val="262626"/>
                </a:solidFill>
                <a:latin typeface="Inter"/>
              </a:rPr>
              <a:t>One evidence layer.</a:t>
            </a:r>
          </a:p>
          <a:p>
            <a:pPr algn="l">
              <a:lnSpc>
                <a:spcPts val="4256"/>
              </a:lnSpc>
              <a:spcBef>
                <a:spcPts val="0"/>
              </a:spcBef>
              <a:spcAft>
                <a:spcPts val="0"/>
              </a:spcAft>
            </a:pPr>
            <a:r>
              <a:rPr sz="3800" b="1">
                <a:solidFill>
                  <a:srgbClr val="262626"/>
                </a:solidFill>
                <a:latin typeface="Inter"/>
              </a:rPr>
              <a:t>A backend the PM can inspect.</a:t>
            </a:r>
          </a:p>
        </p:txBody>
      </p:sp>
      <p:sp>
        <p:nvSpPr>
          <p:cNvPr id="5" name="Rectangle 4"/>
          <p:cNvSpPr/>
          <p:nvPr/>
        </p:nvSpPr>
        <p:spPr>
          <a:xfrm>
            <a:off x="612648" y="2276856"/>
            <a:ext cx="2478024" cy="1252728"/>
          </a:xfrm>
          <a:prstGeom prst="rect">
            <a:avLst/>
          </a:prstGeom>
          <a:solidFill>
            <a:srgbClr val="FFFFFF"/>
          </a:solidFill>
          <a:ln w="1016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2560320"/>
            <a:ext cx="2167128" cy="365760"/>
          </a:xfrm>
          <a:prstGeom prst="rect">
            <a:avLst/>
          </a:prstGeom>
          <a:noFill/>
        </p:spPr>
        <p:txBody>
          <a:bodyPr wrap="none" lIns="0" rIns="0" tIns="0" bIns="0" anchor="t">
            <a:noAutofit/>
          </a:bodyPr>
          <a:lstStyle/>
          <a:p>
            <a:pPr algn="ctr">
              <a:lnSpc>
                <a:spcPts val="2360"/>
              </a:lnSpc>
              <a:spcBef>
                <a:spcPts val="0"/>
              </a:spcBef>
              <a:spcAft>
                <a:spcPts val="0"/>
              </a:spcAft>
            </a:pPr>
            <a:r>
              <a:rPr sz="2000" b="1">
                <a:solidFill>
                  <a:srgbClr val="262626"/>
                </a:solidFill>
                <a:latin typeface="Inter"/>
              </a:rPr>
              <a:t>React</a:t>
            </a:r>
          </a:p>
        </p:txBody>
      </p:sp>
      <p:sp>
        <p:nvSpPr>
          <p:cNvPr id="7" name="TextBox 6"/>
          <p:cNvSpPr txBox="1"/>
          <p:nvPr/>
        </p:nvSpPr>
        <p:spPr>
          <a:xfrm>
            <a:off x="731520" y="3081528"/>
            <a:ext cx="2240280" cy="329184"/>
          </a:xfrm>
          <a:prstGeom prst="rect">
            <a:avLst/>
          </a:prstGeom>
          <a:noFill/>
        </p:spPr>
        <p:txBody>
          <a:bodyPr wrap="none" lIns="0" rIns="0" tIns="0" bIns="0" anchor="t">
            <a:noAutofit/>
          </a:bodyPr>
          <a:lstStyle/>
          <a:p>
            <a:pPr algn="ctr">
              <a:lnSpc>
                <a:spcPts val="1416"/>
              </a:lnSpc>
              <a:spcBef>
                <a:spcPts val="0"/>
              </a:spcBef>
              <a:spcAft>
                <a:spcPts val="0"/>
              </a:spcAft>
            </a:pPr>
            <a:r>
              <a:rPr sz="1200" b="0">
                <a:solidFill>
                  <a:srgbClr val="3C3C3C"/>
                </a:solidFill>
                <a:latin typeface="Inter"/>
              </a:rPr>
              <a:t>Frontend workspace</a:t>
            </a:r>
          </a:p>
        </p:txBody>
      </p:sp>
      <p:cxnSp>
        <p:nvCxnSpPr>
          <p:cNvPr id="8" name="Connector 7"/>
          <p:cNvCxnSpPr/>
          <p:nvPr/>
        </p:nvCxnSpPr>
        <p:spPr>
          <a:xfrm>
            <a:off x="3136391" y="2907792"/>
            <a:ext cx="237745" cy="0"/>
          </a:xfrm>
          <a:prstGeom prst="line">
            <a:avLst/>
          </a:prstGeom>
          <a:ln w="16510">
            <a:solidFill>
              <a:srgbClr val="1C69D4"/>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429000" y="2276856"/>
            <a:ext cx="2478024" cy="1252728"/>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84448" y="2560320"/>
            <a:ext cx="2167128" cy="365760"/>
          </a:xfrm>
          <a:prstGeom prst="rect">
            <a:avLst/>
          </a:prstGeom>
          <a:noFill/>
        </p:spPr>
        <p:txBody>
          <a:bodyPr wrap="none" lIns="0" rIns="0" tIns="0" bIns="0" anchor="t">
            <a:noAutofit/>
          </a:bodyPr>
          <a:lstStyle/>
          <a:p>
            <a:pPr algn="ctr">
              <a:lnSpc>
                <a:spcPts val="2360"/>
              </a:lnSpc>
              <a:spcBef>
                <a:spcPts val="0"/>
              </a:spcBef>
              <a:spcAft>
                <a:spcPts val="0"/>
              </a:spcAft>
            </a:pPr>
            <a:r>
              <a:rPr sz="2000" b="1">
                <a:solidFill>
                  <a:srgbClr val="262626"/>
                </a:solidFill>
                <a:latin typeface="Inter"/>
              </a:rPr>
              <a:t>FastAPI</a:t>
            </a:r>
          </a:p>
        </p:txBody>
      </p:sp>
      <p:sp>
        <p:nvSpPr>
          <p:cNvPr id="11" name="TextBox 10"/>
          <p:cNvSpPr txBox="1"/>
          <p:nvPr/>
        </p:nvSpPr>
        <p:spPr>
          <a:xfrm>
            <a:off x="3547872" y="3081528"/>
            <a:ext cx="2240280" cy="329184"/>
          </a:xfrm>
          <a:prstGeom prst="rect">
            <a:avLst/>
          </a:prstGeom>
          <a:noFill/>
        </p:spPr>
        <p:txBody>
          <a:bodyPr wrap="none" lIns="0" rIns="0" tIns="0" bIns="0" anchor="t">
            <a:noAutofit/>
          </a:bodyPr>
          <a:lstStyle/>
          <a:p>
            <a:pPr algn="ctr">
              <a:lnSpc>
                <a:spcPts val="1416"/>
              </a:lnSpc>
              <a:spcBef>
                <a:spcPts val="0"/>
              </a:spcBef>
              <a:spcAft>
                <a:spcPts val="0"/>
              </a:spcAft>
            </a:pPr>
            <a:r>
              <a:rPr sz="1200" b="0">
                <a:solidFill>
                  <a:srgbClr val="3C3C3C"/>
                </a:solidFill>
                <a:latin typeface="Inter"/>
              </a:rPr>
              <a:t>/api only</a:t>
            </a:r>
          </a:p>
        </p:txBody>
      </p:sp>
      <p:cxnSp>
        <p:nvCxnSpPr>
          <p:cNvPr id="12" name="Connector 11"/>
          <p:cNvCxnSpPr/>
          <p:nvPr/>
        </p:nvCxnSpPr>
        <p:spPr>
          <a:xfrm>
            <a:off x="5952744" y="2907792"/>
            <a:ext cx="237744" cy="0"/>
          </a:xfrm>
          <a:prstGeom prst="line">
            <a:avLst/>
          </a:prstGeom>
          <a:ln w="16510">
            <a:solidFill>
              <a:srgbClr val="1C69D4"/>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6245352" y="2276856"/>
            <a:ext cx="2478024" cy="1252728"/>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560320"/>
            <a:ext cx="2167128" cy="365760"/>
          </a:xfrm>
          <a:prstGeom prst="rect">
            <a:avLst/>
          </a:prstGeom>
          <a:noFill/>
        </p:spPr>
        <p:txBody>
          <a:bodyPr wrap="none" lIns="0" rIns="0" tIns="0" bIns="0" anchor="t">
            <a:noAutofit/>
          </a:bodyPr>
          <a:lstStyle/>
          <a:p>
            <a:pPr algn="ctr">
              <a:lnSpc>
                <a:spcPts val="2360"/>
              </a:lnSpc>
              <a:spcBef>
                <a:spcPts val="0"/>
              </a:spcBef>
              <a:spcAft>
                <a:spcPts val="0"/>
              </a:spcAft>
            </a:pPr>
            <a:r>
              <a:rPr sz="2000" b="1">
                <a:solidFill>
                  <a:srgbClr val="262626"/>
                </a:solidFill>
                <a:latin typeface="Inter"/>
              </a:rPr>
              <a:t>Knowledge layer</a:t>
            </a:r>
          </a:p>
        </p:txBody>
      </p:sp>
      <p:sp>
        <p:nvSpPr>
          <p:cNvPr id="15" name="TextBox 14"/>
          <p:cNvSpPr txBox="1"/>
          <p:nvPr/>
        </p:nvSpPr>
        <p:spPr>
          <a:xfrm>
            <a:off x="6364224" y="3081528"/>
            <a:ext cx="2240280" cy="329184"/>
          </a:xfrm>
          <a:prstGeom prst="rect">
            <a:avLst/>
          </a:prstGeom>
          <a:noFill/>
        </p:spPr>
        <p:txBody>
          <a:bodyPr wrap="none" lIns="0" rIns="0" tIns="0" bIns="0" anchor="t">
            <a:noAutofit/>
          </a:bodyPr>
          <a:lstStyle/>
          <a:p>
            <a:pPr algn="ctr">
              <a:lnSpc>
                <a:spcPts val="1416"/>
              </a:lnSpc>
              <a:spcBef>
                <a:spcPts val="0"/>
              </a:spcBef>
              <a:spcAft>
                <a:spcPts val="0"/>
              </a:spcAft>
            </a:pPr>
            <a:r>
              <a:rPr sz="1200" b="0">
                <a:solidFill>
                  <a:srgbClr val="3C3C3C"/>
                </a:solidFill>
                <a:latin typeface="Inter"/>
              </a:rPr>
              <a:t>Search, lookup, count, cite</a:t>
            </a:r>
          </a:p>
        </p:txBody>
      </p:sp>
      <p:cxnSp>
        <p:nvCxnSpPr>
          <p:cNvPr id="16" name="Connector 15"/>
          <p:cNvCxnSpPr/>
          <p:nvPr/>
        </p:nvCxnSpPr>
        <p:spPr>
          <a:xfrm>
            <a:off x="8769096" y="2907792"/>
            <a:ext cx="237744" cy="0"/>
          </a:xfrm>
          <a:prstGeom prst="line">
            <a:avLst/>
          </a:prstGeom>
          <a:ln w="16510">
            <a:solidFill>
              <a:srgbClr val="1C69D4"/>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9061704" y="2276856"/>
            <a:ext cx="2478024" cy="1252728"/>
          </a:xfrm>
          <a:prstGeom prst="rect">
            <a:avLst/>
          </a:prstGeom>
          <a:solidFill>
            <a:srgbClr val="1C6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17152" y="2560320"/>
            <a:ext cx="2167128" cy="365760"/>
          </a:xfrm>
          <a:prstGeom prst="rect">
            <a:avLst/>
          </a:prstGeom>
          <a:noFill/>
        </p:spPr>
        <p:txBody>
          <a:bodyPr wrap="none" lIns="0" rIns="0" tIns="0" bIns="0" anchor="t">
            <a:noAutofit/>
          </a:bodyPr>
          <a:lstStyle/>
          <a:p>
            <a:pPr algn="ctr">
              <a:lnSpc>
                <a:spcPts val="2360"/>
              </a:lnSpc>
              <a:spcBef>
                <a:spcPts val="0"/>
              </a:spcBef>
              <a:spcAft>
                <a:spcPts val="0"/>
              </a:spcAft>
            </a:pPr>
            <a:r>
              <a:rPr sz="2000" b="1">
                <a:solidFill>
                  <a:srgbClr val="FFFFFF"/>
                </a:solidFill>
                <a:latin typeface="Inter"/>
              </a:rPr>
              <a:t>Supabase</a:t>
            </a:r>
          </a:p>
        </p:txBody>
      </p:sp>
      <p:sp>
        <p:nvSpPr>
          <p:cNvPr id="19" name="TextBox 18"/>
          <p:cNvSpPr txBox="1"/>
          <p:nvPr/>
        </p:nvSpPr>
        <p:spPr>
          <a:xfrm>
            <a:off x="9180576" y="3081528"/>
            <a:ext cx="2240280" cy="329184"/>
          </a:xfrm>
          <a:prstGeom prst="rect">
            <a:avLst/>
          </a:prstGeom>
          <a:noFill/>
        </p:spPr>
        <p:txBody>
          <a:bodyPr wrap="none" lIns="0" rIns="0" tIns="0" bIns="0" anchor="t">
            <a:noAutofit/>
          </a:bodyPr>
          <a:lstStyle/>
          <a:p>
            <a:pPr algn="ctr">
              <a:lnSpc>
                <a:spcPts val="1416"/>
              </a:lnSpc>
              <a:spcBef>
                <a:spcPts val="0"/>
              </a:spcBef>
              <a:spcAft>
                <a:spcPts val="0"/>
              </a:spcAft>
            </a:pPr>
            <a:r>
              <a:rPr sz="1200" b="0">
                <a:solidFill>
                  <a:srgbClr val="FFFFFF"/>
                </a:solidFill>
                <a:latin typeface="Inter"/>
              </a:rPr>
              <a:t>Postgres + pgvector</a:t>
            </a:r>
          </a:p>
        </p:txBody>
      </p:sp>
      <p:cxnSp>
        <p:nvCxnSpPr>
          <p:cNvPr id="20" name="Connector 19"/>
          <p:cNvCxnSpPr/>
          <p:nvPr/>
        </p:nvCxnSpPr>
        <p:spPr>
          <a:xfrm>
            <a:off x="7479792" y="3593592"/>
            <a:ext cx="0" cy="457199"/>
          </a:xfrm>
          <a:prstGeom prst="line">
            <a:avLst/>
          </a:prstGeom>
          <a:ln w="12700">
            <a:solidFill>
              <a:srgbClr val="1C69D4"/>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245352" y="4114800"/>
            <a:ext cx="5294376" cy="612648"/>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4297680"/>
            <a:ext cx="4919472" cy="301752"/>
          </a:xfrm>
          <a:prstGeom prst="rect">
            <a:avLst/>
          </a:prstGeom>
          <a:noFill/>
        </p:spPr>
        <p:txBody>
          <a:bodyPr wrap="none" lIns="0" rIns="0" tIns="0" bIns="0" anchor="t">
            <a:noAutofit/>
          </a:bodyPr>
          <a:lstStyle/>
          <a:p>
            <a:pPr algn="l">
              <a:lnSpc>
                <a:spcPts val="2005"/>
              </a:lnSpc>
              <a:spcBef>
                <a:spcPts val="0"/>
              </a:spcBef>
              <a:spcAft>
                <a:spcPts val="0"/>
              </a:spcAft>
            </a:pPr>
            <a:r>
              <a:rPr sz="1700" b="0">
                <a:solidFill>
                  <a:srgbClr val="262626"/>
                </a:solidFill>
                <a:latin typeface="Inter Light"/>
              </a:rPr>
              <a:t>OpenAI: embeddings, planning, agent drafts</a:t>
            </a:r>
          </a:p>
        </p:txBody>
      </p:sp>
      <p:sp>
        <p:nvSpPr>
          <p:cNvPr id="23" name="TextBox 22"/>
          <p:cNvSpPr txBox="1"/>
          <p:nvPr/>
        </p:nvSpPr>
        <p:spPr>
          <a:xfrm>
            <a:off x="612648" y="4142232"/>
            <a:ext cx="4965192" cy="1280160"/>
          </a:xfrm>
          <a:prstGeom prst="rect">
            <a:avLst/>
          </a:prstGeom>
          <a:noFill/>
        </p:spPr>
        <p:txBody>
          <a:bodyPr wrap="none" lIns="0" rIns="0" tIns="0" bIns="0" anchor="t">
            <a:noAutofit/>
          </a:bodyPr>
          <a:lstStyle/>
          <a:p>
            <a:pPr algn="l">
              <a:lnSpc>
                <a:spcPts val="2772"/>
              </a:lnSpc>
              <a:spcBef>
                <a:spcPts val="0"/>
              </a:spcBef>
              <a:spcAft>
                <a:spcPts val="0"/>
              </a:spcAft>
            </a:pPr>
            <a:r>
              <a:rPr sz="2100" b="0">
                <a:solidFill>
                  <a:srgbClr val="3C3C3C"/>
                </a:solidFill>
                <a:latin typeface="Inter Light"/>
              </a:rPr>
              <a:t>Tables: exact rows and counts.</a:t>
            </a:r>
          </a:p>
          <a:p>
            <a:pPr algn="l">
              <a:lnSpc>
                <a:spcPts val="2772"/>
              </a:lnSpc>
              <a:spcBef>
                <a:spcPts val="0"/>
              </a:spcBef>
              <a:spcAft>
                <a:spcPts val="0"/>
              </a:spcAft>
            </a:pPr>
            <a:r>
              <a:rPr sz="2100" b="0">
                <a:solidFill>
                  <a:srgbClr val="3C3C3C"/>
                </a:solidFill>
                <a:latin typeface="Inter Light"/>
              </a:rPr>
              <a:t>Narrative text: hybrid search.</a:t>
            </a:r>
          </a:p>
          <a:p>
            <a:pPr algn="l">
              <a:lnSpc>
                <a:spcPts val="2772"/>
              </a:lnSpc>
              <a:spcBef>
                <a:spcPts val="0"/>
              </a:spcBef>
              <a:spcAft>
                <a:spcPts val="0"/>
              </a:spcAft>
            </a:pPr>
            <a:r>
              <a:rPr sz="2100" b="0">
                <a:solidFill>
                  <a:srgbClr val="3C3C3C"/>
                </a:solidFill>
                <a:latin typeface="Inter Light"/>
              </a:rPr>
              <a:t>Every retrieval hit keeps its citation.</a:t>
            </a:r>
          </a:p>
        </p:txBody>
      </p:sp>
      <p:sp>
        <p:nvSpPr>
          <p:cNvPr id="24" name="Rectangle 23"/>
          <p:cNvSpPr/>
          <p:nvPr/>
        </p:nvSpPr>
        <p:spPr>
          <a:xfrm>
            <a:off x="612648" y="5806440"/>
            <a:ext cx="10991088" cy="4572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 y="5916168"/>
            <a:ext cx="10515600" cy="256032"/>
          </a:xfrm>
          <a:prstGeom prst="rect">
            <a:avLst/>
          </a:prstGeom>
          <a:noFill/>
        </p:spPr>
        <p:txBody>
          <a:bodyPr wrap="none" lIns="0" rIns="0" tIns="0" bIns="0" anchor="t">
            <a:noAutofit/>
          </a:bodyPr>
          <a:lstStyle/>
          <a:p>
            <a:pPr algn="l">
              <a:lnSpc>
                <a:spcPts val="1770"/>
              </a:lnSpc>
              <a:spcBef>
                <a:spcPts val="0"/>
              </a:spcBef>
              <a:spcAft>
                <a:spcPts val="0"/>
              </a:spcAft>
            </a:pPr>
            <a:r>
              <a:rPr sz="1500" b="0">
                <a:solidFill>
                  <a:srgbClr val="3C3C3C"/>
                </a:solidFill>
                <a:latin typeface="Inter"/>
              </a:rPr>
              <a:t>Runner + Critic implemented. Next: frontend wiring, backlog writes and recovery.</a:t>
            </a:r>
          </a:p>
        </p:txBody>
      </p:sp>
      <p:sp>
        <p:nvSpPr>
          <p:cNvPr id="26" name="TextBox 25"/>
          <p:cNvSpPr txBox="1"/>
          <p:nvPr/>
        </p:nvSpPr>
        <p:spPr>
          <a:xfrm>
            <a:off x="612648" y="6492240"/>
            <a:ext cx="9921240" cy="182880"/>
          </a:xfrm>
          <a:prstGeom prst="rect">
            <a:avLst/>
          </a:prstGeom>
          <a:noFill/>
        </p:spPr>
        <p:txBody>
          <a:bodyPr wrap="none" lIns="0" rIns="0" tIns="0" bIns="0" anchor="t">
            <a:noAutofit/>
          </a:bodyPr>
          <a:lstStyle/>
          <a:p>
            <a:pPr algn="l">
              <a:lnSpc>
                <a:spcPts val="1180"/>
              </a:lnSpc>
              <a:spcBef>
                <a:spcPts val="0"/>
              </a:spcBef>
              <a:spcAft>
                <a:spcPts val="0"/>
              </a:spcAft>
            </a:pPr>
            <a:r>
              <a:rPr sz="1000" b="0">
                <a:solidFill>
                  <a:srgbClr val="6B6B6B"/>
                </a:solidFill>
                <a:latin typeface="Inter"/>
              </a:rPr>
              <a:t>Requirement Evidence Engine | Backup slide</a:t>
            </a:r>
          </a:p>
        </p:txBody>
      </p:sp>
      <p:sp>
        <p:nvSpPr>
          <p:cNvPr id="27" name="TextBox 26"/>
          <p:cNvSpPr txBox="1"/>
          <p:nvPr/>
        </p:nvSpPr>
        <p:spPr>
          <a:xfrm>
            <a:off x="10881360" y="6492240"/>
            <a:ext cx="685800" cy="182880"/>
          </a:xfrm>
          <a:prstGeom prst="rect">
            <a:avLst/>
          </a:prstGeom>
          <a:noFill/>
        </p:spPr>
        <p:txBody>
          <a:bodyPr wrap="none" lIns="0" rIns="0" tIns="0" bIns="0" anchor="t">
            <a:noAutofit/>
          </a:bodyPr>
          <a:lstStyle/>
          <a:p>
            <a:pPr algn="r">
              <a:lnSpc>
                <a:spcPts val="1180"/>
              </a:lnSpc>
              <a:spcBef>
                <a:spcPts val="0"/>
              </a:spcBef>
              <a:spcAft>
                <a:spcPts val="0"/>
              </a:spcAft>
            </a:pPr>
            <a:r>
              <a:rPr sz="1000" b="0">
                <a:solidFill>
                  <a:srgbClr val="6B6B6B"/>
                </a:solidFill>
                <a:latin typeface="Inter"/>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92608"/>
            <a:ext cx="9875520" cy="210312"/>
          </a:xfrm>
          <a:prstGeom prst="rect">
            <a:avLst/>
          </a:prstGeom>
          <a:noFill/>
        </p:spPr>
        <p:txBody>
          <a:bodyPr wrap="none" lIns="0" rIns="0" tIns="0" bIns="0" anchor="t">
            <a:noAutofit/>
          </a:bodyPr>
          <a:lstStyle/>
          <a:p>
            <a:pPr algn="l">
              <a:lnSpc>
                <a:spcPts val="1297"/>
              </a:lnSpc>
              <a:spcBef>
                <a:spcPts val="0"/>
              </a:spcBef>
              <a:spcAft>
                <a:spcPts val="0"/>
              </a:spcAft>
            </a:pPr>
            <a:r>
              <a:rPr sz="1100" b="1">
                <a:solidFill>
                  <a:srgbClr val="1C69D4"/>
                </a:solidFill>
                <a:latin typeface="Inter"/>
              </a:rPr>
              <a:t>BMW PRODUCT INTELLIGENCE | Q&amp;A</a:t>
            </a:r>
          </a:p>
        </p:txBody>
      </p:sp>
      <p:sp>
        <p:nvSpPr>
          <p:cNvPr id="4" name="TextBox 3"/>
          <p:cNvSpPr txBox="1"/>
          <p:nvPr/>
        </p:nvSpPr>
        <p:spPr>
          <a:xfrm>
            <a:off x="612648" y="877824"/>
            <a:ext cx="10991088" cy="1252728"/>
          </a:xfrm>
          <a:prstGeom prst="rect">
            <a:avLst/>
          </a:prstGeom>
          <a:noFill/>
        </p:spPr>
        <p:txBody>
          <a:bodyPr wrap="none" lIns="0" rIns="0" tIns="0" bIns="0" anchor="t">
            <a:noAutofit/>
          </a:bodyPr>
          <a:lstStyle/>
          <a:p>
            <a:pPr algn="l">
              <a:lnSpc>
                <a:spcPts val="4256"/>
              </a:lnSpc>
              <a:spcBef>
                <a:spcPts val="0"/>
              </a:spcBef>
              <a:spcAft>
                <a:spcPts val="0"/>
              </a:spcAft>
            </a:pPr>
            <a:r>
              <a:rPr sz="3800" b="1">
                <a:solidFill>
                  <a:srgbClr val="262626"/>
                </a:solidFill>
                <a:latin typeface="Inter"/>
              </a:rPr>
              <a:t>Evidence is uneven.</a:t>
            </a:r>
          </a:p>
          <a:p>
            <a:pPr algn="l">
              <a:lnSpc>
                <a:spcPts val="4256"/>
              </a:lnSpc>
              <a:spcBef>
                <a:spcPts val="0"/>
              </a:spcBef>
              <a:spcAft>
                <a:spcPts val="0"/>
              </a:spcAft>
            </a:pPr>
            <a:r>
              <a:rPr sz="3800" b="1">
                <a:solidFill>
                  <a:srgbClr val="262626"/>
                </a:solidFill>
                <a:latin typeface="Inter"/>
              </a:rPr>
              <a:t>We show the gaps.</a:t>
            </a:r>
          </a:p>
        </p:txBody>
      </p:sp>
      <p:sp>
        <p:nvSpPr>
          <p:cNvPr id="5" name="TextBox 4"/>
          <p:cNvSpPr txBox="1"/>
          <p:nvPr/>
        </p:nvSpPr>
        <p:spPr>
          <a:xfrm>
            <a:off x="612648" y="2340864"/>
            <a:ext cx="2514600" cy="365760"/>
          </a:xfrm>
          <a:prstGeom prst="rect">
            <a:avLst/>
          </a:prstGeom>
          <a:noFill/>
        </p:spPr>
        <p:txBody>
          <a:bodyPr wrap="none" lIns="0" rIns="0" tIns="0" bIns="0" anchor="t">
            <a:noAutofit/>
          </a:bodyPr>
          <a:lstStyle/>
          <a:p>
            <a:pPr algn="l">
              <a:lnSpc>
                <a:spcPts val="2477"/>
              </a:lnSpc>
              <a:spcBef>
                <a:spcPts val="0"/>
              </a:spcBef>
              <a:spcAft>
                <a:spcPts val="0"/>
              </a:spcAft>
            </a:pPr>
            <a:r>
              <a:rPr sz="2100" b="0">
                <a:solidFill>
                  <a:srgbClr val="262626"/>
                </a:solidFill>
                <a:latin typeface="Inter Light"/>
              </a:rPr>
              <a:t>United States</a:t>
            </a:r>
          </a:p>
        </p:txBody>
      </p:sp>
      <p:sp>
        <p:nvSpPr>
          <p:cNvPr id="6" name="Rectangle 5"/>
          <p:cNvSpPr/>
          <p:nvPr/>
        </p:nvSpPr>
        <p:spPr>
          <a:xfrm>
            <a:off x="3337560" y="2386584"/>
            <a:ext cx="4983480" cy="292608"/>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337560" y="2386584"/>
            <a:ext cx="4983480" cy="292608"/>
          </a:xfrm>
          <a:prstGeom prst="rect">
            <a:avLst/>
          </a:prstGeom>
          <a:solidFill>
            <a:srgbClr val="1C6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0" y="2304288"/>
            <a:ext cx="2542032" cy="402336"/>
          </a:xfrm>
          <a:prstGeom prst="rect">
            <a:avLst/>
          </a:prstGeom>
          <a:noFill/>
        </p:spPr>
        <p:txBody>
          <a:bodyPr wrap="none" lIns="0" rIns="0" tIns="0" bIns="0" anchor="t">
            <a:noAutofit/>
          </a:bodyPr>
          <a:lstStyle/>
          <a:p>
            <a:pPr algn="r">
              <a:lnSpc>
                <a:spcPts val="2950"/>
              </a:lnSpc>
              <a:spcBef>
                <a:spcPts val="0"/>
              </a:spcBef>
              <a:spcAft>
                <a:spcPts val="0"/>
              </a:spcAft>
            </a:pPr>
            <a:r>
              <a:rPr sz="2500" b="1">
                <a:solidFill>
                  <a:srgbClr val="1C69D4"/>
                </a:solidFill>
                <a:latin typeface="Inter"/>
              </a:rPr>
              <a:t>8,783</a:t>
            </a:r>
          </a:p>
        </p:txBody>
      </p:sp>
      <p:sp>
        <p:nvSpPr>
          <p:cNvPr id="9" name="TextBox 8"/>
          <p:cNvSpPr txBox="1"/>
          <p:nvPr/>
        </p:nvSpPr>
        <p:spPr>
          <a:xfrm>
            <a:off x="612648" y="3063240"/>
            <a:ext cx="2514600" cy="365760"/>
          </a:xfrm>
          <a:prstGeom prst="rect">
            <a:avLst/>
          </a:prstGeom>
          <a:noFill/>
        </p:spPr>
        <p:txBody>
          <a:bodyPr wrap="none" lIns="0" rIns="0" tIns="0" bIns="0" anchor="t">
            <a:noAutofit/>
          </a:bodyPr>
          <a:lstStyle/>
          <a:p>
            <a:pPr algn="l">
              <a:lnSpc>
                <a:spcPts val="2477"/>
              </a:lnSpc>
              <a:spcBef>
                <a:spcPts val="0"/>
              </a:spcBef>
              <a:spcAft>
                <a:spcPts val="0"/>
              </a:spcAft>
            </a:pPr>
            <a:r>
              <a:rPr sz="2100" b="0">
                <a:solidFill>
                  <a:srgbClr val="262626"/>
                </a:solidFill>
                <a:latin typeface="Inter Light"/>
              </a:rPr>
              <a:t>Europe</a:t>
            </a:r>
          </a:p>
        </p:txBody>
      </p:sp>
      <p:sp>
        <p:nvSpPr>
          <p:cNvPr id="10" name="Rectangle 9"/>
          <p:cNvSpPr/>
          <p:nvPr/>
        </p:nvSpPr>
        <p:spPr>
          <a:xfrm>
            <a:off x="3337560" y="3108960"/>
            <a:ext cx="4983480" cy="292608"/>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37560" y="3108960"/>
            <a:ext cx="1867882" cy="292608"/>
          </a:xfrm>
          <a:prstGeom prst="rect">
            <a:avLst/>
          </a:prstGeom>
          <a:solidFill>
            <a:srgbClr val="1C6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3026664"/>
            <a:ext cx="2542032" cy="402336"/>
          </a:xfrm>
          <a:prstGeom prst="rect">
            <a:avLst/>
          </a:prstGeom>
          <a:noFill/>
        </p:spPr>
        <p:txBody>
          <a:bodyPr wrap="none" lIns="0" rIns="0" tIns="0" bIns="0" anchor="t">
            <a:noAutofit/>
          </a:bodyPr>
          <a:lstStyle/>
          <a:p>
            <a:pPr algn="r">
              <a:lnSpc>
                <a:spcPts val="2950"/>
              </a:lnSpc>
              <a:spcBef>
                <a:spcPts val="0"/>
              </a:spcBef>
              <a:spcAft>
                <a:spcPts val="0"/>
              </a:spcAft>
            </a:pPr>
            <a:r>
              <a:rPr sz="2500" b="1">
                <a:solidFill>
                  <a:srgbClr val="1C69D4"/>
                </a:solidFill>
                <a:latin typeface="Inter"/>
              </a:rPr>
              <a:t>3,292</a:t>
            </a:r>
          </a:p>
        </p:txBody>
      </p:sp>
      <p:sp>
        <p:nvSpPr>
          <p:cNvPr id="13" name="TextBox 12"/>
          <p:cNvSpPr txBox="1"/>
          <p:nvPr/>
        </p:nvSpPr>
        <p:spPr>
          <a:xfrm>
            <a:off x="612648" y="3785616"/>
            <a:ext cx="2514600" cy="365760"/>
          </a:xfrm>
          <a:prstGeom prst="rect">
            <a:avLst/>
          </a:prstGeom>
          <a:noFill/>
        </p:spPr>
        <p:txBody>
          <a:bodyPr wrap="none" lIns="0" rIns="0" tIns="0" bIns="0" anchor="t">
            <a:noAutofit/>
          </a:bodyPr>
          <a:lstStyle/>
          <a:p>
            <a:pPr algn="l">
              <a:lnSpc>
                <a:spcPts val="2477"/>
              </a:lnSpc>
              <a:spcBef>
                <a:spcPts val="0"/>
              </a:spcBef>
              <a:spcAft>
                <a:spcPts val="0"/>
              </a:spcAft>
            </a:pPr>
            <a:r>
              <a:rPr sz="2100" b="0">
                <a:solidFill>
                  <a:srgbClr val="262626"/>
                </a:solidFill>
                <a:latin typeface="Inter Light"/>
              </a:rPr>
              <a:t>Rest of world</a:t>
            </a:r>
          </a:p>
        </p:txBody>
      </p:sp>
      <p:sp>
        <p:nvSpPr>
          <p:cNvPr id="14" name="Rectangle 13"/>
          <p:cNvSpPr/>
          <p:nvPr/>
        </p:nvSpPr>
        <p:spPr>
          <a:xfrm>
            <a:off x="3337560" y="3831336"/>
            <a:ext cx="4983480" cy="292608"/>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7560" y="3831336"/>
            <a:ext cx="962311" cy="292608"/>
          </a:xfrm>
          <a:prstGeom prst="rect">
            <a:avLst/>
          </a:prstGeom>
          <a:solidFill>
            <a:srgbClr val="1C69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0" y="3749040"/>
            <a:ext cx="2542032" cy="402336"/>
          </a:xfrm>
          <a:prstGeom prst="rect">
            <a:avLst/>
          </a:prstGeom>
          <a:noFill/>
        </p:spPr>
        <p:txBody>
          <a:bodyPr wrap="none" lIns="0" rIns="0" tIns="0" bIns="0" anchor="t">
            <a:noAutofit/>
          </a:bodyPr>
          <a:lstStyle/>
          <a:p>
            <a:pPr algn="r">
              <a:lnSpc>
                <a:spcPts val="2950"/>
              </a:lnSpc>
              <a:spcBef>
                <a:spcPts val="0"/>
              </a:spcBef>
              <a:spcAft>
                <a:spcPts val="0"/>
              </a:spcAft>
            </a:pPr>
            <a:r>
              <a:rPr sz="2500" b="1">
                <a:solidFill>
                  <a:srgbClr val="1C69D4"/>
                </a:solidFill>
                <a:latin typeface="Inter"/>
              </a:rPr>
              <a:t>1,696</a:t>
            </a:r>
          </a:p>
        </p:txBody>
      </p:sp>
      <p:sp>
        <p:nvSpPr>
          <p:cNvPr id="17" name="TextBox 16"/>
          <p:cNvSpPr txBox="1"/>
          <p:nvPr/>
        </p:nvSpPr>
        <p:spPr>
          <a:xfrm>
            <a:off x="612648" y="4507992"/>
            <a:ext cx="2514600" cy="365760"/>
          </a:xfrm>
          <a:prstGeom prst="rect">
            <a:avLst/>
          </a:prstGeom>
          <a:noFill/>
        </p:spPr>
        <p:txBody>
          <a:bodyPr wrap="none" lIns="0" rIns="0" tIns="0" bIns="0" anchor="t">
            <a:noAutofit/>
          </a:bodyPr>
          <a:lstStyle/>
          <a:p>
            <a:pPr algn="l">
              <a:lnSpc>
                <a:spcPts val="2477"/>
              </a:lnSpc>
              <a:spcBef>
                <a:spcPts val="0"/>
              </a:spcBef>
              <a:spcAft>
                <a:spcPts val="0"/>
              </a:spcAft>
            </a:pPr>
            <a:r>
              <a:rPr sz="2100" b="0">
                <a:solidFill>
                  <a:srgbClr val="262626"/>
                </a:solidFill>
                <a:latin typeface="Inter Light"/>
              </a:rPr>
              <a:t>China</a:t>
            </a:r>
          </a:p>
        </p:txBody>
      </p:sp>
      <p:sp>
        <p:nvSpPr>
          <p:cNvPr id="18" name="Rectangle 17"/>
          <p:cNvSpPr/>
          <p:nvPr/>
        </p:nvSpPr>
        <p:spPr>
          <a:xfrm>
            <a:off x="3337560" y="4553712"/>
            <a:ext cx="4983480" cy="292608"/>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4471416"/>
            <a:ext cx="2542032" cy="402336"/>
          </a:xfrm>
          <a:prstGeom prst="rect">
            <a:avLst/>
          </a:prstGeom>
          <a:noFill/>
        </p:spPr>
        <p:txBody>
          <a:bodyPr wrap="none" lIns="0" rIns="0" tIns="0" bIns="0" anchor="t">
            <a:noAutofit/>
          </a:bodyPr>
          <a:lstStyle/>
          <a:p>
            <a:pPr algn="r">
              <a:lnSpc>
                <a:spcPts val="2950"/>
              </a:lnSpc>
              <a:spcBef>
                <a:spcPts val="0"/>
              </a:spcBef>
              <a:spcAft>
                <a:spcPts val="0"/>
              </a:spcAft>
            </a:pPr>
            <a:r>
              <a:rPr sz="2500" b="1">
                <a:solidFill>
                  <a:srgbClr val="1C69D4"/>
                </a:solidFill>
                <a:latin typeface="Inter"/>
              </a:rPr>
              <a:t>0</a:t>
            </a:r>
          </a:p>
        </p:txBody>
      </p:sp>
      <p:sp>
        <p:nvSpPr>
          <p:cNvPr id="20" name="TextBox 19"/>
          <p:cNvSpPr txBox="1"/>
          <p:nvPr/>
        </p:nvSpPr>
        <p:spPr>
          <a:xfrm>
            <a:off x="612648" y="5468112"/>
            <a:ext cx="10981944" cy="320040"/>
          </a:xfrm>
          <a:prstGeom prst="rect">
            <a:avLst/>
          </a:prstGeom>
          <a:noFill/>
        </p:spPr>
        <p:txBody>
          <a:bodyPr wrap="none" lIns="0" rIns="0" tIns="0" bIns="0" anchor="t">
            <a:noAutofit/>
          </a:bodyPr>
          <a:lstStyle/>
          <a:p>
            <a:pPr algn="l">
              <a:lnSpc>
                <a:spcPts val="2005"/>
              </a:lnSpc>
              <a:spcBef>
                <a:spcPts val="0"/>
              </a:spcBef>
              <a:spcAft>
                <a:spcPts val="0"/>
              </a:spcAft>
            </a:pPr>
            <a:r>
              <a:rPr sz="1700" b="0">
                <a:solidFill>
                  <a:srgbClr val="3C3C3C"/>
                </a:solidFill>
                <a:latin typeface="Inter Light"/>
              </a:rPr>
              <a:t>Customer-feedback comments. China still has customer studies and sales data.</a:t>
            </a:r>
          </a:p>
        </p:txBody>
      </p:sp>
      <p:sp>
        <p:nvSpPr>
          <p:cNvPr id="21" name="Rectangle 20"/>
          <p:cNvSpPr/>
          <p:nvPr/>
        </p:nvSpPr>
        <p:spPr>
          <a:xfrm>
            <a:off x="612648" y="5943600"/>
            <a:ext cx="10991088" cy="338328"/>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6025896"/>
            <a:ext cx="10552176" cy="219456"/>
          </a:xfrm>
          <a:prstGeom prst="rect">
            <a:avLst/>
          </a:prstGeom>
          <a:noFill/>
        </p:spPr>
        <p:txBody>
          <a:bodyPr wrap="none" lIns="0" rIns="0" tIns="0" bIns="0" anchor="t">
            <a:noAutofit/>
          </a:bodyPr>
          <a:lstStyle/>
          <a:p>
            <a:pPr algn="l">
              <a:lnSpc>
                <a:spcPts val="1534"/>
              </a:lnSpc>
              <a:spcBef>
                <a:spcPts val="0"/>
              </a:spcBef>
              <a:spcAft>
                <a:spcPts val="0"/>
              </a:spcAft>
            </a:pPr>
            <a:r>
              <a:rPr sz="1300" b="0">
                <a:solidFill>
                  <a:srgbClr val="3C3C3C"/>
                </a:solidFill>
                <a:latin typeface="Inter"/>
              </a:rPr>
              <a:t>Study cells are not respondents. Sales forecasts are not observed outcomes.</a:t>
            </a:r>
          </a:p>
        </p:txBody>
      </p:sp>
      <p:sp>
        <p:nvSpPr>
          <p:cNvPr id="23" name="TextBox 22"/>
          <p:cNvSpPr txBox="1"/>
          <p:nvPr/>
        </p:nvSpPr>
        <p:spPr>
          <a:xfrm>
            <a:off x="612648" y="6492240"/>
            <a:ext cx="9921240" cy="182880"/>
          </a:xfrm>
          <a:prstGeom prst="rect">
            <a:avLst/>
          </a:prstGeom>
          <a:noFill/>
        </p:spPr>
        <p:txBody>
          <a:bodyPr wrap="none" lIns="0" rIns="0" tIns="0" bIns="0" anchor="t">
            <a:noAutofit/>
          </a:bodyPr>
          <a:lstStyle/>
          <a:p>
            <a:pPr algn="l">
              <a:lnSpc>
                <a:spcPts val="1180"/>
              </a:lnSpc>
              <a:spcBef>
                <a:spcPts val="0"/>
              </a:spcBef>
              <a:spcAft>
                <a:spcPts val="0"/>
              </a:spcAft>
            </a:pPr>
            <a:r>
              <a:rPr sz="1000" b="0">
                <a:solidFill>
                  <a:srgbClr val="6B6B6B"/>
                </a:solidFill>
                <a:latin typeface="Inter"/>
              </a:rPr>
              <a:t>Requirement Evidence Engine | Backup slide</a:t>
            </a:r>
          </a:p>
        </p:txBody>
      </p:sp>
      <p:sp>
        <p:nvSpPr>
          <p:cNvPr id="24" name="TextBox 23"/>
          <p:cNvSpPr txBox="1"/>
          <p:nvPr/>
        </p:nvSpPr>
        <p:spPr>
          <a:xfrm>
            <a:off x="10881360" y="6492240"/>
            <a:ext cx="685800" cy="182880"/>
          </a:xfrm>
          <a:prstGeom prst="rect">
            <a:avLst/>
          </a:prstGeom>
          <a:noFill/>
        </p:spPr>
        <p:txBody>
          <a:bodyPr wrap="none" lIns="0" rIns="0" tIns="0" bIns="0" anchor="t">
            <a:noAutofit/>
          </a:bodyPr>
          <a:lstStyle/>
          <a:p>
            <a:pPr algn="r">
              <a:lnSpc>
                <a:spcPts val="1180"/>
              </a:lnSpc>
              <a:spcBef>
                <a:spcPts val="0"/>
              </a:spcBef>
              <a:spcAft>
                <a:spcPts val="0"/>
              </a:spcAft>
            </a:pPr>
            <a:r>
              <a:rPr sz="1000" b="0">
                <a:solidFill>
                  <a:srgbClr val="6B6B6B"/>
                </a:solidFill>
                <a:latin typeface="Inter"/>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92608"/>
            <a:ext cx="9875520" cy="210312"/>
          </a:xfrm>
          <a:prstGeom prst="rect">
            <a:avLst/>
          </a:prstGeom>
          <a:noFill/>
        </p:spPr>
        <p:txBody>
          <a:bodyPr wrap="none" lIns="0" rIns="0" tIns="0" bIns="0" anchor="t">
            <a:noAutofit/>
          </a:bodyPr>
          <a:lstStyle/>
          <a:p>
            <a:pPr algn="l">
              <a:lnSpc>
                <a:spcPts val="1297"/>
              </a:lnSpc>
              <a:spcBef>
                <a:spcPts val="0"/>
              </a:spcBef>
              <a:spcAft>
                <a:spcPts val="0"/>
              </a:spcAft>
            </a:pPr>
            <a:r>
              <a:rPr sz="1100" b="1">
                <a:solidFill>
                  <a:srgbClr val="1C69D4"/>
                </a:solidFill>
                <a:latin typeface="Inter"/>
              </a:rPr>
              <a:t>BMW PRODUCT INTELLIGENCE | Q&amp;A</a:t>
            </a:r>
          </a:p>
        </p:txBody>
      </p:sp>
      <p:sp>
        <p:nvSpPr>
          <p:cNvPr id="4" name="TextBox 3"/>
          <p:cNvSpPr txBox="1"/>
          <p:nvPr/>
        </p:nvSpPr>
        <p:spPr>
          <a:xfrm>
            <a:off x="612648" y="877824"/>
            <a:ext cx="10991088" cy="1252728"/>
          </a:xfrm>
          <a:prstGeom prst="rect">
            <a:avLst/>
          </a:prstGeom>
          <a:noFill/>
        </p:spPr>
        <p:txBody>
          <a:bodyPr wrap="none" lIns="0" rIns="0" tIns="0" bIns="0" anchor="t">
            <a:noAutofit/>
          </a:bodyPr>
          <a:lstStyle/>
          <a:p>
            <a:pPr algn="l">
              <a:lnSpc>
                <a:spcPts val="4256"/>
              </a:lnSpc>
              <a:spcBef>
                <a:spcPts val="0"/>
              </a:spcBef>
              <a:spcAft>
                <a:spcPts val="0"/>
              </a:spcAft>
            </a:pPr>
            <a:r>
              <a:rPr sz="3800" b="1">
                <a:solidFill>
                  <a:srgbClr val="262626"/>
                </a:solidFill>
                <a:latin typeface="Inter"/>
              </a:rPr>
              <a:t>What works today.</a:t>
            </a:r>
          </a:p>
          <a:p>
            <a:pPr algn="l">
              <a:lnSpc>
                <a:spcPts val="4256"/>
              </a:lnSpc>
              <a:spcBef>
                <a:spcPts val="0"/>
              </a:spcBef>
              <a:spcAft>
                <a:spcPts val="0"/>
              </a:spcAft>
            </a:pPr>
            <a:r>
              <a:rPr sz="3800" b="1">
                <a:solidFill>
                  <a:srgbClr val="262626"/>
                </a:solidFill>
                <a:latin typeface="Inter"/>
              </a:rPr>
              <a:t>What comes next.</a:t>
            </a:r>
          </a:p>
        </p:txBody>
      </p:sp>
      <p:sp>
        <p:nvSpPr>
          <p:cNvPr id="5" name="Rectangle 4"/>
          <p:cNvSpPr/>
          <p:nvPr/>
        </p:nvSpPr>
        <p:spPr>
          <a:xfrm>
            <a:off x="612648" y="2231136"/>
            <a:ext cx="10991088" cy="438912"/>
          </a:xfrm>
          <a:prstGeom prst="rect">
            <a:avLst/>
          </a:prstGeom>
          <a:solidFill>
            <a:srgbClr val="1A2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350008"/>
            <a:ext cx="3749039" cy="219456"/>
          </a:xfrm>
          <a:prstGeom prst="rect">
            <a:avLst/>
          </a:prstGeom>
          <a:noFill/>
        </p:spPr>
        <p:txBody>
          <a:bodyPr wrap="none" lIns="0" rIns="0" tIns="0" bIns="0" anchor="t">
            <a:noAutofit/>
          </a:bodyPr>
          <a:lstStyle/>
          <a:p>
            <a:pPr algn="l">
              <a:lnSpc>
                <a:spcPts val="1416"/>
              </a:lnSpc>
              <a:spcBef>
                <a:spcPts val="0"/>
              </a:spcBef>
              <a:spcAft>
                <a:spcPts val="0"/>
              </a:spcAft>
            </a:pPr>
            <a:r>
              <a:rPr sz="1200" b="1">
                <a:solidFill>
                  <a:srgbClr val="FFFFFF"/>
                </a:solidFill>
                <a:latin typeface="Inter"/>
              </a:rPr>
              <a:t>CAPABILITY</a:t>
            </a:r>
          </a:p>
        </p:txBody>
      </p:sp>
      <p:sp>
        <p:nvSpPr>
          <p:cNvPr id="7" name="TextBox 6"/>
          <p:cNvSpPr txBox="1"/>
          <p:nvPr/>
        </p:nvSpPr>
        <p:spPr>
          <a:xfrm>
            <a:off x="4718304" y="2350008"/>
            <a:ext cx="1865376" cy="219456"/>
          </a:xfrm>
          <a:prstGeom prst="rect">
            <a:avLst/>
          </a:prstGeom>
          <a:noFill/>
        </p:spPr>
        <p:txBody>
          <a:bodyPr wrap="none" lIns="0" rIns="0" tIns="0" bIns="0" anchor="t">
            <a:noAutofit/>
          </a:bodyPr>
          <a:lstStyle/>
          <a:p>
            <a:pPr algn="l">
              <a:lnSpc>
                <a:spcPts val="1416"/>
              </a:lnSpc>
              <a:spcBef>
                <a:spcPts val="0"/>
              </a:spcBef>
              <a:spcAft>
                <a:spcPts val="0"/>
              </a:spcAft>
            </a:pPr>
            <a:r>
              <a:rPr sz="1200" b="1">
                <a:solidFill>
                  <a:srgbClr val="FFFFFF"/>
                </a:solidFill>
                <a:latin typeface="Inter"/>
              </a:rPr>
              <a:t>STATUS</a:t>
            </a:r>
          </a:p>
        </p:txBody>
      </p:sp>
      <p:sp>
        <p:nvSpPr>
          <p:cNvPr id="8" name="TextBox 7"/>
          <p:cNvSpPr txBox="1"/>
          <p:nvPr/>
        </p:nvSpPr>
        <p:spPr>
          <a:xfrm>
            <a:off x="7004304" y="2350008"/>
            <a:ext cx="4379976" cy="219456"/>
          </a:xfrm>
          <a:prstGeom prst="rect">
            <a:avLst/>
          </a:prstGeom>
          <a:noFill/>
        </p:spPr>
        <p:txBody>
          <a:bodyPr wrap="none" lIns="0" rIns="0" tIns="0" bIns="0" anchor="t">
            <a:noAutofit/>
          </a:bodyPr>
          <a:lstStyle/>
          <a:p>
            <a:pPr algn="l">
              <a:lnSpc>
                <a:spcPts val="1416"/>
              </a:lnSpc>
              <a:spcBef>
                <a:spcPts val="0"/>
              </a:spcBef>
              <a:spcAft>
                <a:spcPts val="0"/>
              </a:spcAft>
            </a:pPr>
            <a:r>
              <a:rPr sz="1200" b="1">
                <a:solidFill>
                  <a:srgbClr val="FFFFFF"/>
                </a:solidFill>
                <a:latin typeface="Inter"/>
              </a:rPr>
              <a:t>WHAT IT MEANS</a:t>
            </a:r>
          </a:p>
        </p:txBody>
      </p:sp>
      <p:sp>
        <p:nvSpPr>
          <p:cNvPr id="9" name="Rectangle 8"/>
          <p:cNvSpPr/>
          <p:nvPr/>
        </p:nvSpPr>
        <p:spPr>
          <a:xfrm>
            <a:off x="612648" y="2679192"/>
            <a:ext cx="10991088" cy="4572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807208"/>
            <a:ext cx="3758184" cy="246888"/>
          </a:xfrm>
          <a:prstGeom prst="rect">
            <a:avLst/>
          </a:prstGeom>
          <a:noFill/>
        </p:spPr>
        <p:txBody>
          <a:bodyPr wrap="none" lIns="0" rIns="0" tIns="0" bIns="0" anchor="t">
            <a:noAutofit/>
          </a:bodyPr>
          <a:lstStyle/>
          <a:p>
            <a:pPr algn="l">
              <a:lnSpc>
                <a:spcPts val="1770"/>
              </a:lnSpc>
              <a:spcBef>
                <a:spcPts val="0"/>
              </a:spcBef>
              <a:spcAft>
                <a:spcPts val="0"/>
              </a:spcAft>
            </a:pPr>
            <a:r>
              <a:rPr sz="1500" b="0">
                <a:solidFill>
                  <a:srgbClr val="262626"/>
                </a:solidFill>
                <a:latin typeface="Inter"/>
              </a:rPr>
              <a:t>Ingestion + cited retrieval</a:t>
            </a:r>
          </a:p>
        </p:txBody>
      </p:sp>
      <p:sp>
        <p:nvSpPr>
          <p:cNvPr id="11" name="TextBox 10"/>
          <p:cNvSpPr txBox="1"/>
          <p:nvPr/>
        </p:nvSpPr>
        <p:spPr>
          <a:xfrm>
            <a:off x="4718304" y="2807208"/>
            <a:ext cx="2039112" cy="246888"/>
          </a:xfrm>
          <a:prstGeom prst="rect">
            <a:avLst/>
          </a:prstGeom>
          <a:noFill/>
        </p:spPr>
        <p:txBody>
          <a:bodyPr wrap="none" lIns="0" rIns="0" tIns="0" bIns="0" anchor="t">
            <a:noAutofit/>
          </a:bodyPr>
          <a:lstStyle/>
          <a:p>
            <a:pPr algn="l">
              <a:lnSpc>
                <a:spcPts val="1652"/>
              </a:lnSpc>
              <a:spcBef>
                <a:spcPts val="0"/>
              </a:spcBef>
              <a:spcAft>
                <a:spcPts val="0"/>
              </a:spcAft>
            </a:pPr>
            <a:r>
              <a:rPr sz="1400" b="1">
                <a:solidFill>
                  <a:srgbClr val="1C69D4"/>
                </a:solidFill>
                <a:latin typeface="Inter"/>
              </a:rPr>
              <a:t>Live backend</a:t>
            </a:r>
          </a:p>
        </p:txBody>
      </p:sp>
      <p:sp>
        <p:nvSpPr>
          <p:cNvPr id="12" name="TextBox 11"/>
          <p:cNvSpPr txBox="1"/>
          <p:nvPr/>
        </p:nvSpPr>
        <p:spPr>
          <a:xfrm>
            <a:off x="7004304" y="2807208"/>
            <a:ext cx="4379976" cy="246888"/>
          </a:xfrm>
          <a:prstGeom prst="rect">
            <a:avLst/>
          </a:prstGeom>
          <a:noFill/>
        </p:spPr>
        <p:txBody>
          <a:bodyPr wrap="none" lIns="0" rIns="0" tIns="0" bIns="0" anchor="t">
            <a:noAutofit/>
          </a:bodyPr>
          <a:lstStyle/>
          <a:p>
            <a:pPr algn="l">
              <a:lnSpc>
                <a:spcPts val="1534"/>
              </a:lnSpc>
              <a:spcBef>
                <a:spcPts val="0"/>
              </a:spcBef>
              <a:spcAft>
                <a:spcPts val="0"/>
              </a:spcAft>
            </a:pPr>
            <a:r>
              <a:rPr sz="1300" b="0">
                <a:solidFill>
                  <a:srgbClr val="3C3C3C"/>
                </a:solidFill>
                <a:latin typeface="Inter"/>
              </a:rPr>
              <a:t>Source files, locators, exact counts</a:t>
            </a:r>
          </a:p>
        </p:txBody>
      </p:sp>
      <p:sp>
        <p:nvSpPr>
          <p:cNvPr id="13" name="TextBox 12"/>
          <p:cNvSpPr txBox="1"/>
          <p:nvPr/>
        </p:nvSpPr>
        <p:spPr>
          <a:xfrm>
            <a:off x="804672" y="3273552"/>
            <a:ext cx="3758184" cy="246888"/>
          </a:xfrm>
          <a:prstGeom prst="rect">
            <a:avLst/>
          </a:prstGeom>
          <a:noFill/>
        </p:spPr>
        <p:txBody>
          <a:bodyPr wrap="none" lIns="0" rIns="0" tIns="0" bIns="0" anchor="t">
            <a:noAutofit/>
          </a:bodyPr>
          <a:lstStyle/>
          <a:p>
            <a:pPr algn="l">
              <a:lnSpc>
                <a:spcPts val="1770"/>
              </a:lnSpc>
              <a:spcBef>
                <a:spcPts val="0"/>
              </a:spcBef>
              <a:spcAft>
                <a:spcPts val="0"/>
              </a:spcAft>
            </a:pPr>
            <a:r>
              <a:rPr sz="1500" b="0">
                <a:solidFill>
                  <a:srgbClr val="262626"/>
                </a:solidFill>
                <a:latin typeface="Inter"/>
              </a:rPr>
              <a:t>Sources + coverage + planner</a:t>
            </a:r>
          </a:p>
        </p:txBody>
      </p:sp>
      <p:sp>
        <p:nvSpPr>
          <p:cNvPr id="14" name="TextBox 13"/>
          <p:cNvSpPr txBox="1"/>
          <p:nvPr/>
        </p:nvSpPr>
        <p:spPr>
          <a:xfrm>
            <a:off x="4718304" y="3273552"/>
            <a:ext cx="2039112" cy="246888"/>
          </a:xfrm>
          <a:prstGeom prst="rect">
            <a:avLst/>
          </a:prstGeom>
          <a:noFill/>
        </p:spPr>
        <p:txBody>
          <a:bodyPr wrap="none" lIns="0" rIns="0" tIns="0" bIns="0" anchor="t">
            <a:noAutofit/>
          </a:bodyPr>
          <a:lstStyle/>
          <a:p>
            <a:pPr algn="l">
              <a:lnSpc>
                <a:spcPts val="1652"/>
              </a:lnSpc>
              <a:spcBef>
                <a:spcPts val="0"/>
              </a:spcBef>
              <a:spcAft>
                <a:spcPts val="0"/>
              </a:spcAft>
            </a:pPr>
            <a:r>
              <a:rPr sz="1400" b="1">
                <a:solidFill>
                  <a:srgbClr val="1C69D4"/>
                </a:solidFill>
                <a:latin typeface="Inter"/>
              </a:rPr>
              <a:t>Live backend</a:t>
            </a:r>
          </a:p>
        </p:txBody>
      </p:sp>
      <p:sp>
        <p:nvSpPr>
          <p:cNvPr id="15" name="TextBox 14"/>
          <p:cNvSpPr txBox="1"/>
          <p:nvPr/>
        </p:nvSpPr>
        <p:spPr>
          <a:xfrm>
            <a:off x="7004304" y="3273552"/>
            <a:ext cx="4379976" cy="246888"/>
          </a:xfrm>
          <a:prstGeom prst="rect">
            <a:avLst/>
          </a:prstGeom>
          <a:noFill/>
        </p:spPr>
        <p:txBody>
          <a:bodyPr wrap="none" lIns="0" rIns="0" tIns="0" bIns="0" anchor="t">
            <a:noAutofit/>
          </a:bodyPr>
          <a:lstStyle/>
          <a:p>
            <a:pPr algn="l">
              <a:lnSpc>
                <a:spcPts val="1534"/>
              </a:lnSpc>
              <a:spcBef>
                <a:spcPts val="0"/>
              </a:spcBef>
              <a:spcAft>
                <a:spcPts val="0"/>
              </a:spcAft>
            </a:pPr>
            <a:r>
              <a:rPr sz="1300" b="0">
                <a:solidFill>
                  <a:srgbClr val="3C3C3C"/>
                </a:solidFill>
                <a:latin typeface="Inter"/>
              </a:rPr>
              <a:t>Editable plans; code validates prerequisites</a:t>
            </a:r>
          </a:p>
        </p:txBody>
      </p:sp>
      <p:sp>
        <p:nvSpPr>
          <p:cNvPr id="16" name="Rectangle 15"/>
          <p:cNvSpPr/>
          <p:nvPr/>
        </p:nvSpPr>
        <p:spPr>
          <a:xfrm>
            <a:off x="612648" y="3611880"/>
            <a:ext cx="10991088" cy="4572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739896"/>
            <a:ext cx="3758184" cy="246888"/>
          </a:xfrm>
          <a:prstGeom prst="rect">
            <a:avLst/>
          </a:prstGeom>
          <a:noFill/>
        </p:spPr>
        <p:txBody>
          <a:bodyPr wrap="none" lIns="0" rIns="0" tIns="0" bIns="0" anchor="t">
            <a:noAutofit/>
          </a:bodyPr>
          <a:lstStyle/>
          <a:p>
            <a:pPr algn="l">
              <a:lnSpc>
                <a:spcPts val="1652"/>
              </a:lnSpc>
              <a:spcBef>
                <a:spcPts val="0"/>
              </a:spcBef>
              <a:spcAft>
                <a:spcPts val="0"/>
              </a:spcAft>
            </a:pPr>
            <a:r>
              <a:rPr sz="1400" b="0">
                <a:solidFill>
                  <a:srgbClr val="262626"/>
                </a:solidFill>
                <a:latin typeface="Inter"/>
              </a:rPr>
              <a:t>All roster agents + runner + Critic</a:t>
            </a:r>
          </a:p>
        </p:txBody>
      </p:sp>
      <p:sp>
        <p:nvSpPr>
          <p:cNvPr id="18" name="TextBox 17"/>
          <p:cNvSpPr txBox="1"/>
          <p:nvPr/>
        </p:nvSpPr>
        <p:spPr>
          <a:xfrm>
            <a:off x="4718304" y="3739896"/>
            <a:ext cx="2039112" cy="246888"/>
          </a:xfrm>
          <a:prstGeom prst="rect">
            <a:avLst/>
          </a:prstGeom>
          <a:noFill/>
        </p:spPr>
        <p:txBody>
          <a:bodyPr wrap="none" lIns="0" rIns="0" tIns="0" bIns="0" anchor="t">
            <a:noAutofit/>
          </a:bodyPr>
          <a:lstStyle/>
          <a:p>
            <a:pPr algn="l">
              <a:lnSpc>
                <a:spcPts val="1652"/>
              </a:lnSpc>
              <a:spcBef>
                <a:spcPts val="0"/>
              </a:spcBef>
              <a:spcAft>
                <a:spcPts val="0"/>
              </a:spcAft>
            </a:pPr>
            <a:r>
              <a:rPr sz="1400" b="1">
                <a:solidFill>
                  <a:srgbClr val="1C69D4"/>
                </a:solidFill>
                <a:latin typeface="Inter"/>
              </a:rPr>
              <a:t>Implemented</a:t>
            </a:r>
          </a:p>
        </p:txBody>
      </p:sp>
      <p:sp>
        <p:nvSpPr>
          <p:cNvPr id="19" name="TextBox 18"/>
          <p:cNvSpPr txBox="1"/>
          <p:nvPr/>
        </p:nvSpPr>
        <p:spPr>
          <a:xfrm>
            <a:off x="7004304" y="3739896"/>
            <a:ext cx="4379976" cy="246888"/>
          </a:xfrm>
          <a:prstGeom prst="rect">
            <a:avLst/>
          </a:prstGeom>
          <a:noFill/>
        </p:spPr>
        <p:txBody>
          <a:bodyPr wrap="none" lIns="0" rIns="0" tIns="0" bIns="0" anchor="t">
            <a:noAutofit/>
          </a:bodyPr>
          <a:lstStyle/>
          <a:p>
            <a:pPr algn="l">
              <a:lnSpc>
                <a:spcPts val="1534"/>
              </a:lnSpc>
              <a:spcBef>
                <a:spcPts val="0"/>
              </a:spcBef>
              <a:spcAft>
                <a:spcPts val="0"/>
              </a:spcAft>
            </a:pPr>
            <a:r>
              <a:rPr sz="1300" b="0">
                <a:solidFill>
                  <a:srgbClr val="3C3C3C"/>
                </a:solidFill>
                <a:latin typeface="Inter"/>
              </a:rPr>
              <a:t>Fixture-tested; full live validation pending</a:t>
            </a:r>
          </a:p>
        </p:txBody>
      </p:sp>
      <p:sp>
        <p:nvSpPr>
          <p:cNvPr id="20" name="TextBox 19"/>
          <p:cNvSpPr txBox="1"/>
          <p:nvPr/>
        </p:nvSpPr>
        <p:spPr>
          <a:xfrm>
            <a:off x="804672" y="4206240"/>
            <a:ext cx="3758184" cy="246888"/>
          </a:xfrm>
          <a:prstGeom prst="rect">
            <a:avLst/>
          </a:prstGeom>
          <a:noFill/>
        </p:spPr>
        <p:txBody>
          <a:bodyPr wrap="none" lIns="0" rIns="0" tIns="0" bIns="0" anchor="t">
            <a:noAutofit/>
          </a:bodyPr>
          <a:lstStyle/>
          <a:p>
            <a:pPr algn="l">
              <a:lnSpc>
                <a:spcPts val="1770"/>
              </a:lnSpc>
              <a:spcBef>
                <a:spcPts val="0"/>
              </a:spcBef>
              <a:spcAft>
                <a:spcPts val="0"/>
              </a:spcAft>
            </a:pPr>
            <a:r>
              <a:rPr sz="1500" b="0">
                <a:solidFill>
                  <a:srgbClr val="262626"/>
                </a:solidFill>
                <a:latin typeface="Inter"/>
              </a:rPr>
              <a:t>Targets, reviews and reports</a:t>
            </a:r>
          </a:p>
        </p:txBody>
      </p:sp>
      <p:sp>
        <p:nvSpPr>
          <p:cNvPr id="21" name="TextBox 20"/>
          <p:cNvSpPr txBox="1"/>
          <p:nvPr/>
        </p:nvSpPr>
        <p:spPr>
          <a:xfrm>
            <a:off x="4718304" y="4206240"/>
            <a:ext cx="2039112" cy="246888"/>
          </a:xfrm>
          <a:prstGeom prst="rect">
            <a:avLst/>
          </a:prstGeom>
          <a:noFill/>
        </p:spPr>
        <p:txBody>
          <a:bodyPr wrap="none" lIns="0" rIns="0" tIns="0" bIns="0" anchor="t">
            <a:noAutofit/>
          </a:bodyPr>
          <a:lstStyle/>
          <a:p>
            <a:pPr algn="l">
              <a:lnSpc>
                <a:spcPts val="1652"/>
              </a:lnSpc>
              <a:spcBef>
                <a:spcPts val="0"/>
              </a:spcBef>
              <a:spcAft>
                <a:spcPts val="0"/>
              </a:spcAft>
            </a:pPr>
            <a:r>
              <a:rPr sz="1400" b="1">
                <a:solidFill>
                  <a:srgbClr val="1C69D4"/>
                </a:solidFill>
                <a:latin typeface="Inter"/>
              </a:rPr>
              <a:t>Fixture demo</a:t>
            </a:r>
          </a:p>
        </p:txBody>
      </p:sp>
      <p:sp>
        <p:nvSpPr>
          <p:cNvPr id="22" name="TextBox 21"/>
          <p:cNvSpPr txBox="1"/>
          <p:nvPr/>
        </p:nvSpPr>
        <p:spPr>
          <a:xfrm>
            <a:off x="7004304" y="4206240"/>
            <a:ext cx="4379976" cy="246888"/>
          </a:xfrm>
          <a:prstGeom prst="rect">
            <a:avLst/>
          </a:prstGeom>
          <a:noFill/>
        </p:spPr>
        <p:txBody>
          <a:bodyPr wrap="none" lIns="0" rIns="0" tIns="0" bIns="0" anchor="t">
            <a:noAutofit/>
          </a:bodyPr>
          <a:lstStyle/>
          <a:p>
            <a:pPr algn="l">
              <a:lnSpc>
                <a:spcPts val="1534"/>
              </a:lnSpc>
              <a:spcBef>
                <a:spcPts val="0"/>
              </a:spcBef>
              <a:spcAft>
                <a:spcPts val="0"/>
              </a:spcAft>
            </a:pPr>
            <a:r>
              <a:rPr sz="1300" b="0">
                <a:solidFill>
                  <a:srgbClr val="3C3C3C"/>
                </a:solidFill>
                <a:latin typeface="Inter"/>
              </a:rPr>
              <a:t>Working workspace on sample data</a:t>
            </a:r>
          </a:p>
        </p:txBody>
      </p:sp>
      <p:sp>
        <p:nvSpPr>
          <p:cNvPr id="23" name="Rectangle 22"/>
          <p:cNvSpPr/>
          <p:nvPr/>
        </p:nvSpPr>
        <p:spPr>
          <a:xfrm>
            <a:off x="612648" y="4544568"/>
            <a:ext cx="10991088" cy="4572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4672584"/>
            <a:ext cx="3758184" cy="246888"/>
          </a:xfrm>
          <a:prstGeom prst="rect">
            <a:avLst/>
          </a:prstGeom>
          <a:noFill/>
        </p:spPr>
        <p:txBody>
          <a:bodyPr wrap="none" lIns="0" rIns="0" tIns="0" bIns="0" anchor="t">
            <a:noAutofit/>
          </a:bodyPr>
          <a:lstStyle/>
          <a:p>
            <a:pPr algn="l">
              <a:lnSpc>
                <a:spcPts val="1770"/>
              </a:lnSpc>
              <a:spcBef>
                <a:spcPts val="0"/>
              </a:spcBef>
              <a:spcAft>
                <a:spcPts val="0"/>
              </a:spcAft>
            </a:pPr>
            <a:r>
              <a:rPr sz="1500" b="0">
                <a:solidFill>
                  <a:srgbClr val="262626"/>
                </a:solidFill>
                <a:latin typeface="Inter"/>
              </a:rPr>
              <a:t>Audit persistence</a:t>
            </a:r>
          </a:p>
        </p:txBody>
      </p:sp>
      <p:sp>
        <p:nvSpPr>
          <p:cNvPr id="25" name="TextBox 24"/>
          <p:cNvSpPr txBox="1"/>
          <p:nvPr/>
        </p:nvSpPr>
        <p:spPr>
          <a:xfrm>
            <a:off x="4718304" y="4672584"/>
            <a:ext cx="2039112" cy="246888"/>
          </a:xfrm>
          <a:prstGeom prst="rect">
            <a:avLst/>
          </a:prstGeom>
          <a:noFill/>
        </p:spPr>
        <p:txBody>
          <a:bodyPr wrap="none" lIns="0" rIns="0" tIns="0" bIns="0" anchor="t">
            <a:noAutofit/>
          </a:bodyPr>
          <a:lstStyle/>
          <a:p>
            <a:pPr algn="l">
              <a:lnSpc>
                <a:spcPts val="1652"/>
              </a:lnSpc>
              <a:spcBef>
                <a:spcPts val="0"/>
              </a:spcBef>
              <a:spcAft>
                <a:spcPts val="0"/>
              </a:spcAft>
            </a:pPr>
            <a:r>
              <a:rPr sz="1400" b="1">
                <a:solidFill>
                  <a:srgbClr val="1C69D4"/>
                </a:solidFill>
                <a:latin typeface="Inter"/>
              </a:rPr>
              <a:t>Partly wired</a:t>
            </a:r>
          </a:p>
        </p:txBody>
      </p:sp>
      <p:sp>
        <p:nvSpPr>
          <p:cNvPr id="26" name="TextBox 25"/>
          <p:cNvSpPr txBox="1"/>
          <p:nvPr/>
        </p:nvSpPr>
        <p:spPr>
          <a:xfrm>
            <a:off x="7004304" y="4672584"/>
            <a:ext cx="4379976" cy="246888"/>
          </a:xfrm>
          <a:prstGeom prst="rect">
            <a:avLst/>
          </a:prstGeom>
          <a:noFill/>
        </p:spPr>
        <p:txBody>
          <a:bodyPr wrap="none" lIns="0" rIns="0" tIns="0" bIns="0" anchor="t">
            <a:noAutofit/>
          </a:bodyPr>
          <a:lstStyle/>
          <a:p>
            <a:pPr algn="l">
              <a:lnSpc>
                <a:spcPts val="1416"/>
              </a:lnSpc>
              <a:spcBef>
                <a:spcPts val="0"/>
              </a:spcBef>
              <a:spcAft>
                <a:spcPts val="0"/>
              </a:spcAft>
            </a:pPr>
            <a:r>
              <a:rPr sz="1200" b="0">
                <a:solidFill>
                  <a:srgbClr val="3C3C3C"/>
                </a:solidFill>
                <a:latin typeface="Inter"/>
              </a:rPr>
              <a:t>Audit events + step output; no backlog writes</a:t>
            </a:r>
          </a:p>
        </p:txBody>
      </p:sp>
      <p:sp>
        <p:nvSpPr>
          <p:cNvPr id="27" name="TextBox 26"/>
          <p:cNvSpPr txBox="1"/>
          <p:nvPr/>
        </p:nvSpPr>
        <p:spPr>
          <a:xfrm>
            <a:off x="804672" y="5138928"/>
            <a:ext cx="3758184" cy="246888"/>
          </a:xfrm>
          <a:prstGeom prst="rect">
            <a:avLst/>
          </a:prstGeom>
          <a:noFill/>
        </p:spPr>
        <p:txBody>
          <a:bodyPr wrap="none" lIns="0" rIns="0" tIns="0" bIns="0" anchor="t">
            <a:noAutofit/>
          </a:bodyPr>
          <a:lstStyle/>
          <a:p>
            <a:pPr algn="l">
              <a:lnSpc>
                <a:spcPts val="1652"/>
              </a:lnSpc>
              <a:spcBef>
                <a:spcPts val="0"/>
              </a:spcBef>
              <a:spcAft>
                <a:spcPts val="0"/>
              </a:spcAft>
            </a:pPr>
            <a:r>
              <a:rPr sz="1400" b="0">
                <a:solidFill>
                  <a:srgbClr val="262626"/>
                </a:solidFill>
                <a:latin typeface="Inter"/>
              </a:rPr>
              <a:t>Live review UI + backlog persistence</a:t>
            </a:r>
          </a:p>
        </p:txBody>
      </p:sp>
      <p:sp>
        <p:nvSpPr>
          <p:cNvPr id="28" name="TextBox 27"/>
          <p:cNvSpPr txBox="1"/>
          <p:nvPr/>
        </p:nvSpPr>
        <p:spPr>
          <a:xfrm>
            <a:off x="4718304" y="5138928"/>
            <a:ext cx="2039112" cy="246888"/>
          </a:xfrm>
          <a:prstGeom prst="rect">
            <a:avLst/>
          </a:prstGeom>
          <a:noFill/>
        </p:spPr>
        <p:txBody>
          <a:bodyPr wrap="none" lIns="0" rIns="0" tIns="0" bIns="0" anchor="t">
            <a:noAutofit/>
          </a:bodyPr>
          <a:lstStyle/>
          <a:p>
            <a:pPr algn="l">
              <a:lnSpc>
                <a:spcPts val="1652"/>
              </a:lnSpc>
              <a:spcBef>
                <a:spcPts val="0"/>
              </a:spcBef>
              <a:spcAft>
                <a:spcPts val="0"/>
              </a:spcAft>
            </a:pPr>
            <a:r>
              <a:rPr sz="1400" b="1">
                <a:solidFill>
                  <a:srgbClr val="1C69D4"/>
                </a:solidFill>
                <a:latin typeface="Inter"/>
              </a:rPr>
              <a:t>Next</a:t>
            </a:r>
          </a:p>
        </p:txBody>
      </p:sp>
      <p:sp>
        <p:nvSpPr>
          <p:cNvPr id="29" name="TextBox 28"/>
          <p:cNvSpPr txBox="1"/>
          <p:nvPr/>
        </p:nvSpPr>
        <p:spPr>
          <a:xfrm>
            <a:off x="7004304" y="5138928"/>
            <a:ext cx="4379976" cy="246888"/>
          </a:xfrm>
          <a:prstGeom prst="rect">
            <a:avLst/>
          </a:prstGeom>
          <a:noFill/>
        </p:spPr>
        <p:txBody>
          <a:bodyPr wrap="none" lIns="0" rIns="0" tIns="0" bIns="0" anchor="t">
            <a:noAutofit/>
          </a:bodyPr>
          <a:lstStyle/>
          <a:p>
            <a:pPr algn="l">
              <a:lnSpc>
                <a:spcPts val="1534"/>
              </a:lnSpc>
              <a:spcBef>
                <a:spcPts val="0"/>
              </a:spcBef>
              <a:spcAft>
                <a:spcPts val="0"/>
              </a:spcAft>
            </a:pPr>
            <a:r>
              <a:rPr sz="1300" b="0">
                <a:solidFill>
                  <a:srgbClr val="3C3C3C"/>
                </a:solidFill>
                <a:latin typeface="Inter"/>
              </a:rPr>
              <a:t>Connect reviews; store accepted results</a:t>
            </a:r>
          </a:p>
        </p:txBody>
      </p:sp>
      <p:sp>
        <p:nvSpPr>
          <p:cNvPr id="30" name="Rectangle 29"/>
          <p:cNvSpPr/>
          <p:nvPr/>
        </p:nvSpPr>
        <p:spPr>
          <a:xfrm>
            <a:off x="612648" y="5477256"/>
            <a:ext cx="10991088" cy="4572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5605272"/>
            <a:ext cx="3758184" cy="246888"/>
          </a:xfrm>
          <a:prstGeom prst="rect">
            <a:avLst/>
          </a:prstGeom>
          <a:noFill/>
        </p:spPr>
        <p:txBody>
          <a:bodyPr wrap="none" lIns="0" rIns="0" tIns="0" bIns="0" anchor="t">
            <a:noAutofit/>
          </a:bodyPr>
          <a:lstStyle/>
          <a:p>
            <a:pPr algn="l">
              <a:lnSpc>
                <a:spcPts val="1770"/>
              </a:lnSpc>
              <a:spcBef>
                <a:spcPts val="0"/>
              </a:spcBef>
              <a:spcAft>
                <a:spcPts val="0"/>
              </a:spcAft>
            </a:pPr>
            <a:r>
              <a:rPr sz="1500" b="0">
                <a:solidFill>
                  <a:srgbClr val="262626"/>
                </a:solidFill>
                <a:latin typeface="Inter"/>
              </a:rPr>
              <a:t>Recovery + recurring refresh</a:t>
            </a:r>
          </a:p>
        </p:txBody>
      </p:sp>
      <p:sp>
        <p:nvSpPr>
          <p:cNvPr id="32" name="TextBox 31"/>
          <p:cNvSpPr txBox="1"/>
          <p:nvPr/>
        </p:nvSpPr>
        <p:spPr>
          <a:xfrm>
            <a:off x="4718304" y="5605272"/>
            <a:ext cx="2039112" cy="246888"/>
          </a:xfrm>
          <a:prstGeom prst="rect">
            <a:avLst/>
          </a:prstGeom>
          <a:noFill/>
        </p:spPr>
        <p:txBody>
          <a:bodyPr wrap="none" lIns="0" rIns="0" tIns="0" bIns="0" anchor="t">
            <a:noAutofit/>
          </a:bodyPr>
          <a:lstStyle/>
          <a:p>
            <a:pPr algn="l">
              <a:lnSpc>
                <a:spcPts val="1652"/>
              </a:lnSpc>
              <a:spcBef>
                <a:spcPts val="0"/>
              </a:spcBef>
              <a:spcAft>
                <a:spcPts val="0"/>
              </a:spcAft>
            </a:pPr>
            <a:r>
              <a:rPr sz="1400" b="1">
                <a:solidFill>
                  <a:srgbClr val="1C69D4"/>
                </a:solidFill>
                <a:latin typeface="Inter"/>
              </a:rPr>
              <a:t>Roadmap</a:t>
            </a:r>
          </a:p>
        </p:txBody>
      </p:sp>
      <p:sp>
        <p:nvSpPr>
          <p:cNvPr id="33" name="TextBox 32"/>
          <p:cNvSpPr txBox="1"/>
          <p:nvPr/>
        </p:nvSpPr>
        <p:spPr>
          <a:xfrm>
            <a:off x="7004304" y="5605272"/>
            <a:ext cx="4379976" cy="246888"/>
          </a:xfrm>
          <a:prstGeom prst="rect">
            <a:avLst/>
          </a:prstGeom>
          <a:noFill/>
        </p:spPr>
        <p:txBody>
          <a:bodyPr wrap="none" lIns="0" rIns="0" tIns="0" bIns="0" anchor="t">
            <a:noAutofit/>
          </a:bodyPr>
          <a:lstStyle/>
          <a:p>
            <a:pPr algn="l">
              <a:lnSpc>
                <a:spcPts val="1534"/>
              </a:lnSpc>
              <a:spcBef>
                <a:spcPts val="0"/>
              </a:spcBef>
              <a:spcAft>
                <a:spcPts val="0"/>
              </a:spcAft>
            </a:pPr>
            <a:r>
              <a:rPr sz="1300" b="0">
                <a:solidFill>
                  <a:srgbClr val="3C3C3C"/>
                </a:solidFill>
                <a:latin typeface="Inter"/>
              </a:rPr>
              <a:t>Resume interrupted work; refresh evidence</a:t>
            </a:r>
          </a:p>
        </p:txBody>
      </p:sp>
      <p:sp>
        <p:nvSpPr>
          <p:cNvPr id="34" name="TextBox 33"/>
          <p:cNvSpPr txBox="1"/>
          <p:nvPr/>
        </p:nvSpPr>
        <p:spPr>
          <a:xfrm>
            <a:off x="612648" y="6181344"/>
            <a:ext cx="10991088" cy="237744"/>
          </a:xfrm>
          <a:prstGeom prst="rect">
            <a:avLst/>
          </a:prstGeom>
          <a:noFill/>
        </p:spPr>
        <p:txBody>
          <a:bodyPr wrap="none" lIns="0" rIns="0" tIns="0" bIns="0" anchor="t">
            <a:noAutofit/>
          </a:bodyPr>
          <a:lstStyle/>
          <a:p>
            <a:pPr algn="l">
              <a:lnSpc>
                <a:spcPts val="1416"/>
              </a:lnSpc>
              <a:spcBef>
                <a:spcPts val="0"/>
              </a:spcBef>
              <a:spcAft>
                <a:spcPts val="0"/>
              </a:spcAft>
            </a:pPr>
            <a:r>
              <a:rPr sz="1200" b="0">
                <a:solidFill>
                  <a:srgbClr val="6B6B6B"/>
                </a:solidFill>
                <a:latin typeface="Inter"/>
              </a:rPr>
              <a:t>Scope: customer-facing requirements. Engineering, homologation and pricing business cases stay outside.</a:t>
            </a:r>
          </a:p>
        </p:txBody>
      </p:sp>
      <p:sp>
        <p:nvSpPr>
          <p:cNvPr id="35" name="TextBox 34"/>
          <p:cNvSpPr txBox="1"/>
          <p:nvPr/>
        </p:nvSpPr>
        <p:spPr>
          <a:xfrm>
            <a:off x="612648" y="6492240"/>
            <a:ext cx="9921240" cy="182880"/>
          </a:xfrm>
          <a:prstGeom prst="rect">
            <a:avLst/>
          </a:prstGeom>
          <a:noFill/>
        </p:spPr>
        <p:txBody>
          <a:bodyPr wrap="none" lIns="0" rIns="0" tIns="0" bIns="0" anchor="t">
            <a:noAutofit/>
          </a:bodyPr>
          <a:lstStyle/>
          <a:p>
            <a:pPr algn="l">
              <a:lnSpc>
                <a:spcPts val="1180"/>
              </a:lnSpc>
              <a:spcBef>
                <a:spcPts val="0"/>
              </a:spcBef>
              <a:spcAft>
                <a:spcPts val="0"/>
              </a:spcAft>
            </a:pPr>
            <a:r>
              <a:rPr sz="1000" b="0">
                <a:solidFill>
                  <a:srgbClr val="6B6B6B"/>
                </a:solidFill>
                <a:latin typeface="Inter"/>
              </a:rPr>
              <a:t>Requirement Evidence Engine | Backup slide</a:t>
            </a:r>
          </a:p>
        </p:txBody>
      </p:sp>
      <p:sp>
        <p:nvSpPr>
          <p:cNvPr id="36" name="TextBox 35"/>
          <p:cNvSpPr txBox="1"/>
          <p:nvPr/>
        </p:nvSpPr>
        <p:spPr>
          <a:xfrm>
            <a:off x="10881360" y="6492240"/>
            <a:ext cx="685800" cy="182880"/>
          </a:xfrm>
          <a:prstGeom prst="rect">
            <a:avLst/>
          </a:prstGeom>
          <a:noFill/>
        </p:spPr>
        <p:txBody>
          <a:bodyPr wrap="none" lIns="0" rIns="0" tIns="0" bIns="0" anchor="t">
            <a:noAutofit/>
          </a:bodyPr>
          <a:lstStyle/>
          <a:p>
            <a:pPr algn="r">
              <a:lnSpc>
                <a:spcPts val="1180"/>
              </a:lnSpc>
              <a:spcBef>
                <a:spcPts val="0"/>
              </a:spcBef>
              <a:spcAft>
                <a:spcPts val="0"/>
              </a:spcAft>
            </a:pPr>
            <a:r>
              <a:rPr sz="1000" b="0">
                <a:solidFill>
                  <a:srgbClr val="6B6B6B"/>
                </a:solidFill>
                <a:latin typeface="Inter"/>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BMW Product Intelligence</dc:title>
  <dc:subject>Three-minute hackathon pitch built using PowerPoint MCP</dc:subject>
  <dc:creator>attention_is_all_we_have project team</dc:creator>
  <cp:keywords>BMW, requirements, evidence, PM review, PowerPoint MCP</cp:keywords>
  <dc:description>6 main slides + 3 hidden Q&amp;A slides. Updated to ADR 0015; source commit 0fa94c3. Native PowerPoint content edited and saved using PowerPoint MCP.</dc:description>
  <cp:lastModifiedBy>Steve Canny</cp:lastModifiedBy>
  <cp:revision>1</cp:revision>
  <dcterms:created xsi:type="dcterms:W3CDTF">2013-01-27T09:14:16Z</dcterms:created>
  <dcterms:modified xsi:type="dcterms:W3CDTF">2013-01-27T09:15:58Z</dcterms:modified>
  <cp:category/>
</cp:coreProperties>
</file>